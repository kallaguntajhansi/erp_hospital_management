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2" r:id="rId12"/>
    <p:sldId id="266" r:id="rId13"/>
    <p:sldId id="267" r:id="rId14"/>
    <p:sldId id="268" r:id="rId15"/>
    <p:sldId id="269" r:id="rId16"/>
    <p:sldId id="270" r:id="rId17"/>
    <p:sldId id="271" r:id="rId18"/>
    <p:sldId id="273" r:id="rId19"/>
    <p:sldId id="274" r:id="rId20"/>
  </p:sldIdLst>
  <p:sldSz cx="16256000" cy="9144000"/>
  <p:notesSz cx="9144000" cy="16256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36" d="100"/>
          <a:sy n="36" d="100"/>
        </p:scale>
        <p:origin x="43" y="8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4964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flip="none" rotWithShape="1">
          <a:gsLst>
            <a:gs pos="0">
              <a:srgbClr val="0A1F44"/>
            </a:gs>
            <a:gs pos="50000">
              <a:srgbClr val="0D2847"/>
            </a:gs>
            <a:gs pos="100000">
              <a:srgbClr val="0A1F44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-1270000"/>
            <a:ext cx="6350000" cy="5080000"/>
          </a:xfrm>
          <a:prstGeom prst="ellipse">
            <a:avLst/>
          </a:prstGeom>
          <a:gradFill flip="none" rotWithShape="1">
            <a:gsLst>
              <a:gs pos="0">
                <a:srgbClr val="00B4D8">
                  <a:alpha val="19000"/>
                </a:srgbClr>
              </a:gs>
              <a:gs pos="100000">
                <a:srgbClr val="00B4D8">
                  <a:alpha val="0"/>
                </a:srgbClr>
              </a:gs>
            </a:gsLst>
            <a:path path="circle"/>
          </a:gradFill>
          <a:ln/>
        </p:spPr>
      </p:sp>
      <p:sp>
        <p:nvSpPr>
          <p:cNvPr id="3" name="Shape 1"/>
          <p:cNvSpPr/>
          <p:nvPr/>
        </p:nvSpPr>
        <p:spPr>
          <a:xfrm>
            <a:off x="-2540000" y="5080000"/>
            <a:ext cx="6350000" cy="5080000"/>
          </a:xfrm>
          <a:prstGeom prst="ellipse">
            <a:avLst/>
          </a:prstGeom>
          <a:gradFill flip="none" rotWithShape="1">
            <a:gsLst>
              <a:gs pos="0">
                <a:srgbClr val="00B4D8">
                  <a:alpha val="13000"/>
                </a:srgbClr>
              </a:gs>
              <a:gs pos="100000">
                <a:srgbClr val="00B4D8">
                  <a:alpha val="0"/>
                </a:srgbClr>
              </a:gs>
            </a:gsLst>
            <a:path path="circle"/>
          </a:gra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00B4D8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1016000" y="2794000"/>
            <a:ext cx="1422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ERP Solution for Private Hospital</a:t>
            </a:r>
            <a:endParaRPr lang="en-US" sz="4000" dirty="0"/>
          </a:p>
          <a:p>
            <a:pPr algn="ctr">
              <a:lnSpc>
                <a:spcPct val="120000"/>
              </a:lnSpc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Management System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16000" y="4445000"/>
            <a:ext cx="142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90E0E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SD, MM &amp; PP Module Implementation using SAP ECC 6.0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540000" y="7366000"/>
            <a:ext cx="101600" cy="1016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13589000" y="7366000"/>
            <a:ext cx="101600" cy="1016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00B4D8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 / 19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00B4D8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101600"/>
            <a:ext cx="1143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Introduction — Why Hospitals Need ERP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30000" y="774700"/>
            <a:ext cx="4318000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dirty="0">
                <a:solidFill>
                  <a:srgbClr val="90E0EF">
                    <a:alpha val="25098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SRM University AP | Hospital ERP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16000" y="1270000"/>
            <a:ext cx="6604000" cy="330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8235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16000" y="1270000"/>
            <a:ext cx="6604000" cy="6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8" name="Shape 6"/>
          <p:cNvSpPr/>
          <p:nvPr/>
        </p:nvSpPr>
        <p:spPr>
          <a:xfrm>
            <a:off x="1333500" y="1524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14868" y="0"/>
                  <a:pt x="225584" y="6429"/>
                  <a:pt x="231140" y="16669"/>
                </a:cubicBezTo>
                <a:lnTo>
                  <a:pt x="402590" y="334169"/>
                </a:lnTo>
                <a:cubicBezTo>
                  <a:pt x="407908" y="344011"/>
                  <a:pt x="407670" y="355918"/>
                  <a:pt x="401955" y="365522"/>
                </a:cubicBezTo>
                <a:cubicBezTo>
                  <a:pt x="396240" y="375126"/>
                  <a:pt x="385842" y="381000"/>
                  <a:pt x="374650" y="381000"/>
                </a:cubicBezTo>
                <a:lnTo>
                  <a:pt x="31750" y="381000"/>
                </a:lnTo>
                <a:cubicBezTo>
                  <a:pt x="20558" y="381000"/>
                  <a:pt x="10239" y="375126"/>
                  <a:pt x="4445" y="365522"/>
                </a:cubicBezTo>
                <a:cubicBezTo>
                  <a:pt x="-1349" y="355918"/>
                  <a:pt x="-1508" y="344011"/>
                  <a:pt x="3810" y="334169"/>
                </a:cubicBezTo>
                <a:lnTo>
                  <a:pt x="175260" y="16669"/>
                </a:lnTo>
                <a:cubicBezTo>
                  <a:pt x="180816" y="6429"/>
                  <a:pt x="191532" y="0"/>
                  <a:pt x="203200" y="0"/>
                </a:cubicBezTo>
                <a:close/>
                <a:moveTo>
                  <a:pt x="203200" y="133350"/>
                </a:moveTo>
                <a:cubicBezTo>
                  <a:pt x="192643" y="133350"/>
                  <a:pt x="184150" y="141843"/>
                  <a:pt x="184150" y="152400"/>
                </a:cubicBezTo>
                <a:lnTo>
                  <a:pt x="184150" y="241300"/>
                </a:lnTo>
                <a:cubicBezTo>
                  <a:pt x="184150" y="251857"/>
                  <a:pt x="192643" y="260350"/>
                  <a:pt x="203200" y="260350"/>
                </a:cubicBezTo>
                <a:cubicBezTo>
                  <a:pt x="213757" y="260350"/>
                  <a:pt x="222250" y="251857"/>
                  <a:pt x="222250" y="241300"/>
                </a:cubicBezTo>
                <a:lnTo>
                  <a:pt x="222250" y="152400"/>
                </a:lnTo>
                <a:cubicBezTo>
                  <a:pt x="222250" y="141843"/>
                  <a:pt x="213757" y="133350"/>
                  <a:pt x="203200" y="133350"/>
                </a:cubicBezTo>
                <a:close/>
                <a:moveTo>
                  <a:pt x="224393" y="304800"/>
                </a:moveTo>
                <a:cubicBezTo>
                  <a:pt x="224875" y="296933"/>
                  <a:pt x="220952" y="289449"/>
                  <a:pt x="214208" y="285370"/>
                </a:cubicBezTo>
                <a:cubicBezTo>
                  <a:pt x="207465" y="281291"/>
                  <a:pt x="199015" y="281291"/>
                  <a:pt x="192271" y="285370"/>
                </a:cubicBezTo>
                <a:cubicBezTo>
                  <a:pt x="185527" y="289449"/>
                  <a:pt x="181604" y="296933"/>
                  <a:pt x="182086" y="304800"/>
                </a:cubicBezTo>
                <a:cubicBezTo>
                  <a:pt x="181604" y="312667"/>
                  <a:pt x="185527" y="320151"/>
                  <a:pt x="192271" y="324230"/>
                </a:cubicBezTo>
                <a:cubicBezTo>
                  <a:pt x="199015" y="328309"/>
                  <a:pt x="207465" y="328309"/>
                  <a:pt x="214208" y="324230"/>
                </a:cubicBezTo>
                <a:cubicBezTo>
                  <a:pt x="220952" y="320151"/>
                  <a:pt x="224875" y="312667"/>
                  <a:pt x="224393" y="304800"/>
                </a:cubicBezTo>
                <a:close/>
              </a:path>
            </a:pathLst>
          </a:custGeom>
          <a:solidFill>
            <a:srgbClr val="E63946"/>
          </a:solidFill>
          <a:ln/>
        </p:spPr>
      </p:sp>
      <p:sp>
        <p:nvSpPr>
          <p:cNvPr id="9" name="Text 7"/>
          <p:cNvSpPr/>
          <p:nvPr/>
        </p:nvSpPr>
        <p:spPr>
          <a:xfrm>
            <a:off x="1879600" y="15494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639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33500" y="2095500"/>
            <a:ext cx="5969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Private hospitals have departments working separately — </a:t>
            </a:r>
            <a:r>
              <a:rPr lang="en-US" sz="16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is scattered</a:t>
            </a:r>
            <a:r>
              <a:rPr lang="en-US" sz="16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r>
              <a:rPr lang="en-US" sz="16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 care is delayed</a:t>
            </a:r>
            <a:r>
              <a:rPr lang="en-US" sz="16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and </a:t>
            </a:r>
            <a:r>
              <a:rPr lang="en-US" sz="16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operations are inefficient</a:t>
            </a:r>
            <a:r>
              <a:rPr lang="en-US" sz="16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Without a unified system, critical information remains siloed, leading to errors and compromised outcomes.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28000" y="1270000"/>
            <a:ext cx="6858000" cy="99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8235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350250" y="14986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127000" y="63500"/>
                </a:moveTo>
                <a:cubicBezTo>
                  <a:pt x="127000" y="28476"/>
                  <a:pt x="155476" y="0"/>
                  <a:pt x="190500" y="0"/>
                </a:cubicBezTo>
                <a:lnTo>
                  <a:pt x="381000" y="0"/>
                </a:lnTo>
                <a:cubicBezTo>
                  <a:pt x="416024" y="0"/>
                  <a:pt x="444500" y="28476"/>
                  <a:pt x="444500" y="63500"/>
                </a:cubicBezTo>
                <a:lnTo>
                  <a:pt x="444500" y="127000"/>
                </a:lnTo>
                <a:lnTo>
                  <a:pt x="508000" y="127000"/>
                </a:lnTo>
                <a:cubicBezTo>
                  <a:pt x="543024" y="127000"/>
                  <a:pt x="571500" y="155476"/>
                  <a:pt x="571500" y="190500"/>
                </a:cubicBezTo>
                <a:lnTo>
                  <a:pt x="571500" y="444500"/>
                </a:lnTo>
                <a:cubicBezTo>
                  <a:pt x="571500" y="479524"/>
                  <a:pt x="543024" y="508000"/>
                  <a:pt x="508000" y="508000"/>
                </a:cubicBezTo>
                <a:lnTo>
                  <a:pt x="63500" y="508000"/>
                </a:lnTo>
                <a:cubicBezTo>
                  <a:pt x="28476" y="508000"/>
                  <a:pt x="0" y="479524"/>
                  <a:pt x="0" y="444500"/>
                </a:cubicBezTo>
                <a:lnTo>
                  <a:pt x="0" y="190500"/>
                </a:lnTo>
                <a:cubicBezTo>
                  <a:pt x="0" y="155476"/>
                  <a:pt x="28476" y="127000"/>
                  <a:pt x="63500" y="127000"/>
                </a:cubicBezTo>
                <a:lnTo>
                  <a:pt x="127000" y="127000"/>
                </a:lnTo>
                <a:lnTo>
                  <a:pt x="127000" y="63500"/>
                </a:lnTo>
                <a:close/>
                <a:moveTo>
                  <a:pt x="269875" y="349250"/>
                </a:moveTo>
                <a:cubicBezTo>
                  <a:pt x="252313" y="349250"/>
                  <a:pt x="238125" y="363438"/>
                  <a:pt x="238125" y="381000"/>
                </a:cubicBezTo>
                <a:lnTo>
                  <a:pt x="238125" y="460375"/>
                </a:lnTo>
                <a:lnTo>
                  <a:pt x="333375" y="460375"/>
                </a:lnTo>
                <a:lnTo>
                  <a:pt x="333375" y="381000"/>
                </a:lnTo>
                <a:cubicBezTo>
                  <a:pt x="333375" y="363438"/>
                  <a:pt x="319187" y="349250"/>
                  <a:pt x="301625" y="349250"/>
                </a:cubicBezTo>
                <a:lnTo>
                  <a:pt x="269875" y="349250"/>
                </a:lnTo>
                <a:close/>
                <a:moveTo>
                  <a:pt x="127000" y="365125"/>
                </a:moveTo>
                <a:lnTo>
                  <a:pt x="127000" y="333375"/>
                </a:lnTo>
                <a:cubicBezTo>
                  <a:pt x="127000" y="324644"/>
                  <a:pt x="119856" y="317500"/>
                  <a:pt x="111125" y="317500"/>
                </a:cubicBezTo>
                <a:lnTo>
                  <a:pt x="79375" y="317500"/>
                </a:lnTo>
                <a:cubicBezTo>
                  <a:pt x="70644" y="317500"/>
                  <a:pt x="63500" y="324644"/>
                  <a:pt x="63500" y="333375"/>
                </a:cubicBezTo>
                <a:lnTo>
                  <a:pt x="63500" y="365125"/>
                </a:lnTo>
                <a:cubicBezTo>
                  <a:pt x="63500" y="373856"/>
                  <a:pt x="70644" y="381000"/>
                  <a:pt x="79375" y="381000"/>
                </a:cubicBezTo>
                <a:lnTo>
                  <a:pt x="111125" y="381000"/>
                </a:lnTo>
                <a:cubicBezTo>
                  <a:pt x="119856" y="381000"/>
                  <a:pt x="127000" y="373856"/>
                  <a:pt x="127000" y="365125"/>
                </a:cubicBezTo>
                <a:close/>
                <a:moveTo>
                  <a:pt x="111125" y="254000"/>
                </a:moveTo>
                <a:cubicBezTo>
                  <a:pt x="119856" y="254000"/>
                  <a:pt x="127000" y="246856"/>
                  <a:pt x="127000" y="238125"/>
                </a:cubicBezTo>
                <a:lnTo>
                  <a:pt x="127000" y="206375"/>
                </a:lnTo>
                <a:cubicBezTo>
                  <a:pt x="127000" y="197644"/>
                  <a:pt x="119856" y="190500"/>
                  <a:pt x="111125" y="190500"/>
                </a:cubicBezTo>
                <a:lnTo>
                  <a:pt x="79375" y="190500"/>
                </a:lnTo>
                <a:cubicBezTo>
                  <a:pt x="70644" y="190500"/>
                  <a:pt x="63500" y="197644"/>
                  <a:pt x="63500" y="206375"/>
                </a:cubicBezTo>
                <a:lnTo>
                  <a:pt x="63500" y="238125"/>
                </a:lnTo>
                <a:cubicBezTo>
                  <a:pt x="63500" y="246856"/>
                  <a:pt x="70644" y="254000"/>
                  <a:pt x="79375" y="254000"/>
                </a:cubicBezTo>
                <a:lnTo>
                  <a:pt x="111125" y="254000"/>
                </a:lnTo>
                <a:close/>
                <a:moveTo>
                  <a:pt x="508000" y="365125"/>
                </a:moveTo>
                <a:lnTo>
                  <a:pt x="508000" y="333375"/>
                </a:lnTo>
                <a:cubicBezTo>
                  <a:pt x="508000" y="324644"/>
                  <a:pt x="500856" y="317500"/>
                  <a:pt x="492125" y="317500"/>
                </a:cubicBezTo>
                <a:lnTo>
                  <a:pt x="460375" y="317500"/>
                </a:lnTo>
                <a:cubicBezTo>
                  <a:pt x="451644" y="317500"/>
                  <a:pt x="444500" y="324644"/>
                  <a:pt x="444500" y="333375"/>
                </a:cubicBezTo>
                <a:lnTo>
                  <a:pt x="444500" y="365125"/>
                </a:lnTo>
                <a:cubicBezTo>
                  <a:pt x="444500" y="373856"/>
                  <a:pt x="451644" y="381000"/>
                  <a:pt x="460375" y="381000"/>
                </a:cubicBezTo>
                <a:lnTo>
                  <a:pt x="492125" y="381000"/>
                </a:lnTo>
                <a:cubicBezTo>
                  <a:pt x="500856" y="381000"/>
                  <a:pt x="508000" y="373856"/>
                  <a:pt x="508000" y="365125"/>
                </a:cubicBezTo>
                <a:close/>
                <a:moveTo>
                  <a:pt x="492125" y="254000"/>
                </a:moveTo>
                <a:cubicBezTo>
                  <a:pt x="500856" y="254000"/>
                  <a:pt x="508000" y="246856"/>
                  <a:pt x="508000" y="238125"/>
                </a:cubicBezTo>
                <a:lnTo>
                  <a:pt x="508000" y="206375"/>
                </a:lnTo>
                <a:cubicBezTo>
                  <a:pt x="508000" y="197644"/>
                  <a:pt x="500856" y="190500"/>
                  <a:pt x="492125" y="190500"/>
                </a:cubicBezTo>
                <a:lnTo>
                  <a:pt x="460375" y="190500"/>
                </a:lnTo>
                <a:cubicBezTo>
                  <a:pt x="451644" y="190500"/>
                  <a:pt x="444500" y="197644"/>
                  <a:pt x="444500" y="206375"/>
                </a:cubicBezTo>
                <a:lnTo>
                  <a:pt x="444500" y="238125"/>
                </a:lnTo>
                <a:cubicBezTo>
                  <a:pt x="444500" y="246856"/>
                  <a:pt x="451644" y="254000"/>
                  <a:pt x="460375" y="254000"/>
                </a:cubicBezTo>
                <a:lnTo>
                  <a:pt x="492125" y="254000"/>
                </a:lnTo>
                <a:close/>
                <a:moveTo>
                  <a:pt x="261937" y="103188"/>
                </a:moveTo>
                <a:lnTo>
                  <a:pt x="261937" y="134938"/>
                </a:lnTo>
                <a:lnTo>
                  <a:pt x="230188" y="134938"/>
                </a:lnTo>
                <a:cubicBezTo>
                  <a:pt x="221456" y="134938"/>
                  <a:pt x="214313" y="142081"/>
                  <a:pt x="214313" y="150813"/>
                </a:cubicBezTo>
                <a:lnTo>
                  <a:pt x="214313" y="166688"/>
                </a:lnTo>
                <a:cubicBezTo>
                  <a:pt x="214313" y="175419"/>
                  <a:pt x="221456" y="182563"/>
                  <a:pt x="230188" y="182563"/>
                </a:cubicBezTo>
                <a:lnTo>
                  <a:pt x="261937" y="182563"/>
                </a:lnTo>
                <a:lnTo>
                  <a:pt x="261937" y="214313"/>
                </a:lnTo>
                <a:cubicBezTo>
                  <a:pt x="261937" y="223044"/>
                  <a:pt x="269081" y="230188"/>
                  <a:pt x="277813" y="230188"/>
                </a:cubicBezTo>
                <a:lnTo>
                  <a:pt x="293688" y="230188"/>
                </a:lnTo>
                <a:cubicBezTo>
                  <a:pt x="302419" y="230188"/>
                  <a:pt x="309562" y="223044"/>
                  <a:pt x="309562" y="214313"/>
                </a:cubicBezTo>
                <a:lnTo>
                  <a:pt x="309562" y="182563"/>
                </a:lnTo>
                <a:lnTo>
                  <a:pt x="341313" y="182563"/>
                </a:lnTo>
                <a:cubicBezTo>
                  <a:pt x="350044" y="182563"/>
                  <a:pt x="357188" y="175419"/>
                  <a:pt x="357188" y="166688"/>
                </a:cubicBezTo>
                <a:lnTo>
                  <a:pt x="357188" y="150813"/>
                </a:lnTo>
                <a:cubicBezTo>
                  <a:pt x="357188" y="142081"/>
                  <a:pt x="350044" y="134938"/>
                  <a:pt x="341313" y="134938"/>
                </a:cubicBezTo>
                <a:lnTo>
                  <a:pt x="309562" y="134938"/>
                </a:lnTo>
                <a:lnTo>
                  <a:pt x="309562" y="103188"/>
                </a:lnTo>
                <a:cubicBezTo>
                  <a:pt x="309562" y="94456"/>
                  <a:pt x="302419" y="87313"/>
                  <a:pt x="293688" y="87313"/>
                </a:cubicBezTo>
                <a:lnTo>
                  <a:pt x="277813" y="87313"/>
                </a:lnTo>
                <a:cubicBezTo>
                  <a:pt x="269081" y="87313"/>
                  <a:pt x="261937" y="94456"/>
                  <a:pt x="261937" y="103188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9080500" y="1422400"/>
            <a:ext cx="558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SD Module</a:t>
            </a:r>
            <a:r>
              <a:rPr lang="en-US" sz="16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Patients treated as customers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7890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Sales &amp; Distribution for healthcare services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28000" y="2438400"/>
            <a:ext cx="6858000" cy="99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8235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82000" y="2667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111125"/>
                </a:moveTo>
                <a:cubicBezTo>
                  <a:pt x="63500" y="84832"/>
                  <a:pt x="84832" y="63500"/>
                  <a:pt x="111125" y="63500"/>
                </a:cubicBezTo>
                <a:cubicBezTo>
                  <a:pt x="137418" y="63500"/>
                  <a:pt x="158750" y="84832"/>
                  <a:pt x="158750" y="111125"/>
                </a:cubicBezTo>
                <a:lnTo>
                  <a:pt x="158750" y="222250"/>
                </a:lnTo>
                <a:lnTo>
                  <a:pt x="63500" y="222250"/>
                </a:lnTo>
                <a:lnTo>
                  <a:pt x="63500" y="111125"/>
                </a:lnTo>
                <a:close/>
                <a:moveTo>
                  <a:pt x="174625" y="365125"/>
                </a:moveTo>
                <a:cubicBezTo>
                  <a:pt x="174625" y="316805"/>
                  <a:pt x="192584" y="272653"/>
                  <a:pt x="222250" y="239117"/>
                </a:cubicBezTo>
                <a:lnTo>
                  <a:pt x="222250" y="111125"/>
                </a:lnTo>
                <a:cubicBezTo>
                  <a:pt x="222250" y="49709"/>
                  <a:pt x="172541" y="0"/>
                  <a:pt x="111125" y="0"/>
                </a:cubicBezTo>
                <a:cubicBezTo>
                  <a:pt x="49709" y="0"/>
                  <a:pt x="0" y="49709"/>
                  <a:pt x="0" y="111125"/>
                </a:cubicBezTo>
                <a:lnTo>
                  <a:pt x="0" y="396875"/>
                </a:lnTo>
                <a:cubicBezTo>
                  <a:pt x="0" y="458291"/>
                  <a:pt x="49709" y="508000"/>
                  <a:pt x="111125" y="508000"/>
                </a:cubicBezTo>
                <a:cubicBezTo>
                  <a:pt x="148134" y="508000"/>
                  <a:pt x="180876" y="489942"/>
                  <a:pt x="201116" y="462062"/>
                </a:cubicBezTo>
                <a:cubicBezTo>
                  <a:pt x="184249" y="433685"/>
                  <a:pt x="174625" y="400546"/>
                  <a:pt x="174625" y="365125"/>
                </a:cubicBezTo>
                <a:close/>
                <a:moveTo>
                  <a:pt x="238820" y="431998"/>
                </a:moveTo>
                <a:cubicBezTo>
                  <a:pt x="243384" y="440630"/>
                  <a:pt x="254992" y="441623"/>
                  <a:pt x="261937" y="434677"/>
                </a:cubicBezTo>
                <a:lnTo>
                  <a:pt x="434677" y="261937"/>
                </a:lnTo>
                <a:cubicBezTo>
                  <a:pt x="441623" y="254992"/>
                  <a:pt x="440630" y="243384"/>
                  <a:pt x="431998" y="238820"/>
                </a:cubicBezTo>
                <a:cubicBezTo>
                  <a:pt x="412055" y="228203"/>
                  <a:pt x="389334" y="222250"/>
                  <a:pt x="365125" y="222250"/>
                </a:cubicBezTo>
                <a:cubicBezTo>
                  <a:pt x="286246" y="222250"/>
                  <a:pt x="222250" y="286246"/>
                  <a:pt x="222250" y="365125"/>
                </a:cubicBezTo>
                <a:cubicBezTo>
                  <a:pt x="222250" y="389235"/>
                  <a:pt x="228203" y="412055"/>
                  <a:pt x="238820" y="431998"/>
                </a:cubicBezTo>
                <a:close/>
                <a:moveTo>
                  <a:pt x="295573" y="468313"/>
                </a:moveTo>
                <a:cubicBezTo>
                  <a:pt x="288627" y="475258"/>
                  <a:pt x="289620" y="486866"/>
                  <a:pt x="298252" y="491430"/>
                </a:cubicBezTo>
                <a:cubicBezTo>
                  <a:pt x="318195" y="502047"/>
                  <a:pt x="340916" y="508000"/>
                  <a:pt x="365125" y="508000"/>
                </a:cubicBezTo>
                <a:cubicBezTo>
                  <a:pt x="444004" y="508000"/>
                  <a:pt x="508000" y="444004"/>
                  <a:pt x="508000" y="365125"/>
                </a:cubicBezTo>
                <a:cubicBezTo>
                  <a:pt x="508000" y="341015"/>
                  <a:pt x="502047" y="318195"/>
                  <a:pt x="491430" y="298252"/>
                </a:cubicBezTo>
                <a:cubicBezTo>
                  <a:pt x="486866" y="289620"/>
                  <a:pt x="475258" y="288627"/>
                  <a:pt x="468313" y="295573"/>
                </a:cubicBezTo>
                <a:lnTo>
                  <a:pt x="295573" y="468313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9080500" y="2590800"/>
            <a:ext cx="558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MM Module</a:t>
            </a:r>
            <a:r>
              <a:rPr lang="en-US" sz="16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Medicine &amp; equipment procurement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7890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Materials Management for pharmacy &amp; supplies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28000" y="3606800"/>
            <a:ext cx="6858000" cy="99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8235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82000" y="38354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74625" y="0"/>
                </a:moveTo>
                <a:cubicBezTo>
                  <a:pt x="148332" y="0"/>
                  <a:pt x="127000" y="21332"/>
                  <a:pt x="127000" y="47625"/>
                </a:cubicBezTo>
                <a:lnTo>
                  <a:pt x="127000" y="254000"/>
                </a:lnTo>
                <a:cubicBezTo>
                  <a:pt x="127000" y="280293"/>
                  <a:pt x="148332" y="301625"/>
                  <a:pt x="174625" y="301625"/>
                </a:cubicBezTo>
                <a:lnTo>
                  <a:pt x="238125" y="301625"/>
                </a:lnTo>
                <a:cubicBezTo>
                  <a:pt x="264418" y="301625"/>
                  <a:pt x="285750" y="280293"/>
                  <a:pt x="285750" y="254000"/>
                </a:cubicBezTo>
                <a:lnTo>
                  <a:pt x="285750" y="190500"/>
                </a:lnTo>
                <a:lnTo>
                  <a:pt x="317500" y="190500"/>
                </a:lnTo>
                <a:cubicBezTo>
                  <a:pt x="387648" y="190500"/>
                  <a:pt x="444500" y="247352"/>
                  <a:pt x="444500" y="317500"/>
                </a:cubicBezTo>
                <a:cubicBezTo>
                  <a:pt x="444500" y="387648"/>
                  <a:pt x="387648" y="444500"/>
                  <a:pt x="317500" y="444500"/>
                </a:cubicBezTo>
                <a:lnTo>
                  <a:pt x="31750" y="444500"/>
                </a:lnTo>
                <a:cubicBezTo>
                  <a:pt x="14188" y="444500"/>
                  <a:pt x="0" y="458688"/>
                  <a:pt x="0" y="476250"/>
                </a:cubicBezTo>
                <a:cubicBezTo>
                  <a:pt x="0" y="493812"/>
                  <a:pt x="14188" y="508000"/>
                  <a:pt x="31750" y="508000"/>
                </a:cubicBezTo>
                <a:lnTo>
                  <a:pt x="476250" y="508000"/>
                </a:lnTo>
                <a:cubicBezTo>
                  <a:pt x="493812" y="508000"/>
                  <a:pt x="508000" y="493812"/>
                  <a:pt x="508000" y="476250"/>
                </a:cubicBezTo>
                <a:cubicBezTo>
                  <a:pt x="508000" y="458688"/>
                  <a:pt x="493812" y="444500"/>
                  <a:pt x="476250" y="444500"/>
                </a:cubicBezTo>
                <a:lnTo>
                  <a:pt x="459482" y="444500"/>
                </a:lnTo>
                <a:cubicBezTo>
                  <a:pt x="489645" y="410766"/>
                  <a:pt x="508000" y="366316"/>
                  <a:pt x="508000" y="317500"/>
                </a:cubicBezTo>
                <a:cubicBezTo>
                  <a:pt x="508000" y="212328"/>
                  <a:pt x="422672" y="127000"/>
                  <a:pt x="317500" y="127000"/>
                </a:cubicBezTo>
                <a:lnTo>
                  <a:pt x="285750" y="127000"/>
                </a:lnTo>
                <a:lnTo>
                  <a:pt x="285750" y="47625"/>
                </a:lnTo>
                <a:cubicBezTo>
                  <a:pt x="285750" y="21332"/>
                  <a:pt x="264418" y="0"/>
                  <a:pt x="238125" y="0"/>
                </a:cubicBezTo>
                <a:lnTo>
                  <a:pt x="174625" y="0"/>
                </a:lnTo>
                <a:close/>
                <a:moveTo>
                  <a:pt x="119063" y="349250"/>
                </a:moveTo>
                <a:cubicBezTo>
                  <a:pt x="105866" y="349250"/>
                  <a:pt x="95250" y="359866"/>
                  <a:pt x="95250" y="373063"/>
                </a:cubicBezTo>
                <a:cubicBezTo>
                  <a:pt x="95250" y="386259"/>
                  <a:pt x="105866" y="396875"/>
                  <a:pt x="119063" y="396875"/>
                </a:cubicBezTo>
                <a:lnTo>
                  <a:pt x="293688" y="396875"/>
                </a:lnTo>
                <a:cubicBezTo>
                  <a:pt x="306884" y="396875"/>
                  <a:pt x="317500" y="386259"/>
                  <a:pt x="317500" y="373063"/>
                </a:cubicBezTo>
                <a:cubicBezTo>
                  <a:pt x="317500" y="359866"/>
                  <a:pt x="306884" y="349250"/>
                  <a:pt x="293688" y="349250"/>
                </a:cubicBezTo>
                <a:lnTo>
                  <a:pt x="119063" y="349250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9080500" y="3759200"/>
            <a:ext cx="558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PP Module</a:t>
            </a:r>
            <a:r>
              <a:rPr lang="en-US" sz="16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Lab test &amp; diagnostic planning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7890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Production Planning adapted for diagnostics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16000" y="5080000"/>
            <a:ext cx="14224000" cy="762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00B4D8"/>
              </a:gs>
              <a:gs pos="100000">
                <a:srgbClr val="0077B6"/>
              </a:gs>
            </a:gsLst>
            <a:lin ang="0" scaled="1"/>
          </a:gradFill>
          <a:ln/>
        </p:spPr>
      </p:sp>
      <p:sp>
        <p:nvSpPr>
          <p:cNvPr id="21" name="Shape 19"/>
          <p:cNvSpPr/>
          <p:nvPr/>
        </p:nvSpPr>
        <p:spPr>
          <a:xfrm>
            <a:off x="1397000" y="5257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32105" y="125333"/>
                </a:moveTo>
                <a:cubicBezTo>
                  <a:pt x="360124" y="118745"/>
                  <a:pt x="381000" y="93583"/>
                  <a:pt x="381000" y="63500"/>
                </a:cubicBezTo>
                <a:cubicBezTo>
                  <a:pt x="381000" y="28416"/>
                  <a:pt x="352584" y="0"/>
                  <a:pt x="317500" y="0"/>
                </a:cubicBezTo>
                <a:cubicBezTo>
                  <a:pt x="283051" y="0"/>
                  <a:pt x="255032" y="27384"/>
                  <a:pt x="254000" y="61516"/>
                </a:cubicBezTo>
                <a:lnTo>
                  <a:pt x="108109" y="119936"/>
                </a:lnTo>
                <a:cubicBezTo>
                  <a:pt x="96599" y="108585"/>
                  <a:pt x="80883" y="101600"/>
                  <a:pt x="63500" y="101600"/>
                </a:cubicBezTo>
                <a:cubicBezTo>
                  <a:pt x="28416" y="101600"/>
                  <a:pt x="0" y="130016"/>
                  <a:pt x="0" y="165100"/>
                </a:cubicBezTo>
                <a:cubicBezTo>
                  <a:pt x="0" y="200184"/>
                  <a:pt x="28416" y="228600"/>
                  <a:pt x="63500" y="228600"/>
                </a:cubicBezTo>
                <a:cubicBezTo>
                  <a:pt x="73184" y="228600"/>
                  <a:pt x="82391" y="226457"/>
                  <a:pt x="90567" y="222567"/>
                </a:cubicBezTo>
                <a:lnTo>
                  <a:pt x="206137" y="323691"/>
                </a:lnTo>
                <a:cubicBezTo>
                  <a:pt x="204232" y="329724"/>
                  <a:pt x="203200" y="336233"/>
                  <a:pt x="203200" y="342900"/>
                </a:cubicBezTo>
                <a:cubicBezTo>
                  <a:pt x="203200" y="377984"/>
                  <a:pt x="231616" y="406400"/>
                  <a:pt x="266700" y="406400"/>
                </a:cubicBezTo>
                <a:cubicBezTo>
                  <a:pt x="301784" y="406400"/>
                  <a:pt x="330200" y="377984"/>
                  <a:pt x="330200" y="342900"/>
                </a:cubicBezTo>
                <a:cubicBezTo>
                  <a:pt x="330200" y="320913"/>
                  <a:pt x="319088" y="301546"/>
                  <a:pt x="302101" y="290195"/>
                </a:cubicBezTo>
                <a:lnTo>
                  <a:pt x="332105" y="125333"/>
                </a:lnTo>
                <a:close/>
                <a:moveTo>
                  <a:pt x="124063" y="184309"/>
                </a:moveTo>
                <a:cubicBezTo>
                  <a:pt x="125809" y="178832"/>
                  <a:pt x="126841" y="173038"/>
                  <a:pt x="127000" y="167084"/>
                </a:cubicBezTo>
                <a:lnTo>
                  <a:pt x="272891" y="108744"/>
                </a:lnTo>
                <a:cubicBezTo>
                  <a:pt x="275749" y="111522"/>
                  <a:pt x="278765" y="114062"/>
                  <a:pt x="282099" y="116284"/>
                </a:cubicBezTo>
                <a:lnTo>
                  <a:pt x="252095" y="281067"/>
                </a:lnTo>
                <a:cubicBezTo>
                  <a:pt x="247729" y="282099"/>
                  <a:pt x="243523" y="283528"/>
                  <a:pt x="239554" y="285433"/>
                </a:cubicBezTo>
                <a:lnTo>
                  <a:pt x="124063" y="18430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968500" y="5181600"/>
            <a:ext cx="12954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 three modules connected into ONE unified platform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557000" y="4597400"/>
            <a:ext cx="0" cy="482600"/>
          </a:xfrm>
          <a:prstGeom prst="straightConnector1">
            <a:avLst/>
          </a:prstGeom>
          <a:noFill/>
          <a:ln w="25400">
            <a:solidFill>
              <a:srgbClr val="00B4D8"/>
            </a:solidFill>
            <a:prstDash val="sysDot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0A1F44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 / 19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00B4D8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101600"/>
            <a:ext cx="1143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About the Hospital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30000" y="774700"/>
            <a:ext cx="4318000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dirty="0">
                <a:solidFill>
                  <a:srgbClr val="90E0EF">
                    <a:alpha val="25098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SRM University AP | Hospital ERP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9144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Mid-to-Large-Scale Private Multi-Specialty Hospital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16000" y="1346200"/>
            <a:ext cx="4445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59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41425" y="16002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114300" y="57150"/>
                </a:moveTo>
                <a:cubicBezTo>
                  <a:pt x="114300" y="25628"/>
                  <a:pt x="139928" y="0"/>
                  <a:pt x="171450" y="0"/>
                </a:cubicBezTo>
                <a:lnTo>
                  <a:pt x="342900" y="0"/>
                </a:lnTo>
                <a:cubicBezTo>
                  <a:pt x="374422" y="0"/>
                  <a:pt x="400050" y="25628"/>
                  <a:pt x="400050" y="57150"/>
                </a:cubicBezTo>
                <a:lnTo>
                  <a:pt x="400050" y="114300"/>
                </a:lnTo>
                <a:lnTo>
                  <a:pt x="457200" y="114300"/>
                </a:lnTo>
                <a:cubicBezTo>
                  <a:pt x="488722" y="114300"/>
                  <a:pt x="514350" y="139928"/>
                  <a:pt x="514350" y="171450"/>
                </a:cubicBezTo>
                <a:lnTo>
                  <a:pt x="514350" y="400050"/>
                </a:lnTo>
                <a:cubicBezTo>
                  <a:pt x="514350" y="431572"/>
                  <a:pt x="488722" y="457200"/>
                  <a:pt x="457200" y="457200"/>
                </a:cubicBezTo>
                <a:lnTo>
                  <a:pt x="57150" y="457200"/>
                </a:lnTo>
                <a:cubicBezTo>
                  <a:pt x="25628" y="457200"/>
                  <a:pt x="0" y="431572"/>
                  <a:pt x="0" y="400050"/>
                </a:cubicBezTo>
                <a:lnTo>
                  <a:pt x="0" y="171450"/>
                </a:lnTo>
                <a:cubicBezTo>
                  <a:pt x="0" y="139928"/>
                  <a:pt x="25628" y="114300"/>
                  <a:pt x="57150" y="114300"/>
                </a:cubicBezTo>
                <a:lnTo>
                  <a:pt x="114300" y="114300"/>
                </a:lnTo>
                <a:lnTo>
                  <a:pt x="114300" y="57150"/>
                </a:lnTo>
                <a:close/>
                <a:moveTo>
                  <a:pt x="242888" y="314325"/>
                </a:moveTo>
                <a:cubicBezTo>
                  <a:pt x="227082" y="314325"/>
                  <a:pt x="214313" y="327094"/>
                  <a:pt x="214313" y="342900"/>
                </a:cubicBezTo>
                <a:lnTo>
                  <a:pt x="214313" y="414338"/>
                </a:lnTo>
                <a:lnTo>
                  <a:pt x="300038" y="414338"/>
                </a:lnTo>
                <a:lnTo>
                  <a:pt x="300038" y="342900"/>
                </a:lnTo>
                <a:cubicBezTo>
                  <a:pt x="300038" y="327094"/>
                  <a:pt x="287268" y="314325"/>
                  <a:pt x="271463" y="314325"/>
                </a:cubicBezTo>
                <a:lnTo>
                  <a:pt x="242888" y="314325"/>
                </a:lnTo>
                <a:close/>
                <a:moveTo>
                  <a:pt x="114300" y="328613"/>
                </a:moveTo>
                <a:lnTo>
                  <a:pt x="114300" y="300038"/>
                </a:lnTo>
                <a:cubicBezTo>
                  <a:pt x="114300" y="292179"/>
                  <a:pt x="107871" y="285750"/>
                  <a:pt x="100013" y="285750"/>
                </a:cubicBezTo>
                <a:lnTo>
                  <a:pt x="71438" y="285750"/>
                </a:lnTo>
                <a:cubicBezTo>
                  <a:pt x="63579" y="285750"/>
                  <a:pt x="57150" y="292179"/>
                  <a:pt x="57150" y="300038"/>
                </a:cubicBezTo>
                <a:lnTo>
                  <a:pt x="57150" y="328613"/>
                </a:lnTo>
                <a:cubicBezTo>
                  <a:pt x="57150" y="336471"/>
                  <a:pt x="63579" y="342900"/>
                  <a:pt x="71438" y="342900"/>
                </a:cubicBezTo>
                <a:lnTo>
                  <a:pt x="100013" y="342900"/>
                </a:lnTo>
                <a:cubicBezTo>
                  <a:pt x="107871" y="342900"/>
                  <a:pt x="114300" y="336471"/>
                  <a:pt x="114300" y="328613"/>
                </a:cubicBezTo>
                <a:close/>
                <a:moveTo>
                  <a:pt x="100013" y="228600"/>
                </a:moveTo>
                <a:cubicBezTo>
                  <a:pt x="107871" y="228600"/>
                  <a:pt x="114300" y="222171"/>
                  <a:pt x="114300" y="214313"/>
                </a:cubicBezTo>
                <a:lnTo>
                  <a:pt x="114300" y="185738"/>
                </a:lnTo>
                <a:cubicBezTo>
                  <a:pt x="114300" y="177879"/>
                  <a:pt x="107871" y="171450"/>
                  <a:pt x="100013" y="171450"/>
                </a:cubicBezTo>
                <a:lnTo>
                  <a:pt x="71438" y="171450"/>
                </a:lnTo>
                <a:cubicBezTo>
                  <a:pt x="63579" y="171450"/>
                  <a:pt x="57150" y="177879"/>
                  <a:pt x="57150" y="185738"/>
                </a:cubicBezTo>
                <a:lnTo>
                  <a:pt x="57150" y="214313"/>
                </a:lnTo>
                <a:cubicBezTo>
                  <a:pt x="57150" y="222171"/>
                  <a:pt x="63579" y="228600"/>
                  <a:pt x="71438" y="228600"/>
                </a:cubicBezTo>
                <a:lnTo>
                  <a:pt x="100013" y="228600"/>
                </a:lnTo>
                <a:close/>
                <a:moveTo>
                  <a:pt x="457200" y="328613"/>
                </a:moveTo>
                <a:lnTo>
                  <a:pt x="457200" y="300038"/>
                </a:lnTo>
                <a:cubicBezTo>
                  <a:pt x="457200" y="292179"/>
                  <a:pt x="450771" y="285750"/>
                  <a:pt x="442913" y="285750"/>
                </a:cubicBezTo>
                <a:lnTo>
                  <a:pt x="414338" y="285750"/>
                </a:lnTo>
                <a:cubicBezTo>
                  <a:pt x="406479" y="285750"/>
                  <a:pt x="400050" y="292179"/>
                  <a:pt x="400050" y="300038"/>
                </a:cubicBezTo>
                <a:lnTo>
                  <a:pt x="400050" y="328613"/>
                </a:lnTo>
                <a:cubicBezTo>
                  <a:pt x="400050" y="336471"/>
                  <a:pt x="406479" y="342900"/>
                  <a:pt x="414338" y="342900"/>
                </a:cubicBezTo>
                <a:lnTo>
                  <a:pt x="442913" y="342900"/>
                </a:lnTo>
                <a:cubicBezTo>
                  <a:pt x="450771" y="342900"/>
                  <a:pt x="457200" y="336471"/>
                  <a:pt x="457200" y="328613"/>
                </a:cubicBezTo>
                <a:close/>
                <a:moveTo>
                  <a:pt x="442913" y="228600"/>
                </a:moveTo>
                <a:cubicBezTo>
                  <a:pt x="450771" y="228600"/>
                  <a:pt x="457200" y="222171"/>
                  <a:pt x="457200" y="214313"/>
                </a:cubicBezTo>
                <a:lnTo>
                  <a:pt x="457200" y="185738"/>
                </a:lnTo>
                <a:cubicBezTo>
                  <a:pt x="457200" y="177879"/>
                  <a:pt x="450771" y="171450"/>
                  <a:pt x="442913" y="171450"/>
                </a:cubicBezTo>
                <a:lnTo>
                  <a:pt x="414338" y="171450"/>
                </a:lnTo>
                <a:cubicBezTo>
                  <a:pt x="406479" y="171450"/>
                  <a:pt x="400050" y="177879"/>
                  <a:pt x="400050" y="185738"/>
                </a:cubicBezTo>
                <a:lnTo>
                  <a:pt x="400050" y="214313"/>
                </a:lnTo>
                <a:cubicBezTo>
                  <a:pt x="400050" y="222171"/>
                  <a:pt x="406479" y="228600"/>
                  <a:pt x="414338" y="228600"/>
                </a:cubicBezTo>
                <a:lnTo>
                  <a:pt x="442913" y="228600"/>
                </a:lnTo>
                <a:close/>
                <a:moveTo>
                  <a:pt x="235744" y="92869"/>
                </a:moveTo>
                <a:lnTo>
                  <a:pt x="235744" y="121444"/>
                </a:lnTo>
                <a:lnTo>
                  <a:pt x="207169" y="121444"/>
                </a:lnTo>
                <a:cubicBezTo>
                  <a:pt x="199311" y="121444"/>
                  <a:pt x="192881" y="127873"/>
                  <a:pt x="192881" y="135731"/>
                </a:cubicBezTo>
                <a:lnTo>
                  <a:pt x="192881" y="150019"/>
                </a:lnTo>
                <a:cubicBezTo>
                  <a:pt x="192881" y="157877"/>
                  <a:pt x="199311" y="164306"/>
                  <a:pt x="207169" y="164306"/>
                </a:cubicBezTo>
                <a:lnTo>
                  <a:pt x="235744" y="164306"/>
                </a:lnTo>
                <a:lnTo>
                  <a:pt x="235744" y="192881"/>
                </a:lnTo>
                <a:cubicBezTo>
                  <a:pt x="235744" y="200739"/>
                  <a:pt x="242173" y="207169"/>
                  <a:pt x="250031" y="207169"/>
                </a:cubicBezTo>
                <a:lnTo>
                  <a:pt x="264319" y="207169"/>
                </a:lnTo>
                <a:cubicBezTo>
                  <a:pt x="272177" y="207169"/>
                  <a:pt x="278606" y="200739"/>
                  <a:pt x="278606" y="192881"/>
                </a:cubicBezTo>
                <a:lnTo>
                  <a:pt x="278606" y="164306"/>
                </a:lnTo>
                <a:lnTo>
                  <a:pt x="307181" y="164306"/>
                </a:lnTo>
                <a:cubicBezTo>
                  <a:pt x="315039" y="164306"/>
                  <a:pt x="321469" y="157877"/>
                  <a:pt x="321469" y="150019"/>
                </a:cubicBezTo>
                <a:lnTo>
                  <a:pt x="321469" y="135731"/>
                </a:lnTo>
                <a:cubicBezTo>
                  <a:pt x="321469" y="127873"/>
                  <a:pt x="315039" y="121444"/>
                  <a:pt x="307181" y="121444"/>
                </a:cubicBezTo>
                <a:lnTo>
                  <a:pt x="278606" y="121444"/>
                </a:lnTo>
                <a:lnTo>
                  <a:pt x="278606" y="92869"/>
                </a:lnTo>
                <a:cubicBezTo>
                  <a:pt x="278606" y="85011"/>
                  <a:pt x="272177" y="78581"/>
                  <a:pt x="264319" y="78581"/>
                </a:cubicBezTo>
                <a:lnTo>
                  <a:pt x="250031" y="78581"/>
                </a:lnTo>
                <a:cubicBezTo>
                  <a:pt x="242173" y="78581"/>
                  <a:pt x="235744" y="85011"/>
                  <a:pt x="235744" y="92869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1879600" y="1524000"/>
            <a:ext cx="336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Outpatient &amp; Inpatient Care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90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Comprehensive patient services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0" y="1346200"/>
            <a:ext cx="4445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59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69000" y="1600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57163" y="0"/>
                </a:moveTo>
                <a:cubicBezTo>
                  <a:pt x="133499" y="0"/>
                  <a:pt x="114300" y="19199"/>
                  <a:pt x="114300" y="42863"/>
                </a:cubicBezTo>
                <a:lnTo>
                  <a:pt x="114300" y="228600"/>
                </a:lnTo>
                <a:cubicBezTo>
                  <a:pt x="114300" y="252264"/>
                  <a:pt x="133499" y="271463"/>
                  <a:pt x="157163" y="271463"/>
                </a:cubicBezTo>
                <a:lnTo>
                  <a:pt x="214313" y="271463"/>
                </a:lnTo>
                <a:cubicBezTo>
                  <a:pt x="237976" y="271463"/>
                  <a:pt x="257175" y="252264"/>
                  <a:pt x="257175" y="228600"/>
                </a:cubicBezTo>
                <a:lnTo>
                  <a:pt x="257175" y="171450"/>
                </a:lnTo>
                <a:lnTo>
                  <a:pt x="285750" y="171450"/>
                </a:lnTo>
                <a:cubicBezTo>
                  <a:pt x="348883" y="171450"/>
                  <a:pt x="400050" y="222617"/>
                  <a:pt x="400050" y="285750"/>
                </a:cubicBezTo>
                <a:cubicBezTo>
                  <a:pt x="400050" y="348883"/>
                  <a:pt x="348883" y="400050"/>
                  <a:pt x="285750" y="400050"/>
                </a:cubicBezTo>
                <a:lnTo>
                  <a:pt x="28575" y="400050"/>
                </a:lnTo>
                <a:cubicBezTo>
                  <a:pt x="12769" y="400050"/>
                  <a:pt x="0" y="412819"/>
                  <a:pt x="0" y="428625"/>
                </a:cubicBezTo>
                <a:cubicBezTo>
                  <a:pt x="0" y="444431"/>
                  <a:pt x="12769" y="457200"/>
                  <a:pt x="28575" y="457200"/>
                </a:cubicBezTo>
                <a:lnTo>
                  <a:pt x="428625" y="457200"/>
                </a:lnTo>
                <a:cubicBezTo>
                  <a:pt x="444431" y="457200"/>
                  <a:pt x="457200" y="444431"/>
                  <a:pt x="457200" y="428625"/>
                </a:cubicBezTo>
                <a:cubicBezTo>
                  <a:pt x="457200" y="412819"/>
                  <a:pt x="444431" y="400050"/>
                  <a:pt x="428625" y="400050"/>
                </a:cubicBezTo>
                <a:lnTo>
                  <a:pt x="413534" y="400050"/>
                </a:lnTo>
                <a:cubicBezTo>
                  <a:pt x="440680" y="369689"/>
                  <a:pt x="457200" y="329684"/>
                  <a:pt x="457200" y="285750"/>
                </a:cubicBezTo>
                <a:cubicBezTo>
                  <a:pt x="457200" y="191095"/>
                  <a:pt x="380405" y="114300"/>
                  <a:pt x="285750" y="114300"/>
                </a:cubicBezTo>
                <a:lnTo>
                  <a:pt x="257175" y="114300"/>
                </a:lnTo>
                <a:lnTo>
                  <a:pt x="257175" y="42863"/>
                </a:lnTo>
                <a:cubicBezTo>
                  <a:pt x="257175" y="19199"/>
                  <a:pt x="237976" y="0"/>
                  <a:pt x="214313" y="0"/>
                </a:cubicBezTo>
                <a:lnTo>
                  <a:pt x="157163" y="0"/>
                </a:lnTo>
                <a:close/>
                <a:moveTo>
                  <a:pt x="107156" y="314325"/>
                </a:moveTo>
                <a:cubicBezTo>
                  <a:pt x="95280" y="314325"/>
                  <a:pt x="85725" y="323880"/>
                  <a:pt x="85725" y="335756"/>
                </a:cubicBezTo>
                <a:cubicBezTo>
                  <a:pt x="85725" y="347633"/>
                  <a:pt x="95280" y="357188"/>
                  <a:pt x="107156" y="357188"/>
                </a:cubicBezTo>
                <a:lnTo>
                  <a:pt x="264319" y="357188"/>
                </a:lnTo>
                <a:cubicBezTo>
                  <a:pt x="276195" y="357188"/>
                  <a:pt x="285750" y="347633"/>
                  <a:pt x="285750" y="335756"/>
                </a:cubicBezTo>
                <a:cubicBezTo>
                  <a:pt x="285750" y="323880"/>
                  <a:pt x="276195" y="314325"/>
                  <a:pt x="264319" y="314325"/>
                </a:cubicBezTo>
                <a:lnTo>
                  <a:pt x="107156" y="314325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6578600" y="1524000"/>
            <a:ext cx="336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Diagnostic Laboratory Services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90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Advanced testing &amp; diagnostics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414000" y="1346200"/>
            <a:ext cx="4826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59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668000" y="1600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100013"/>
                </a:moveTo>
                <a:cubicBezTo>
                  <a:pt x="57150" y="76349"/>
                  <a:pt x="76349" y="57150"/>
                  <a:pt x="100013" y="57150"/>
                </a:cubicBezTo>
                <a:cubicBezTo>
                  <a:pt x="123676" y="57150"/>
                  <a:pt x="142875" y="76349"/>
                  <a:pt x="142875" y="100013"/>
                </a:cubicBezTo>
                <a:lnTo>
                  <a:pt x="142875" y="200025"/>
                </a:lnTo>
                <a:lnTo>
                  <a:pt x="57150" y="200025"/>
                </a:lnTo>
                <a:lnTo>
                  <a:pt x="57150" y="100013"/>
                </a:lnTo>
                <a:close/>
                <a:moveTo>
                  <a:pt x="157163" y="328613"/>
                </a:moveTo>
                <a:cubicBezTo>
                  <a:pt x="157163" y="285125"/>
                  <a:pt x="173325" y="245388"/>
                  <a:pt x="200025" y="215205"/>
                </a:cubicBezTo>
                <a:lnTo>
                  <a:pt x="200025" y="100013"/>
                </a:lnTo>
                <a:cubicBezTo>
                  <a:pt x="200025" y="44738"/>
                  <a:pt x="155287" y="0"/>
                  <a:pt x="100013" y="0"/>
                </a:cubicBezTo>
                <a:cubicBezTo>
                  <a:pt x="44738" y="0"/>
                  <a:pt x="0" y="44738"/>
                  <a:pt x="0" y="100013"/>
                </a:cubicBezTo>
                <a:lnTo>
                  <a:pt x="0" y="357188"/>
                </a:lnTo>
                <a:cubicBezTo>
                  <a:pt x="0" y="412462"/>
                  <a:pt x="44738" y="457200"/>
                  <a:pt x="100013" y="457200"/>
                </a:cubicBezTo>
                <a:cubicBezTo>
                  <a:pt x="133320" y="457200"/>
                  <a:pt x="162788" y="440948"/>
                  <a:pt x="181005" y="415856"/>
                </a:cubicBezTo>
                <a:cubicBezTo>
                  <a:pt x="165824" y="390317"/>
                  <a:pt x="157163" y="360491"/>
                  <a:pt x="157163" y="328613"/>
                </a:cubicBezTo>
                <a:close/>
                <a:moveTo>
                  <a:pt x="214938" y="388799"/>
                </a:moveTo>
                <a:cubicBezTo>
                  <a:pt x="219045" y="396567"/>
                  <a:pt x="229493" y="397460"/>
                  <a:pt x="235744" y="391210"/>
                </a:cubicBezTo>
                <a:lnTo>
                  <a:pt x="391210" y="235744"/>
                </a:lnTo>
                <a:cubicBezTo>
                  <a:pt x="397460" y="229493"/>
                  <a:pt x="396567" y="219045"/>
                  <a:pt x="388799" y="214938"/>
                </a:cubicBezTo>
                <a:cubicBezTo>
                  <a:pt x="370850" y="205383"/>
                  <a:pt x="350401" y="200025"/>
                  <a:pt x="328613" y="200025"/>
                </a:cubicBezTo>
                <a:cubicBezTo>
                  <a:pt x="257621" y="200025"/>
                  <a:pt x="200025" y="257621"/>
                  <a:pt x="200025" y="328613"/>
                </a:cubicBezTo>
                <a:cubicBezTo>
                  <a:pt x="200025" y="350312"/>
                  <a:pt x="205383" y="370850"/>
                  <a:pt x="214938" y="388799"/>
                </a:cubicBezTo>
                <a:close/>
                <a:moveTo>
                  <a:pt x="266015" y="421481"/>
                </a:moveTo>
                <a:cubicBezTo>
                  <a:pt x="259765" y="427732"/>
                  <a:pt x="260658" y="438180"/>
                  <a:pt x="268426" y="442287"/>
                </a:cubicBezTo>
                <a:cubicBezTo>
                  <a:pt x="286375" y="451842"/>
                  <a:pt x="306824" y="457200"/>
                  <a:pt x="328613" y="457200"/>
                </a:cubicBezTo>
                <a:cubicBezTo>
                  <a:pt x="399604" y="457200"/>
                  <a:pt x="457200" y="399604"/>
                  <a:pt x="457200" y="328613"/>
                </a:cubicBezTo>
                <a:cubicBezTo>
                  <a:pt x="457200" y="306913"/>
                  <a:pt x="451842" y="286375"/>
                  <a:pt x="442287" y="268426"/>
                </a:cubicBezTo>
                <a:cubicBezTo>
                  <a:pt x="438180" y="260658"/>
                  <a:pt x="427732" y="259765"/>
                  <a:pt x="421481" y="266015"/>
                </a:cubicBezTo>
                <a:lnTo>
                  <a:pt x="266015" y="421481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11277600" y="1524000"/>
            <a:ext cx="3746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Pharmacy Operations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90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Medicine dispensing &amp; inventory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16000" y="2667000"/>
            <a:ext cx="4445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59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270000" y="292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71450" y="228600"/>
                </a:moveTo>
                <a:lnTo>
                  <a:pt x="136178" y="263872"/>
                </a:lnTo>
                <a:cubicBezTo>
                  <a:pt x="124926" y="259497"/>
                  <a:pt x="112782" y="257175"/>
                  <a:pt x="100013" y="257175"/>
                </a:cubicBezTo>
                <a:cubicBezTo>
                  <a:pt x="44738" y="257175"/>
                  <a:pt x="0" y="301913"/>
                  <a:pt x="0" y="357188"/>
                </a:cubicBezTo>
                <a:cubicBezTo>
                  <a:pt x="0" y="412462"/>
                  <a:pt x="44738" y="457200"/>
                  <a:pt x="100013" y="457200"/>
                </a:cubicBezTo>
                <a:cubicBezTo>
                  <a:pt x="155287" y="457200"/>
                  <a:pt x="200025" y="412462"/>
                  <a:pt x="200025" y="357188"/>
                </a:cubicBezTo>
                <a:cubicBezTo>
                  <a:pt x="200025" y="344418"/>
                  <a:pt x="197614" y="332274"/>
                  <a:pt x="193328" y="321022"/>
                </a:cubicBezTo>
                <a:lnTo>
                  <a:pt x="445770" y="68580"/>
                </a:lnTo>
                <a:cubicBezTo>
                  <a:pt x="452110" y="62240"/>
                  <a:pt x="452110" y="52060"/>
                  <a:pt x="445770" y="45720"/>
                </a:cubicBezTo>
                <a:cubicBezTo>
                  <a:pt x="420499" y="20449"/>
                  <a:pt x="379601" y="20449"/>
                  <a:pt x="354330" y="45720"/>
                </a:cubicBezTo>
                <a:lnTo>
                  <a:pt x="228600" y="171450"/>
                </a:lnTo>
                <a:lnTo>
                  <a:pt x="193328" y="136178"/>
                </a:lnTo>
                <a:cubicBezTo>
                  <a:pt x="197703" y="124926"/>
                  <a:pt x="200025" y="112782"/>
                  <a:pt x="200025" y="100013"/>
                </a:cubicBezTo>
                <a:cubicBezTo>
                  <a:pt x="200025" y="44738"/>
                  <a:pt x="155287" y="0"/>
                  <a:pt x="100013" y="0"/>
                </a:cubicBezTo>
                <a:cubicBezTo>
                  <a:pt x="44738" y="0"/>
                  <a:pt x="0" y="44738"/>
                  <a:pt x="0" y="100013"/>
                </a:cubicBezTo>
                <a:cubicBezTo>
                  <a:pt x="0" y="155287"/>
                  <a:pt x="44738" y="200025"/>
                  <a:pt x="100013" y="200025"/>
                </a:cubicBezTo>
                <a:cubicBezTo>
                  <a:pt x="112782" y="200025"/>
                  <a:pt x="124926" y="197614"/>
                  <a:pt x="136178" y="193328"/>
                </a:cubicBezTo>
                <a:lnTo>
                  <a:pt x="171450" y="228600"/>
                </a:lnTo>
                <a:close/>
                <a:moveTo>
                  <a:pt x="258872" y="316022"/>
                </a:moveTo>
                <a:lnTo>
                  <a:pt x="354330" y="411480"/>
                </a:lnTo>
                <a:cubicBezTo>
                  <a:pt x="379601" y="436751"/>
                  <a:pt x="420499" y="436751"/>
                  <a:pt x="445770" y="411480"/>
                </a:cubicBezTo>
                <a:cubicBezTo>
                  <a:pt x="452110" y="405140"/>
                  <a:pt x="452110" y="394960"/>
                  <a:pt x="445770" y="388620"/>
                </a:cubicBezTo>
                <a:lnTo>
                  <a:pt x="316022" y="258872"/>
                </a:lnTo>
                <a:lnTo>
                  <a:pt x="258872" y="316022"/>
                </a:lnTo>
                <a:close/>
                <a:moveTo>
                  <a:pt x="57150" y="100013"/>
                </a:moveTo>
                <a:cubicBezTo>
                  <a:pt x="57150" y="76356"/>
                  <a:pt x="76356" y="57150"/>
                  <a:pt x="100012" y="57150"/>
                </a:cubicBezTo>
                <a:cubicBezTo>
                  <a:pt x="123669" y="57150"/>
                  <a:pt x="142875" y="76356"/>
                  <a:pt x="142875" y="100012"/>
                </a:cubicBezTo>
                <a:cubicBezTo>
                  <a:pt x="142875" y="123669"/>
                  <a:pt x="123669" y="142875"/>
                  <a:pt x="100013" y="142875"/>
                </a:cubicBezTo>
                <a:cubicBezTo>
                  <a:pt x="76356" y="142875"/>
                  <a:pt x="57150" y="123669"/>
                  <a:pt x="57150" y="100013"/>
                </a:cubicBezTo>
                <a:close/>
                <a:moveTo>
                  <a:pt x="100013" y="314325"/>
                </a:moveTo>
                <a:cubicBezTo>
                  <a:pt x="123669" y="314325"/>
                  <a:pt x="142875" y="333531"/>
                  <a:pt x="142875" y="357188"/>
                </a:cubicBezTo>
                <a:cubicBezTo>
                  <a:pt x="142875" y="380844"/>
                  <a:pt x="123669" y="400050"/>
                  <a:pt x="100013" y="400050"/>
                </a:cubicBezTo>
                <a:cubicBezTo>
                  <a:pt x="76356" y="400050"/>
                  <a:pt x="57150" y="380844"/>
                  <a:pt x="57150" y="357188"/>
                </a:cubicBezTo>
                <a:cubicBezTo>
                  <a:pt x="57150" y="333531"/>
                  <a:pt x="76356" y="314325"/>
                  <a:pt x="100012" y="314325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1879600" y="2844800"/>
            <a:ext cx="336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Surgical Procedures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90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Operating theaters &amp; surgical care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15000" y="2667000"/>
            <a:ext cx="4445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59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0425" y="2921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8575" y="42863"/>
                </a:moveTo>
                <a:cubicBezTo>
                  <a:pt x="28575" y="19199"/>
                  <a:pt x="47774" y="0"/>
                  <a:pt x="71438" y="0"/>
                </a:cubicBezTo>
                <a:lnTo>
                  <a:pt x="114300" y="0"/>
                </a:lnTo>
                <a:cubicBezTo>
                  <a:pt x="130106" y="0"/>
                  <a:pt x="142875" y="12769"/>
                  <a:pt x="142875" y="28575"/>
                </a:cubicBezTo>
                <a:cubicBezTo>
                  <a:pt x="142875" y="44381"/>
                  <a:pt x="130106" y="57150"/>
                  <a:pt x="114300" y="57150"/>
                </a:cubicBezTo>
                <a:lnTo>
                  <a:pt x="85725" y="57150"/>
                </a:lnTo>
                <a:lnTo>
                  <a:pt x="85725" y="171450"/>
                </a:lnTo>
                <a:cubicBezTo>
                  <a:pt x="85725" y="218777"/>
                  <a:pt x="124123" y="257175"/>
                  <a:pt x="171450" y="257175"/>
                </a:cubicBezTo>
                <a:cubicBezTo>
                  <a:pt x="218777" y="257175"/>
                  <a:pt x="257175" y="218777"/>
                  <a:pt x="257175" y="171450"/>
                </a:cubicBezTo>
                <a:lnTo>
                  <a:pt x="257175" y="57150"/>
                </a:lnTo>
                <a:lnTo>
                  <a:pt x="228600" y="57150"/>
                </a:lnTo>
                <a:cubicBezTo>
                  <a:pt x="212794" y="57150"/>
                  <a:pt x="200025" y="44381"/>
                  <a:pt x="200025" y="28575"/>
                </a:cubicBezTo>
                <a:cubicBezTo>
                  <a:pt x="200025" y="12769"/>
                  <a:pt x="212794" y="0"/>
                  <a:pt x="228600" y="0"/>
                </a:cubicBezTo>
                <a:lnTo>
                  <a:pt x="271463" y="0"/>
                </a:lnTo>
                <a:cubicBezTo>
                  <a:pt x="295126" y="0"/>
                  <a:pt x="314325" y="19199"/>
                  <a:pt x="314325" y="42863"/>
                </a:cubicBezTo>
                <a:lnTo>
                  <a:pt x="314325" y="171450"/>
                </a:lnTo>
                <a:cubicBezTo>
                  <a:pt x="314325" y="240566"/>
                  <a:pt x="265212" y="298252"/>
                  <a:pt x="200025" y="311468"/>
                </a:cubicBezTo>
                <a:lnTo>
                  <a:pt x="200025" y="328613"/>
                </a:lnTo>
                <a:cubicBezTo>
                  <a:pt x="200025" y="383887"/>
                  <a:pt x="244763" y="428625"/>
                  <a:pt x="300038" y="428625"/>
                </a:cubicBezTo>
                <a:cubicBezTo>
                  <a:pt x="355312" y="428625"/>
                  <a:pt x="400050" y="383887"/>
                  <a:pt x="400050" y="328613"/>
                </a:cubicBezTo>
                <a:lnTo>
                  <a:pt x="400050" y="252264"/>
                </a:lnTo>
                <a:cubicBezTo>
                  <a:pt x="366742" y="240476"/>
                  <a:pt x="342900" y="208776"/>
                  <a:pt x="342900" y="171450"/>
                </a:cubicBezTo>
                <a:cubicBezTo>
                  <a:pt x="342900" y="124123"/>
                  <a:pt x="381298" y="85725"/>
                  <a:pt x="428625" y="85725"/>
                </a:cubicBezTo>
                <a:cubicBezTo>
                  <a:pt x="475952" y="85725"/>
                  <a:pt x="514350" y="124123"/>
                  <a:pt x="514350" y="171450"/>
                </a:cubicBezTo>
                <a:cubicBezTo>
                  <a:pt x="514350" y="208776"/>
                  <a:pt x="490508" y="240566"/>
                  <a:pt x="457200" y="252264"/>
                </a:cubicBezTo>
                <a:lnTo>
                  <a:pt x="457200" y="328613"/>
                </a:lnTo>
                <a:cubicBezTo>
                  <a:pt x="457200" y="415409"/>
                  <a:pt x="386834" y="485775"/>
                  <a:pt x="300038" y="485775"/>
                </a:cubicBezTo>
                <a:cubicBezTo>
                  <a:pt x="213241" y="485775"/>
                  <a:pt x="142875" y="415409"/>
                  <a:pt x="142875" y="328613"/>
                </a:cubicBezTo>
                <a:lnTo>
                  <a:pt x="142875" y="311468"/>
                </a:lnTo>
                <a:cubicBezTo>
                  <a:pt x="77688" y="298252"/>
                  <a:pt x="28575" y="240566"/>
                  <a:pt x="28575" y="171450"/>
                </a:cubicBezTo>
                <a:lnTo>
                  <a:pt x="28575" y="42863"/>
                </a:lnTo>
                <a:close/>
                <a:moveTo>
                  <a:pt x="428625" y="200025"/>
                </a:moveTo>
                <a:cubicBezTo>
                  <a:pt x="444396" y="200025"/>
                  <a:pt x="457200" y="187221"/>
                  <a:pt x="457200" y="171450"/>
                </a:cubicBezTo>
                <a:cubicBezTo>
                  <a:pt x="457200" y="155679"/>
                  <a:pt x="444396" y="142875"/>
                  <a:pt x="428625" y="142875"/>
                </a:cubicBezTo>
                <a:cubicBezTo>
                  <a:pt x="412854" y="142875"/>
                  <a:pt x="400050" y="155679"/>
                  <a:pt x="400050" y="171450"/>
                </a:cubicBezTo>
                <a:cubicBezTo>
                  <a:pt x="400050" y="187221"/>
                  <a:pt x="412854" y="200025"/>
                  <a:pt x="428625" y="200025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6578600" y="2844800"/>
            <a:ext cx="336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Specialized Treatment Programs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90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Targeted therapy &amp; care plans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414000" y="2667000"/>
            <a:ext cx="4826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59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725150" y="29210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78070" y="28575"/>
                </a:moveTo>
                <a:lnTo>
                  <a:pt x="285750" y="28575"/>
                </a:lnTo>
                <a:cubicBezTo>
                  <a:pt x="317272" y="28575"/>
                  <a:pt x="342900" y="54203"/>
                  <a:pt x="342900" y="85725"/>
                </a:cubicBezTo>
                <a:lnTo>
                  <a:pt x="342900" y="400050"/>
                </a:lnTo>
                <a:cubicBezTo>
                  <a:pt x="342900" y="431572"/>
                  <a:pt x="317272" y="457200"/>
                  <a:pt x="285750" y="457200"/>
                </a:cubicBezTo>
                <a:lnTo>
                  <a:pt x="57150" y="457200"/>
                </a:lnTo>
                <a:cubicBezTo>
                  <a:pt x="25628" y="457200"/>
                  <a:pt x="0" y="431572"/>
                  <a:pt x="0" y="400050"/>
                </a:cubicBezTo>
                <a:lnTo>
                  <a:pt x="0" y="85725"/>
                </a:lnTo>
                <a:cubicBezTo>
                  <a:pt x="0" y="54203"/>
                  <a:pt x="25628" y="28575"/>
                  <a:pt x="57150" y="28575"/>
                </a:cubicBezTo>
                <a:lnTo>
                  <a:pt x="64830" y="28575"/>
                </a:lnTo>
                <a:cubicBezTo>
                  <a:pt x="74652" y="11519"/>
                  <a:pt x="93137" y="0"/>
                  <a:pt x="114300" y="0"/>
                </a:cubicBezTo>
                <a:lnTo>
                  <a:pt x="228600" y="0"/>
                </a:lnTo>
                <a:cubicBezTo>
                  <a:pt x="249763" y="0"/>
                  <a:pt x="268248" y="11519"/>
                  <a:pt x="278070" y="28575"/>
                </a:cubicBezTo>
                <a:close/>
                <a:moveTo>
                  <a:pt x="221456" y="100013"/>
                </a:moveTo>
                <a:cubicBezTo>
                  <a:pt x="233333" y="100013"/>
                  <a:pt x="242888" y="90458"/>
                  <a:pt x="242888" y="78581"/>
                </a:cubicBezTo>
                <a:cubicBezTo>
                  <a:pt x="242888" y="66705"/>
                  <a:pt x="233333" y="57150"/>
                  <a:pt x="221456" y="57150"/>
                </a:cubicBezTo>
                <a:lnTo>
                  <a:pt x="121444" y="57150"/>
                </a:lnTo>
                <a:cubicBezTo>
                  <a:pt x="109567" y="57150"/>
                  <a:pt x="100013" y="66705"/>
                  <a:pt x="100013" y="78581"/>
                </a:cubicBezTo>
                <a:cubicBezTo>
                  <a:pt x="100013" y="90458"/>
                  <a:pt x="109567" y="100013"/>
                  <a:pt x="121444" y="100013"/>
                </a:cubicBezTo>
                <a:lnTo>
                  <a:pt x="221456" y="100013"/>
                </a:lnTo>
                <a:close/>
                <a:moveTo>
                  <a:pt x="114300" y="228600"/>
                </a:moveTo>
                <a:cubicBezTo>
                  <a:pt x="114300" y="212829"/>
                  <a:pt x="101496" y="200025"/>
                  <a:pt x="85725" y="200025"/>
                </a:cubicBezTo>
                <a:cubicBezTo>
                  <a:pt x="69954" y="200025"/>
                  <a:pt x="57150" y="212829"/>
                  <a:pt x="57150" y="228600"/>
                </a:cubicBezTo>
                <a:cubicBezTo>
                  <a:pt x="57150" y="244371"/>
                  <a:pt x="69954" y="257175"/>
                  <a:pt x="85725" y="257175"/>
                </a:cubicBezTo>
                <a:cubicBezTo>
                  <a:pt x="101496" y="257175"/>
                  <a:pt x="114300" y="244371"/>
                  <a:pt x="114300" y="228600"/>
                </a:cubicBezTo>
                <a:close/>
                <a:moveTo>
                  <a:pt x="142875" y="228600"/>
                </a:moveTo>
                <a:cubicBezTo>
                  <a:pt x="142875" y="240476"/>
                  <a:pt x="152430" y="250031"/>
                  <a:pt x="164306" y="250031"/>
                </a:cubicBezTo>
                <a:lnTo>
                  <a:pt x="264319" y="250031"/>
                </a:lnTo>
                <a:cubicBezTo>
                  <a:pt x="276195" y="250031"/>
                  <a:pt x="285750" y="240476"/>
                  <a:pt x="285750" y="228600"/>
                </a:cubicBezTo>
                <a:cubicBezTo>
                  <a:pt x="285750" y="216724"/>
                  <a:pt x="276195" y="207169"/>
                  <a:pt x="264319" y="207169"/>
                </a:cubicBezTo>
                <a:lnTo>
                  <a:pt x="164306" y="207169"/>
                </a:lnTo>
                <a:cubicBezTo>
                  <a:pt x="152430" y="207169"/>
                  <a:pt x="142875" y="216724"/>
                  <a:pt x="142875" y="228600"/>
                </a:cubicBezTo>
                <a:close/>
                <a:moveTo>
                  <a:pt x="142875" y="342900"/>
                </a:moveTo>
                <a:cubicBezTo>
                  <a:pt x="142875" y="354776"/>
                  <a:pt x="152430" y="364331"/>
                  <a:pt x="164306" y="364331"/>
                </a:cubicBezTo>
                <a:lnTo>
                  <a:pt x="264319" y="364331"/>
                </a:lnTo>
                <a:cubicBezTo>
                  <a:pt x="276195" y="364331"/>
                  <a:pt x="285750" y="354776"/>
                  <a:pt x="285750" y="342900"/>
                </a:cubicBezTo>
                <a:cubicBezTo>
                  <a:pt x="285750" y="331024"/>
                  <a:pt x="276195" y="321469"/>
                  <a:pt x="264319" y="321469"/>
                </a:cubicBezTo>
                <a:lnTo>
                  <a:pt x="164306" y="321469"/>
                </a:lnTo>
                <a:cubicBezTo>
                  <a:pt x="152430" y="321469"/>
                  <a:pt x="142875" y="331024"/>
                  <a:pt x="142875" y="342900"/>
                </a:cubicBezTo>
                <a:close/>
                <a:moveTo>
                  <a:pt x="85725" y="371475"/>
                </a:moveTo>
                <a:cubicBezTo>
                  <a:pt x="101496" y="371475"/>
                  <a:pt x="114300" y="358671"/>
                  <a:pt x="114300" y="342900"/>
                </a:cubicBezTo>
                <a:cubicBezTo>
                  <a:pt x="114300" y="327129"/>
                  <a:pt x="101496" y="314325"/>
                  <a:pt x="85725" y="314325"/>
                </a:cubicBezTo>
                <a:cubicBezTo>
                  <a:pt x="69954" y="314325"/>
                  <a:pt x="57150" y="327129"/>
                  <a:pt x="57150" y="342900"/>
                </a:cubicBezTo>
                <a:cubicBezTo>
                  <a:pt x="57150" y="358671"/>
                  <a:pt x="69954" y="371475"/>
                  <a:pt x="85725" y="371475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24" name="Text 22"/>
          <p:cNvSpPr/>
          <p:nvPr/>
        </p:nvSpPr>
        <p:spPr>
          <a:xfrm>
            <a:off x="11277600" y="2844800"/>
            <a:ext cx="3746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 Admissions &amp; Billing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90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Registration &amp; financial operations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16000" y="4127500"/>
            <a:ext cx="14224000" cy="1524000"/>
          </a:xfrm>
          <a:prstGeom prst="roundRect">
            <a:avLst>
              <a:gd name="adj" fmla="val 8000"/>
            </a:avLst>
          </a:prstGeom>
          <a:solidFill>
            <a:srgbClr val="E63946">
              <a:alpha val="7059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33500" y="4381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203200" y="107950"/>
                </a:moveTo>
                <a:cubicBezTo>
                  <a:pt x="213757" y="107950"/>
                  <a:pt x="222250" y="116443"/>
                  <a:pt x="222250" y="127000"/>
                </a:cubicBezTo>
                <a:lnTo>
                  <a:pt x="222250" y="215900"/>
                </a:lnTo>
                <a:cubicBezTo>
                  <a:pt x="222250" y="226457"/>
                  <a:pt x="213757" y="234950"/>
                  <a:pt x="203200" y="234950"/>
                </a:cubicBezTo>
                <a:cubicBezTo>
                  <a:pt x="192643" y="234950"/>
                  <a:pt x="184150" y="226457"/>
                  <a:pt x="184150" y="215900"/>
                </a:cubicBezTo>
                <a:lnTo>
                  <a:pt x="184150" y="127000"/>
                </a:lnTo>
                <a:cubicBezTo>
                  <a:pt x="184150" y="116443"/>
                  <a:pt x="192643" y="107950"/>
                  <a:pt x="203200" y="107950"/>
                </a:cubicBezTo>
                <a:close/>
                <a:moveTo>
                  <a:pt x="182007" y="279400"/>
                </a:moveTo>
                <a:cubicBezTo>
                  <a:pt x="181525" y="271533"/>
                  <a:pt x="185448" y="264049"/>
                  <a:pt x="192192" y="259970"/>
                </a:cubicBezTo>
                <a:cubicBezTo>
                  <a:pt x="198935" y="255891"/>
                  <a:pt x="207385" y="255891"/>
                  <a:pt x="214129" y="259970"/>
                </a:cubicBezTo>
                <a:cubicBezTo>
                  <a:pt x="220873" y="264049"/>
                  <a:pt x="224796" y="271533"/>
                  <a:pt x="224314" y="279400"/>
                </a:cubicBezTo>
                <a:cubicBezTo>
                  <a:pt x="224796" y="287267"/>
                  <a:pt x="220873" y="294751"/>
                  <a:pt x="214129" y="298830"/>
                </a:cubicBezTo>
                <a:cubicBezTo>
                  <a:pt x="207385" y="302909"/>
                  <a:pt x="198935" y="302909"/>
                  <a:pt x="192192" y="298830"/>
                </a:cubicBezTo>
                <a:cubicBezTo>
                  <a:pt x="185448" y="294751"/>
                  <a:pt x="181525" y="287267"/>
                  <a:pt x="182007" y="279400"/>
                </a:cubicBezTo>
                <a:close/>
              </a:path>
            </a:pathLst>
          </a:custGeom>
          <a:solidFill>
            <a:srgbClr val="E63946"/>
          </a:solidFill>
          <a:ln/>
        </p:spPr>
      </p:sp>
      <p:sp>
        <p:nvSpPr>
          <p:cNvPr id="27" name="Text 25"/>
          <p:cNvSpPr/>
          <p:nvPr/>
        </p:nvSpPr>
        <p:spPr>
          <a:xfrm>
            <a:off x="1879600" y="4318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E639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Before ERP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33500" y="4762500"/>
            <a:ext cx="13589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Departments operated independently — </a:t>
            </a:r>
            <a:r>
              <a:rPr lang="en-US" sz="1600" b="1" dirty="0">
                <a:solidFill>
                  <a:srgbClr val="E639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medication stockouts</a:t>
            </a:r>
            <a:r>
              <a:rPr lang="en-US" sz="16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r>
              <a:rPr lang="en-US" sz="1600" b="1" dirty="0">
                <a:solidFill>
                  <a:srgbClr val="E639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billing discrepancies</a:t>
            </a:r>
            <a:r>
              <a:rPr lang="en-US" sz="16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r>
              <a:rPr lang="en-US" sz="1600" b="1" dirty="0">
                <a:solidFill>
                  <a:srgbClr val="E639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delayed approvals</a:t>
            </a:r>
            <a:r>
              <a:rPr lang="en-US" sz="16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r>
              <a:rPr lang="en-US" sz="1600" b="1" dirty="0">
                <a:solidFill>
                  <a:srgbClr val="E639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inconsistent patient records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16000" y="5969000"/>
            <a:ext cx="14224000" cy="698500"/>
          </a:xfrm>
          <a:prstGeom prst="roundRect">
            <a:avLst>
              <a:gd name="adj" fmla="val 8000"/>
            </a:avLst>
          </a:prstGeom>
          <a:solidFill>
            <a:srgbClr val="0A1F44"/>
          </a:solidFill>
          <a:ln/>
        </p:spPr>
      </p:sp>
      <p:sp>
        <p:nvSpPr>
          <p:cNvPr id="30" name="Text 28"/>
          <p:cNvSpPr/>
          <p:nvPr/>
        </p:nvSpPr>
        <p:spPr>
          <a:xfrm>
            <a:off x="1333500" y="6032500"/>
            <a:ext cx="13589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led to the decision to implement </a:t>
            </a: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SAP ERP</a:t>
            </a: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as the backbone of the hospital's digital transformation strategy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0A1F44"/>
            </a:solidFill>
            <a:prstDash val="solid"/>
            <a:headEnd type="none"/>
            <a:tailEnd type="none"/>
          </a:ln>
        </p:spPr>
      </p:sp>
      <p:sp>
        <p:nvSpPr>
          <p:cNvPr id="32" name="Text 30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 / 19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00B4D8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101600"/>
            <a:ext cx="1143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Existing SAP ERP Implementation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30000" y="774700"/>
            <a:ext cx="4318000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dirty="0">
                <a:solidFill>
                  <a:srgbClr val="90E0EF">
                    <a:alpha val="25098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SRM University AP | Hospital ERP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16000" y="1016000"/>
            <a:ext cx="14224000" cy="482600"/>
          </a:xfrm>
          <a:prstGeom prst="roundRect">
            <a:avLst>
              <a:gd name="adj" fmla="val 8000"/>
            </a:avLst>
          </a:prstGeom>
          <a:solidFill>
            <a:srgbClr val="90E0EF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016000"/>
            <a:ext cx="1422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SAP EP</a:t>
            </a:r>
            <a:r>
              <a:rPr lang="en-US" sz="1500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(Enterprise Portal)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001000" y="1498600"/>
            <a:ext cx="0" cy="152400"/>
          </a:xfrm>
          <a:prstGeom prst="straightConnector1">
            <a:avLst/>
          </a:prstGeom>
          <a:noFill/>
          <a:ln w="25400">
            <a:solidFill>
              <a:srgbClr val="00B4D8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1016000" y="1651000"/>
            <a:ext cx="14224000" cy="482600"/>
          </a:xfrm>
          <a:prstGeom prst="roundRect">
            <a:avLst>
              <a:gd name="adj" fmla="val 8000"/>
            </a:avLst>
          </a:prstGeom>
          <a:solidFill>
            <a:srgbClr val="90E0EF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1651000"/>
            <a:ext cx="1422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SAP SRM</a:t>
            </a:r>
            <a:r>
              <a:rPr lang="en-US" sz="1500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(Supplier Relationship Management — e-Procurement)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001000" y="2133600"/>
            <a:ext cx="0" cy="152400"/>
          </a:xfrm>
          <a:prstGeom prst="straightConnector1">
            <a:avLst/>
          </a:prstGeom>
          <a:noFill/>
          <a:ln w="25400">
            <a:solidFill>
              <a:srgbClr val="00B4D8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1016000" y="2286000"/>
            <a:ext cx="14224000" cy="482600"/>
          </a:xfrm>
          <a:prstGeom prst="roundRect">
            <a:avLst>
              <a:gd name="adj" fmla="val 8000"/>
            </a:avLst>
          </a:prstGeom>
          <a:solidFill>
            <a:srgbClr val="90E0EF"/>
          </a:solidFill>
          <a:ln/>
        </p:spPr>
      </p:sp>
      <p:sp>
        <p:nvSpPr>
          <p:cNvPr id="13" name="Text 11"/>
          <p:cNvSpPr/>
          <p:nvPr/>
        </p:nvSpPr>
        <p:spPr>
          <a:xfrm>
            <a:off x="1016000" y="2286000"/>
            <a:ext cx="1422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SAP BI / BOBJ</a:t>
            </a:r>
            <a:r>
              <a:rPr lang="en-US" sz="1500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(MIS Dashboards &amp; Reports)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01000" y="2768600"/>
            <a:ext cx="0" cy="152400"/>
          </a:xfrm>
          <a:prstGeom prst="straightConnector1">
            <a:avLst/>
          </a:prstGeom>
          <a:noFill/>
          <a:ln w="25400">
            <a:solidFill>
              <a:srgbClr val="00B4D8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1016000" y="2921000"/>
            <a:ext cx="14224000" cy="825500"/>
          </a:xfrm>
          <a:prstGeom prst="roundRect">
            <a:avLst>
              <a:gd name="adj" fmla="val 6000"/>
            </a:avLst>
          </a:prstGeom>
          <a:solidFill>
            <a:srgbClr val="0A1F44"/>
          </a:solidFill>
          <a:ln/>
          <a:effectLst>
            <a:outerShdw blurRad="152400" dist="50800" dir="5400000" algn="bl" rotWithShape="0">
              <a:srgbClr val="0A1F44">
                <a:alpha val="25098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206500" y="29591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CORE LAYER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16000" y="3238500"/>
            <a:ext cx="1422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SAP ECC 6.0</a:t>
            </a: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FI | CO | MM | QM | WM | </a:t>
            </a:r>
            <a:r>
              <a:rPr lang="en-US" sz="1600" b="1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PP</a:t>
            </a: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| </a:t>
            </a:r>
            <a:r>
              <a:rPr lang="en-US" sz="1600" b="1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SD</a:t>
            </a: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| EHS | PS | PM | HR | DM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01000" y="3746500"/>
            <a:ext cx="0" cy="152400"/>
          </a:xfrm>
          <a:prstGeom prst="straightConnector1">
            <a:avLst/>
          </a:prstGeom>
          <a:noFill/>
          <a:ln w="25400">
            <a:solidFill>
              <a:srgbClr val="00B4D8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1016000" y="3898900"/>
            <a:ext cx="14224000" cy="635000"/>
          </a:xfrm>
          <a:prstGeom prst="roundRect">
            <a:avLst>
              <a:gd name="adj" fmla="val 8000"/>
            </a:avLst>
          </a:prstGeom>
          <a:solidFill>
            <a:srgbClr val="E8EEF4"/>
          </a:solidFill>
          <a:ln/>
        </p:spPr>
      </p:sp>
      <p:sp>
        <p:nvSpPr>
          <p:cNvPr id="20" name="Text 18"/>
          <p:cNvSpPr/>
          <p:nvPr/>
        </p:nvSpPr>
        <p:spPr>
          <a:xfrm>
            <a:off x="1016000" y="3898900"/>
            <a:ext cx="142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Master Data | Materials &amp; Services | Plant &amp; Equipment | Vendor/Customer Data | HR Data</a:t>
            </a:r>
            <a:endParaRPr lang="en-US" sz="1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4889500"/>
          <a:ext cx="14224000" cy="3175000"/>
        </p:xfrm>
        <a:graphic>
          <a:graphicData uri="http://schemas.openxmlformats.org/drawingml/2006/table">
            <a:tbl>
              <a:tblPr/>
              <a:tblGrid>
                <a:gridCol w="426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5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9167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Parameter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Details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1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26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SAP Version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26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SAP ECC 6.0 — Enterprise Central Component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1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26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Modules Implemented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0B4D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SD, MM, PP, FICO, HR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1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26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Scope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26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End-to-end hospital operations management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1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26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Integration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26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Full cross-module data flow and real-time synchronization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91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26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Data Architecture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26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Centralized master data — single source of truth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0A1F44"/>
            </a:solidFill>
            <a:prstDash val="solid"/>
            <a:headEnd type="none"/>
            <a:tailEnd type="none"/>
          </a:ln>
        </p:spPr>
      </p:sp>
      <p:sp>
        <p:nvSpPr>
          <p:cNvPr id="23" name="Text 20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 / 19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00B4D8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101600"/>
            <a:ext cx="1143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Challenges Before SAP ERP Implementation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30000" y="774700"/>
            <a:ext cx="4318000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dirty="0">
                <a:solidFill>
                  <a:srgbClr val="90E0EF">
                    <a:alpha val="25098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SRM University AP | Hospital ERP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16000" y="990600"/>
            <a:ext cx="4445000" cy="1460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59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14450" y="1143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44450" y="0"/>
                </a:moveTo>
                <a:cubicBezTo>
                  <a:pt x="19933" y="0"/>
                  <a:pt x="0" y="19933"/>
                  <a:pt x="0" y="44450"/>
                </a:cubicBezTo>
                <a:lnTo>
                  <a:pt x="0" y="311150"/>
                </a:lnTo>
                <a:cubicBezTo>
                  <a:pt x="0" y="335667"/>
                  <a:pt x="19933" y="355600"/>
                  <a:pt x="44450" y="355600"/>
                </a:cubicBezTo>
                <a:lnTo>
                  <a:pt x="222250" y="355600"/>
                </a:lnTo>
                <a:cubicBezTo>
                  <a:pt x="246767" y="355600"/>
                  <a:pt x="266700" y="335667"/>
                  <a:pt x="266700" y="311150"/>
                </a:cubicBezTo>
                <a:lnTo>
                  <a:pt x="266700" y="44450"/>
                </a:lnTo>
                <a:cubicBezTo>
                  <a:pt x="266700" y="19933"/>
                  <a:pt x="246767" y="0"/>
                  <a:pt x="222250" y="0"/>
                </a:cubicBezTo>
                <a:lnTo>
                  <a:pt x="44450" y="0"/>
                </a:lnTo>
                <a:close/>
                <a:moveTo>
                  <a:pt x="122238" y="244475"/>
                </a:moveTo>
                <a:lnTo>
                  <a:pt x="144463" y="244475"/>
                </a:lnTo>
                <a:cubicBezTo>
                  <a:pt x="156756" y="244475"/>
                  <a:pt x="166688" y="254407"/>
                  <a:pt x="166688" y="266700"/>
                </a:cubicBezTo>
                <a:lnTo>
                  <a:pt x="166688" y="322263"/>
                </a:lnTo>
                <a:lnTo>
                  <a:pt x="100013" y="322263"/>
                </a:lnTo>
                <a:lnTo>
                  <a:pt x="100013" y="266700"/>
                </a:lnTo>
                <a:cubicBezTo>
                  <a:pt x="100013" y="254407"/>
                  <a:pt x="109944" y="244475"/>
                  <a:pt x="122238" y="244475"/>
                </a:cubicBezTo>
                <a:close/>
                <a:moveTo>
                  <a:pt x="66675" y="77788"/>
                </a:moveTo>
                <a:cubicBezTo>
                  <a:pt x="66675" y="71676"/>
                  <a:pt x="71676" y="66675"/>
                  <a:pt x="77788" y="66675"/>
                </a:cubicBezTo>
                <a:lnTo>
                  <a:pt x="100013" y="66675"/>
                </a:lnTo>
                <a:cubicBezTo>
                  <a:pt x="106124" y="66675"/>
                  <a:pt x="111125" y="71676"/>
                  <a:pt x="111125" y="77788"/>
                </a:cubicBezTo>
                <a:lnTo>
                  <a:pt x="111125" y="100013"/>
                </a:lnTo>
                <a:cubicBezTo>
                  <a:pt x="111125" y="106124"/>
                  <a:pt x="106124" y="111125"/>
                  <a:pt x="100013" y="111125"/>
                </a:cubicBezTo>
                <a:lnTo>
                  <a:pt x="77788" y="111125"/>
                </a:lnTo>
                <a:cubicBezTo>
                  <a:pt x="71676" y="111125"/>
                  <a:pt x="66675" y="106124"/>
                  <a:pt x="66675" y="100013"/>
                </a:cubicBezTo>
                <a:lnTo>
                  <a:pt x="66675" y="77788"/>
                </a:lnTo>
                <a:close/>
                <a:moveTo>
                  <a:pt x="166688" y="66675"/>
                </a:moveTo>
                <a:lnTo>
                  <a:pt x="188913" y="66675"/>
                </a:lnTo>
                <a:cubicBezTo>
                  <a:pt x="195024" y="66675"/>
                  <a:pt x="200025" y="71676"/>
                  <a:pt x="200025" y="77788"/>
                </a:cubicBezTo>
                <a:lnTo>
                  <a:pt x="200025" y="100013"/>
                </a:lnTo>
                <a:cubicBezTo>
                  <a:pt x="200025" y="106124"/>
                  <a:pt x="195024" y="111125"/>
                  <a:pt x="188913" y="111125"/>
                </a:cubicBezTo>
                <a:lnTo>
                  <a:pt x="166688" y="111125"/>
                </a:lnTo>
                <a:cubicBezTo>
                  <a:pt x="160576" y="111125"/>
                  <a:pt x="155575" y="106124"/>
                  <a:pt x="155575" y="100013"/>
                </a:cubicBezTo>
                <a:lnTo>
                  <a:pt x="155575" y="77788"/>
                </a:lnTo>
                <a:cubicBezTo>
                  <a:pt x="155575" y="71676"/>
                  <a:pt x="160576" y="66675"/>
                  <a:pt x="166688" y="66675"/>
                </a:cubicBezTo>
                <a:close/>
                <a:moveTo>
                  <a:pt x="66675" y="166688"/>
                </a:moveTo>
                <a:cubicBezTo>
                  <a:pt x="66675" y="160576"/>
                  <a:pt x="71676" y="155575"/>
                  <a:pt x="77788" y="155575"/>
                </a:cubicBezTo>
                <a:lnTo>
                  <a:pt x="100013" y="155575"/>
                </a:lnTo>
                <a:cubicBezTo>
                  <a:pt x="106124" y="155575"/>
                  <a:pt x="111125" y="160576"/>
                  <a:pt x="111125" y="166688"/>
                </a:cubicBezTo>
                <a:lnTo>
                  <a:pt x="111125" y="188913"/>
                </a:lnTo>
                <a:cubicBezTo>
                  <a:pt x="111125" y="195024"/>
                  <a:pt x="106124" y="200025"/>
                  <a:pt x="100013" y="200025"/>
                </a:cubicBezTo>
                <a:lnTo>
                  <a:pt x="77788" y="200025"/>
                </a:lnTo>
                <a:cubicBezTo>
                  <a:pt x="71676" y="200025"/>
                  <a:pt x="66675" y="195024"/>
                  <a:pt x="66675" y="188913"/>
                </a:cubicBezTo>
                <a:lnTo>
                  <a:pt x="66675" y="166688"/>
                </a:lnTo>
                <a:close/>
                <a:moveTo>
                  <a:pt x="166688" y="155575"/>
                </a:moveTo>
                <a:lnTo>
                  <a:pt x="188913" y="155575"/>
                </a:lnTo>
                <a:cubicBezTo>
                  <a:pt x="195024" y="155575"/>
                  <a:pt x="200025" y="160576"/>
                  <a:pt x="200025" y="166688"/>
                </a:cubicBezTo>
                <a:lnTo>
                  <a:pt x="200025" y="188913"/>
                </a:lnTo>
                <a:cubicBezTo>
                  <a:pt x="200025" y="195024"/>
                  <a:pt x="195024" y="200025"/>
                  <a:pt x="188913" y="200025"/>
                </a:cubicBezTo>
                <a:lnTo>
                  <a:pt x="166688" y="200025"/>
                </a:lnTo>
                <a:cubicBezTo>
                  <a:pt x="160576" y="200025"/>
                  <a:pt x="155575" y="195024"/>
                  <a:pt x="155575" y="188913"/>
                </a:cubicBezTo>
                <a:lnTo>
                  <a:pt x="155575" y="166688"/>
                </a:lnTo>
                <a:cubicBezTo>
                  <a:pt x="155575" y="160576"/>
                  <a:pt x="160576" y="155575"/>
                  <a:pt x="166688" y="155575"/>
                </a:cubicBezTo>
                <a:close/>
              </a:path>
            </a:pathLst>
          </a:custGeom>
          <a:solidFill>
            <a:srgbClr val="E63946"/>
          </a:solidFill>
          <a:ln/>
        </p:spPr>
      </p:sp>
      <p:sp>
        <p:nvSpPr>
          <p:cNvPr id="8" name="Text 6"/>
          <p:cNvSpPr/>
          <p:nvPr/>
        </p:nvSpPr>
        <p:spPr>
          <a:xfrm>
            <a:off x="1714500" y="1143000"/>
            <a:ext cx="584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E639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70000" y="1549400"/>
            <a:ext cx="393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Independent departments — </a:t>
            </a:r>
            <a:r>
              <a:rPr lang="en-US" sz="14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shared data, no coordination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0" y="990600"/>
            <a:ext cx="4445000" cy="1460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59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69000" y="1143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ubicBezTo>
                  <a:pt x="0" y="79670"/>
                  <a:pt x="79670" y="0"/>
                  <a:pt x="177800" y="0"/>
                </a:cubicBezTo>
                <a:close/>
                <a:moveTo>
                  <a:pt x="161131" y="83344"/>
                </a:moveTo>
                <a:lnTo>
                  <a:pt x="161131" y="177800"/>
                </a:lnTo>
                <a:cubicBezTo>
                  <a:pt x="161131" y="183356"/>
                  <a:pt x="163909" y="188565"/>
                  <a:pt x="168563" y="191691"/>
                </a:cubicBezTo>
                <a:lnTo>
                  <a:pt x="235238" y="236141"/>
                </a:lnTo>
                <a:cubicBezTo>
                  <a:pt x="242878" y="241280"/>
                  <a:pt x="253226" y="239197"/>
                  <a:pt x="258366" y="231487"/>
                </a:cubicBezTo>
                <a:cubicBezTo>
                  <a:pt x="263505" y="223778"/>
                  <a:pt x="261422" y="213499"/>
                  <a:pt x="253712" y="208359"/>
                </a:cubicBezTo>
                <a:lnTo>
                  <a:pt x="194469" y="168910"/>
                </a:lnTo>
                <a:lnTo>
                  <a:pt x="194469" y="83344"/>
                </a:lnTo>
                <a:cubicBezTo>
                  <a:pt x="194469" y="74106"/>
                  <a:pt x="187037" y="66675"/>
                  <a:pt x="177800" y="66675"/>
                </a:cubicBezTo>
                <a:cubicBezTo>
                  <a:pt x="168563" y="66675"/>
                  <a:pt x="161131" y="74106"/>
                  <a:pt x="161131" y="83344"/>
                </a:cubicBezTo>
                <a:close/>
              </a:path>
            </a:pathLst>
          </a:custGeom>
          <a:solidFill>
            <a:srgbClr val="E63946"/>
          </a:solidFill>
          <a:ln/>
        </p:spPr>
      </p:sp>
      <p:sp>
        <p:nvSpPr>
          <p:cNvPr id="12" name="Text 10"/>
          <p:cNvSpPr/>
          <p:nvPr/>
        </p:nvSpPr>
        <p:spPr>
          <a:xfrm>
            <a:off x="6413500" y="1143000"/>
            <a:ext cx="584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E639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69000" y="1549400"/>
            <a:ext cx="393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Delayed patient care — </a:t>
            </a:r>
            <a:r>
              <a:rPr lang="en-US" sz="14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manual registration, paper-based records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414000" y="990600"/>
            <a:ext cx="4826000" cy="1460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59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623550" y="11430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389146" y="164743"/>
                </a:moveTo>
                <a:cubicBezTo>
                  <a:pt x="396369" y="172938"/>
                  <a:pt x="408801" y="174744"/>
                  <a:pt x="418177" y="168563"/>
                </a:cubicBezTo>
                <a:cubicBezTo>
                  <a:pt x="428387" y="161756"/>
                  <a:pt x="431165" y="147935"/>
                  <a:pt x="424359" y="137726"/>
                </a:cubicBezTo>
                <a:lnTo>
                  <a:pt x="391021" y="87719"/>
                </a:lnTo>
                <a:cubicBezTo>
                  <a:pt x="389076" y="84802"/>
                  <a:pt x="386437" y="82371"/>
                  <a:pt x="383312" y="80635"/>
                </a:cubicBezTo>
                <a:lnTo>
                  <a:pt x="244058" y="3264"/>
                </a:lnTo>
                <a:cubicBezTo>
                  <a:pt x="230654" y="-4167"/>
                  <a:pt x="214332" y="-4167"/>
                  <a:pt x="200858" y="3264"/>
                </a:cubicBezTo>
                <a:lnTo>
                  <a:pt x="61674" y="80566"/>
                </a:lnTo>
                <a:cubicBezTo>
                  <a:pt x="57924" y="82649"/>
                  <a:pt x="54937" y="85705"/>
                  <a:pt x="52923" y="89456"/>
                </a:cubicBezTo>
                <a:lnTo>
                  <a:pt x="19239" y="151894"/>
                </a:lnTo>
                <a:cubicBezTo>
                  <a:pt x="10487" y="168146"/>
                  <a:pt x="16599" y="188357"/>
                  <a:pt x="32851" y="197108"/>
                </a:cubicBezTo>
                <a:lnTo>
                  <a:pt x="55771" y="209401"/>
                </a:lnTo>
                <a:lnTo>
                  <a:pt x="55771" y="246420"/>
                </a:lnTo>
                <a:cubicBezTo>
                  <a:pt x="55771" y="262394"/>
                  <a:pt x="64383" y="277187"/>
                  <a:pt x="78274" y="285105"/>
                </a:cubicBezTo>
                <a:lnTo>
                  <a:pt x="200511" y="354350"/>
                </a:lnTo>
                <a:cubicBezTo>
                  <a:pt x="214124" y="362059"/>
                  <a:pt x="230723" y="362059"/>
                  <a:pt x="244336" y="354350"/>
                </a:cubicBezTo>
                <a:lnTo>
                  <a:pt x="366574" y="285105"/>
                </a:lnTo>
                <a:cubicBezTo>
                  <a:pt x="380534" y="277187"/>
                  <a:pt x="389076" y="262463"/>
                  <a:pt x="389076" y="246420"/>
                </a:cubicBezTo>
                <a:lnTo>
                  <a:pt x="389076" y="164812"/>
                </a:lnTo>
                <a:close/>
                <a:moveTo>
                  <a:pt x="222458" y="157936"/>
                </a:moveTo>
                <a:lnTo>
                  <a:pt x="118209" y="100013"/>
                </a:lnTo>
                <a:lnTo>
                  <a:pt x="222458" y="42089"/>
                </a:lnTo>
                <a:lnTo>
                  <a:pt x="326708" y="100013"/>
                </a:lnTo>
                <a:lnTo>
                  <a:pt x="222458" y="157936"/>
                </a:lnTo>
                <a:close/>
                <a:moveTo>
                  <a:pt x="193635" y="192802"/>
                </a:moveTo>
                <a:lnTo>
                  <a:pt x="178842" y="224889"/>
                </a:lnTo>
                <a:lnTo>
                  <a:pt x="63689" y="163215"/>
                </a:lnTo>
                <a:lnTo>
                  <a:pt x="81330" y="130433"/>
                </a:lnTo>
                <a:lnTo>
                  <a:pt x="193635" y="192802"/>
                </a:lnTo>
                <a:close/>
              </a:path>
            </a:pathLst>
          </a:custGeom>
          <a:solidFill>
            <a:srgbClr val="E63946"/>
          </a:solidFill>
          <a:ln/>
        </p:spPr>
      </p:sp>
      <p:sp>
        <p:nvSpPr>
          <p:cNvPr id="16" name="Text 14"/>
          <p:cNvSpPr/>
          <p:nvPr/>
        </p:nvSpPr>
        <p:spPr>
          <a:xfrm>
            <a:off x="11112500" y="1143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E639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668000" y="1549400"/>
            <a:ext cx="431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Frequent medicine stockouts — </a:t>
            </a:r>
            <a:r>
              <a:rPr lang="en-US" sz="14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real-time inventory visibility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16000" y="2603500"/>
            <a:ext cx="4445000" cy="1460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59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314450" y="27559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0" y="44450"/>
                </a:moveTo>
                <a:cubicBezTo>
                  <a:pt x="0" y="19933"/>
                  <a:pt x="19933" y="0"/>
                  <a:pt x="44450" y="0"/>
                </a:cubicBezTo>
                <a:lnTo>
                  <a:pt x="148282" y="0"/>
                </a:lnTo>
                <a:cubicBezTo>
                  <a:pt x="160089" y="0"/>
                  <a:pt x="171410" y="4653"/>
                  <a:pt x="179745" y="12988"/>
                </a:cubicBezTo>
                <a:lnTo>
                  <a:pt x="253712" y="87025"/>
                </a:lnTo>
                <a:cubicBezTo>
                  <a:pt x="262047" y="95359"/>
                  <a:pt x="266700" y="106680"/>
                  <a:pt x="266700" y="118487"/>
                </a:cubicBezTo>
                <a:lnTo>
                  <a:pt x="266700" y="311150"/>
                </a:lnTo>
                <a:cubicBezTo>
                  <a:pt x="266700" y="335667"/>
                  <a:pt x="246767" y="355600"/>
                  <a:pt x="222250" y="355600"/>
                </a:cubicBezTo>
                <a:lnTo>
                  <a:pt x="44450" y="355600"/>
                </a:lnTo>
                <a:cubicBezTo>
                  <a:pt x="19933" y="355600"/>
                  <a:pt x="0" y="335667"/>
                  <a:pt x="0" y="311150"/>
                </a:cubicBezTo>
                <a:lnTo>
                  <a:pt x="0" y="44450"/>
                </a:lnTo>
                <a:close/>
                <a:moveTo>
                  <a:pt x="144463" y="40630"/>
                </a:moveTo>
                <a:lnTo>
                  <a:pt x="144463" y="105569"/>
                </a:lnTo>
                <a:cubicBezTo>
                  <a:pt x="144463" y="114806"/>
                  <a:pt x="151894" y="122238"/>
                  <a:pt x="161131" y="122238"/>
                </a:cubicBezTo>
                <a:lnTo>
                  <a:pt x="226070" y="122238"/>
                </a:lnTo>
                <a:lnTo>
                  <a:pt x="144463" y="40630"/>
                </a:lnTo>
                <a:close/>
                <a:moveTo>
                  <a:pt x="44450" y="61119"/>
                </a:moveTo>
                <a:cubicBezTo>
                  <a:pt x="44450" y="70356"/>
                  <a:pt x="51881" y="77788"/>
                  <a:pt x="61119" y="77788"/>
                </a:cubicBezTo>
                <a:lnTo>
                  <a:pt x="94456" y="77788"/>
                </a:lnTo>
                <a:cubicBezTo>
                  <a:pt x="103694" y="77788"/>
                  <a:pt x="111125" y="70356"/>
                  <a:pt x="111125" y="61119"/>
                </a:cubicBezTo>
                <a:cubicBezTo>
                  <a:pt x="111125" y="51881"/>
                  <a:pt x="103694" y="44450"/>
                  <a:pt x="94456" y="44450"/>
                </a:cubicBezTo>
                <a:lnTo>
                  <a:pt x="61119" y="44450"/>
                </a:lnTo>
                <a:cubicBezTo>
                  <a:pt x="51881" y="44450"/>
                  <a:pt x="44450" y="51881"/>
                  <a:pt x="44450" y="61119"/>
                </a:cubicBezTo>
                <a:close/>
                <a:moveTo>
                  <a:pt x="44450" y="127794"/>
                </a:moveTo>
                <a:cubicBezTo>
                  <a:pt x="44450" y="137031"/>
                  <a:pt x="51881" y="144463"/>
                  <a:pt x="61119" y="144463"/>
                </a:cubicBezTo>
                <a:lnTo>
                  <a:pt x="94456" y="144463"/>
                </a:lnTo>
                <a:cubicBezTo>
                  <a:pt x="103694" y="144463"/>
                  <a:pt x="111125" y="137031"/>
                  <a:pt x="111125" y="127794"/>
                </a:cubicBezTo>
                <a:cubicBezTo>
                  <a:pt x="111125" y="118556"/>
                  <a:pt x="103694" y="111125"/>
                  <a:pt x="94456" y="111125"/>
                </a:cubicBezTo>
                <a:lnTo>
                  <a:pt x="61119" y="111125"/>
                </a:lnTo>
                <a:cubicBezTo>
                  <a:pt x="51881" y="111125"/>
                  <a:pt x="44450" y="118556"/>
                  <a:pt x="44450" y="127794"/>
                </a:cubicBezTo>
                <a:close/>
                <a:moveTo>
                  <a:pt x="122238" y="180578"/>
                </a:moveTo>
                <a:lnTo>
                  <a:pt x="122238" y="183356"/>
                </a:lnTo>
                <a:cubicBezTo>
                  <a:pt x="102235" y="183565"/>
                  <a:pt x="86122" y="199817"/>
                  <a:pt x="86122" y="219819"/>
                </a:cubicBezTo>
                <a:cubicBezTo>
                  <a:pt x="86122" y="237669"/>
                  <a:pt x="98971" y="252879"/>
                  <a:pt x="116612" y="255796"/>
                </a:cubicBezTo>
                <a:lnTo>
                  <a:pt x="145574" y="260658"/>
                </a:lnTo>
                <a:cubicBezTo>
                  <a:pt x="149741" y="261352"/>
                  <a:pt x="152797" y="264964"/>
                  <a:pt x="152797" y="269200"/>
                </a:cubicBezTo>
                <a:cubicBezTo>
                  <a:pt x="152797" y="273993"/>
                  <a:pt x="148908" y="277882"/>
                  <a:pt x="144115" y="277882"/>
                </a:cubicBezTo>
                <a:lnTo>
                  <a:pt x="105569" y="277813"/>
                </a:lnTo>
                <a:cubicBezTo>
                  <a:pt x="97929" y="277813"/>
                  <a:pt x="91678" y="284063"/>
                  <a:pt x="91678" y="291703"/>
                </a:cubicBezTo>
                <a:cubicBezTo>
                  <a:pt x="91678" y="299343"/>
                  <a:pt x="97929" y="305594"/>
                  <a:pt x="105569" y="305594"/>
                </a:cubicBezTo>
                <a:lnTo>
                  <a:pt x="122238" y="305594"/>
                </a:lnTo>
                <a:lnTo>
                  <a:pt x="122238" y="308372"/>
                </a:lnTo>
                <a:cubicBezTo>
                  <a:pt x="122238" y="316012"/>
                  <a:pt x="128488" y="322263"/>
                  <a:pt x="136128" y="322263"/>
                </a:cubicBezTo>
                <a:cubicBezTo>
                  <a:pt x="143768" y="322263"/>
                  <a:pt x="150019" y="316012"/>
                  <a:pt x="150019" y="308372"/>
                </a:cubicBezTo>
                <a:lnTo>
                  <a:pt x="150019" y="305108"/>
                </a:lnTo>
                <a:cubicBezTo>
                  <a:pt x="167382" y="302260"/>
                  <a:pt x="180578" y="287258"/>
                  <a:pt x="180578" y="269131"/>
                </a:cubicBezTo>
                <a:cubicBezTo>
                  <a:pt x="180578" y="251281"/>
                  <a:pt x="167729" y="236071"/>
                  <a:pt x="150088" y="233154"/>
                </a:cubicBezTo>
                <a:lnTo>
                  <a:pt x="121126" y="228292"/>
                </a:lnTo>
                <a:cubicBezTo>
                  <a:pt x="116959" y="227598"/>
                  <a:pt x="113903" y="223986"/>
                  <a:pt x="113903" y="219750"/>
                </a:cubicBezTo>
                <a:cubicBezTo>
                  <a:pt x="113903" y="214957"/>
                  <a:pt x="117792" y="211068"/>
                  <a:pt x="122585" y="211068"/>
                </a:cubicBezTo>
                <a:lnTo>
                  <a:pt x="155575" y="211068"/>
                </a:lnTo>
                <a:cubicBezTo>
                  <a:pt x="163215" y="211068"/>
                  <a:pt x="169466" y="204817"/>
                  <a:pt x="169466" y="197177"/>
                </a:cubicBezTo>
                <a:cubicBezTo>
                  <a:pt x="169466" y="189538"/>
                  <a:pt x="163215" y="183287"/>
                  <a:pt x="155575" y="183287"/>
                </a:cubicBezTo>
                <a:lnTo>
                  <a:pt x="150019" y="183287"/>
                </a:lnTo>
                <a:lnTo>
                  <a:pt x="150019" y="180509"/>
                </a:lnTo>
                <a:cubicBezTo>
                  <a:pt x="150019" y="172869"/>
                  <a:pt x="143768" y="166618"/>
                  <a:pt x="136128" y="166618"/>
                </a:cubicBezTo>
                <a:cubicBezTo>
                  <a:pt x="128488" y="166618"/>
                  <a:pt x="122238" y="172869"/>
                  <a:pt x="122238" y="180509"/>
                </a:cubicBezTo>
                <a:close/>
              </a:path>
            </a:pathLst>
          </a:custGeom>
          <a:solidFill>
            <a:srgbClr val="E63946"/>
          </a:solidFill>
          <a:ln/>
        </p:spPr>
      </p:sp>
      <p:sp>
        <p:nvSpPr>
          <p:cNvPr id="20" name="Text 18"/>
          <p:cNvSpPr/>
          <p:nvPr/>
        </p:nvSpPr>
        <p:spPr>
          <a:xfrm>
            <a:off x="1714500" y="27559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E639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70000" y="3162300"/>
            <a:ext cx="393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Billing errors and </a:t>
            </a:r>
            <a:r>
              <a:rPr lang="en-US" sz="14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revenue leakage</a:t>
            </a: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disconnected billing systems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15000" y="2603500"/>
            <a:ext cx="4445000" cy="1460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59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69000" y="27559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8900" y="66675"/>
                </a:moveTo>
                <a:lnTo>
                  <a:pt x="88900" y="55563"/>
                </a:lnTo>
                <a:cubicBezTo>
                  <a:pt x="88900" y="24864"/>
                  <a:pt x="148630" y="0"/>
                  <a:pt x="222250" y="0"/>
                </a:cubicBezTo>
                <a:cubicBezTo>
                  <a:pt x="295870" y="0"/>
                  <a:pt x="355600" y="24864"/>
                  <a:pt x="355600" y="55563"/>
                </a:cubicBezTo>
                <a:lnTo>
                  <a:pt x="355600" y="66675"/>
                </a:lnTo>
                <a:cubicBezTo>
                  <a:pt x="355600" y="87928"/>
                  <a:pt x="326916" y="106402"/>
                  <a:pt x="284758" y="115778"/>
                </a:cubicBezTo>
                <a:cubicBezTo>
                  <a:pt x="283091" y="113834"/>
                  <a:pt x="281355" y="111958"/>
                  <a:pt x="279618" y="110222"/>
                </a:cubicBezTo>
                <a:cubicBezTo>
                  <a:pt x="268853" y="99596"/>
                  <a:pt x="254962" y="91539"/>
                  <a:pt x="240447" y="85566"/>
                </a:cubicBezTo>
                <a:cubicBezTo>
                  <a:pt x="211346" y="73412"/>
                  <a:pt x="173424" y="66744"/>
                  <a:pt x="133350" y="66744"/>
                </a:cubicBezTo>
                <a:cubicBezTo>
                  <a:pt x="118140" y="66744"/>
                  <a:pt x="103277" y="67717"/>
                  <a:pt x="89039" y="69592"/>
                </a:cubicBezTo>
                <a:cubicBezTo>
                  <a:pt x="88900" y="68689"/>
                  <a:pt x="88900" y="67717"/>
                  <a:pt x="88900" y="66744"/>
                </a:cubicBezTo>
                <a:close/>
                <a:moveTo>
                  <a:pt x="300038" y="245170"/>
                </a:moveTo>
                <a:lnTo>
                  <a:pt x="300038" y="213082"/>
                </a:lnTo>
                <a:cubicBezTo>
                  <a:pt x="310525" y="210374"/>
                  <a:pt x="320387" y="207179"/>
                  <a:pt x="329347" y="203428"/>
                </a:cubicBezTo>
                <a:cubicBezTo>
                  <a:pt x="338515" y="199608"/>
                  <a:pt x="347474" y="194955"/>
                  <a:pt x="355600" y="189329"/>
                </a:cubicBezTo>
                <a:lnTo>
                  <a:pt x="355600" y="200025"/>
                </a:lnTo>
                <a:cubicBezTo>
                  <a:pt x="355600" y="218638"/>
                  <a:pt x="333722" y="235099"/>
                  <a:pt x="300038" y="245170"/>
                </a:cubicBezTo>
                <a:close/>
                <a:moveTo>
                  <a:pt x="300038" y="178495"/>
                </a:moveTo>
                <a:lnTo>
                  <a:pt x="300038" y="155575"/>
                </a:lnTo>
                <a:cubicBezTo>
                  <a:pt x="300038" y="152450"/>
                  <a:pt x="299760" y="149463"/>
                  <a:pt x="299343" y="146546"/>
                </a:cubicBezTo>
                <a:cubicBezTo>
                  <a:pt x="310108" y="143837"/>
                  <a:pt x="320179" y="140573"/>
                  <a:pt x="329347" y="136684"/>
                </a:cubicBezTo>
                <a:cubicBezTo>
                  <a:pt x="338515" y="132794"/>
                  <a:pt x="347474" y="128210"/>
                  <a:pt x="355600" y="122585"/>
                </a:cubicBezTo>
                <a:lnTo>
                  <a:pt x="355600" y="133281"/>
                </a:lnTo>
                <a:cubicBezTo>
                  <a:pt x="355600" y="151894"/>
                  <a:pt x="333722" y="168354"/>
                  <a:pt x="300038" y="178425"/>
                </a:cubicBezTo>
                <a:close/>
                <a:moveTo>
                  <a:pt x="0" y="166688"/>
                </a:moveTo>
                <a:lnTo>
                  <a:pt x="0" y="155575"/>
                </a:lnTo>
                <a:cubicBezTo>
                  <a:pt x="0" y="124877"/>
                  <a:pt x="59730" y="100013"/>
                  <a:pt x="133350" y="100013"/>
                </a:cubicBezTo>
                <a:cubicBezTo>
                  <a:pt x="206970" y="100013"/>
                  <a:pt x="266700" y="124877"/>
                  <a:pt x="266700" y="155575"/>
                </a:cubicBezTo>
                <a:lnTo>
                  <a:pt x="266700" y="166688"/>
                </a:lnTo>
                <a:cubicBezTo>
                  <a:pt x="266700" y="197386"/>
                  <a:pt x="206970" y="222250"/>
                  <a:pt x="133350" y="222250"/>
                </a:cubicBezTo>
                <a:cubicBezTo>
                  <a:pt x="59730" y="222250"/>
                  <a:pt x="0" y="197386"/>
                  <a:pt x="0" y="166688"/>
                </a:cubicBezTo>
                <a:close/>
                <a:moveTo>
                  <a:pt x="266700" y="233363"/>
                </a:moveTo>
                <a:cubicBezTo>
                  <a:pt x="266700" y="264061"/>
                  <a:pt x="206970" y="288925"/>
                  <a:pt x="133350" y="288925"/>
                </a:cubicBezTo>
                <a:cubicBezTo>
                  <a:pt x="59730" y="288925"/>
                  <a:pt x="0" y="264061"/>
                  <a:pt x="0" y="233363"/>
                </a:cubicBezTo>
                <a:lnTo>
                  <a:pt x="0" y="222667"/>
                </a:lnTo>
                <a:cubicBezTo>
                  <a:pt x="8057" y="228292"/>
                  <a:pt x="17016" y="232876"/>
                  <a:pt x="26253" y="236766"/>
                </a:cubicBezTo>
                <a:cubicBezTo>
                  <a:pt x="55354" y="248920"/>
                  <a:pt x="93276" y="255588"/>
                  <a:pt x="133350" y="255588"/>
                </a:cubicBezTo>
                <a:cubicBezTo>
                  <a:pt x="173424" y="255588"/>
                  <a:pt x="211346" y="248851"/>
                  <a:pt x="240447" y="236766"/>
                </a:cubicBezTo>
                <a:cubicBezTo>
                  <a:pt x="249615" y="232946"/>
                  <a:pt x="258574" y="228292"/>
                  <a:pt x="266700" y="222667"/>
                </a:cubicBezTo>
                <a:lnTo>
                  <a:pt x="266700" y="233363"/>
                </a:lnTo>
                <a:close/>
                <a:moveTo>
                  <a:pt x="266700" y="289342"/>
                </a:moveTo>
                <a:lnTo>
                  <a:pt x="266700" y="300038"/>
                </a:lnTo>
                <a:cubicBezTo>
                  <a:pt x="266700" y="330736"/>
                  <a:pt x="206970" y="355600"/>
                  <a:pt x="133350" y="355600"/>
                </a:cubicBezTo>
                <a:cubicBezTo>
                  <a:pt x="59730" y="355600"/>
                  <a:pt x="0" y="330736"/>
                  <a:pt x="0" y="300038"/>
                </a:cubicBezTo>
                <a:lnTo>
                  <a:pt x="0" y="289342"/>
                </a:lnTo>
                <a:cubicBezTo>
                  <a:pt x="8057" y="294967"/>
                  <a:pt x="17016" y="299551"/>
                  <a:pt x="26253" y="303441"/>
                </a:cubicBezTo>
                <a:cubicBezTo>
                  <a:pt x="55354" y="315595"/>
                  <a:pt x="93276" y="322263"/>
                  <a:pt x="133350" y="322263"/>
                </a:cubicBezTo>
                <a:cubicBezTo>
                  <a:pt x="173424" y="322263"/>
                  <a:pt x="211346" y="315526"/>
                  <a:pt x="240447" y="303441"/>
                </a:cubicBezTo>
                <a:cubicBezTo>
                  <a:pt x="249615" y="299621"/>
                  <a:pt x="258574" y="294967"/>
                  <a:pt x="266700" y="289342"/>
                </a:cubicBezTo>
                <a:close/>
              </a:path>
            </a:pathLst>
          </a:custGeom>
          <a:solidFill>
            <a:srgbClr val="E63946"/>
          </a:solidFill>
          <a:ln/>
        </p:spPr>
      </p:sp>
      <p:sp>
        <p:nvSpPr>
          <p:cNvPr id="24" name="Text 22"/>
          <p:cNvSpPr/>
          <p:nvPr/>
        </p:nvSpPr>
        <p:spPr>
          <a:xfrm>
            <a:off x="6413500" y="2755900"/>
            <a:ext cx="584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E639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969000" y="3162300"/>
            <a:ext cx="393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Financial mismanagement — </a:t>
            </a:r>
            <a:r>
              <a:rPr lang="en-US" sz="14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manual tracking</a:t>
            </a: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of payments &amp; budget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414000" y="2603500"/>
            <a:ext cx="4826000" cy="1460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59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645775" y="27559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8476" y="-17294"/>
                </a:moveTo>
                <a:cubicBezTo>
                  <a:pt x="21947" y="-23822"/>
                  <a:pt x="11390" y="-23822"/>
                  <a:pt x="4931" y="-17294"/>
                </a:cubicBezTo>
                <a:cubicBezTo>
                  <a:pt x="-1528" y="-10765"/>
                  <a:pt x="-1597" y="-208"/>
                  <a:pt x="4862" y="6320"/>
                </a:cubicBezTo>
                <a:lnTo>
                  <a:pt x="371574" y="373033"/>
                </a:lnTo>
                <a:cubicBezTo>
                  <a:pt x="378103" y="379561"/>
                  <a:pt x="388660" y="379561"/>
                  <a:pt x="395119" y="373033"/>
                </a:cubicBezTo>
                <a:cubicBezTo>
                  <a:pt x="401578" y="366504"/>
                  <a:pt x="401647" y="355947"/>
                  <a:pt x="395119" y="349488"/>
                </a:cubicBezTo>
                <a:lnTo>
                  <a:pt x="328166" y="282535"/>
                </a:lnTo>
                <a:cubicBezTo>
                  <a:pt x="330041" y="280868"/>
                  <a:pt x="331916" y="279202"/>
                  <a:pt x="333722" y="277535"/>
                </a:cubicBezTo>
                <a:cubicBezTo>
                  <a:pt x="366226" y="247323"/>
                  <a:pt x="387965" y="211276"/>
                  <a:pt x="398314" y="186482"/>
                </a:cubicBezTo>
                <a:cubicBezTo>
                  <a:pt x="400606" y="180995"/>
                  <a:pt x="400606" y="174883"/>
                  <a:pt x="398314" y="169396"/>
                </a:cubicBezTo>
                <a:cubicBezTo>
                  <a:pt x="387965" y="144601"/>
                  <a:pt x="366226" y="108486"/>
                  <a:pt x="333722" y="78343"/>
                </a:cubicBezTo>
                <a:cubicBezTo>
                  <a:pt x="301010" y="47992"/>
                  <a:pt x="256074" y="22364"/>
                  <a:pt x="199956" y="22364"/>
                </a:cubicBezTo>
                <a:cubicBezTo>
                  <a:pt x="160506" y="22364"/>
                  <a:pt x="126613" y="35004"/>
                  <a:pt x="98554" y="53062"/>
                </a:cubicBezTo>
                <a:lnTo>
                  <a:pt x="28476" y="-17294"/>
                </a:lnTo>
                <a:close/>
                <a:moveTo>
                  <a:pt x="142032" y="96331"/>
                </a:moveTo>
                <a:cubicBezTo>
                  <a:pt x="158353" y="84663"/>
                  <a:pt x="178425" y="77787"/>
                  <a:pt x="200025" y="77787"/>
                </a:cubicBezTo>
                <a:cubicBezTo>
                  <a:pt x="255240" y="77787"/>
                  <a:pt x="300038" y="122585"/>
                  <a:pt x="300038" y="177800"/>
                </a:cubicBezTo>
                <a:cubicBezTo>
                  <a:pt x="300038" y="199400"/>
                  <a:pt x="293162" y="219402"/>
                  <a:pt x="281494" y="235793"/>
                </a:cubicBezTo>
                <a:lnTo>
                  <a:pt x="257393" y="211693"/>
                </a:lnTo>
                <a:cubicBezTo>
                  <a:pt x="266214" y="196830"/>
                  <a:pt x="269200" y="178564"/>
                  <a:pt x="264408" y="160506"/>
                </a:cubicBezTo>
                <a:cubicBezTo>
                  <a:pt x="254893" y="124946"/>
                  <a:pt x="218291" y="103832"/>
                  <a:pt x="182731" y="113348"/>
                </a:cubicBezTo>
                <a:cubicBezTo>
                  <a:pt x="176758" y="114945"/>
                  <a:pt x="171133" y="117306"/>
                  <a:pt x="166062" y="120293"/>
                </a:cubicBezTo>
                <a:lnTo>
                  <a:pt x="141962" y="96193"/>
                </a:lnTo>
                <a:close/>
                <a:moveTo>
                  <a:pt x="225931" y="274409"/>
                </a:moveTo>
                <a:cubicBezTo>
                  <a:pt x="217666" y="276632"/>
                  <a:pt x="208984" y="277813"/>
                  <a:pt x="200025" y="277813"/>
                </a:cubicBezTo>
                <a:cubicBezTo>
                  <a:pt x="144810" y="277813"/>
                  <a:pt x="100013" y="233015"/>
                  <a:pt x="100013" y="177800"/>
                </a:cubicBezTo>
                <a:cubicBezTo>
                  <a:pt x="100013" y="168841"/>
                  <a:pt x="101193" y="160159"/>
                  <a:pt x="103416" y="151894"/>
                </a:cubicBezTo>
                <a:lnTo>
                  <a:pt x="48200" y="96679"/>
                </a:lnTo>
                <a:cubicBezTo>
                  <a:pt x="25559" y="122238"/>
                  <a:pt x="10001" y="149324"/>
                  <a:pt x="1736" y="169257"/>
                </a:cubicBezTo>
                <a:cubicBezTo>
                  <a:pt x="-556" y="174744"/>
                  <a:pt x="-556" y="180856"/>
                  <a:pt x="1736" y="186343"/>
                </a:cubicBezTo>
                <a:cubicBezTo>
                  <a:pt x="12085" y="211138"/>
                  <a:pt x="33824" y="247253"/>
                  <a:pt x="66328" y="277396"/>
                </a:cubicBezTo>
                <a:cubicBezTo>
                  <a:pt x="99040" y="307747"/>
                  <a:pt x="143976" y="333375"/>
                  <a:pt x="200094" y="333375"/>
                </a:cubicBezTo>
                <a:cubicBezTo>
                  <a:pt x="226000" y="333375"/>
                  <a:pt x="249545" y="327888"/>
                  <a:pt x="270589" y="319068"/>
                </a:cubicBezTo>
                <a:lnTo>
                  <a:pt x="226000" y="274479"/>
                </a:lnTo>
                <a:close/>
              </a:path>
            </a:pathLst>
          </a:custGeom>
          <a:solidFill>
            <a:srgbClr val="E63946"/>
          </a:solidFill>
          <a:ln/>
        </p:spPr>
      </p:sp>
      <p:sp>
        <p:nvSpPr>
          <p:cNvPr id="28" name="Text 26"/>
          <p:cNvSpPr/>
          <p:nvPr/>
        </p:nvSpPr>
        <p:spPr>
          <a:xfrm>
            <a:off x="11112500" y="27559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E639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668000" y="3162300"/>
            <a:ext cx="431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visibility on </a:t>
            </a:r>
            <a:r>
              <a:rPr lang="en-US" sz="14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medicine and equipment inventory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16000" y="4216400"/>
            <a:ext cx="4445000" cy="1460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59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247775" y="43688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38894" y="156686"/>
                </a:moveTo>
                <a:lnTo>
                  <a:pt x="22503" y="205720"/>
                </a:lnTo>
                <a:lnTo>
                  <a:pt x="22503" y="66675"/>
                </a:lnTo>
                <a:cubicBezTo>
                  <a:pt x="22503" y="42158"/>
                  <a:pt x="42436" y="22225"/>
                  <a:pt x="66953" y="22225"/>
                </a:cubicBezTo>
                <a:lnTo>
                  <a:pt x="163284" y="22225"/>
                </a:lnTo>
                <a:cubicBezTo>
                  <a:pt x="172869" y="22225"/>
                  <a:pt x="182245" y="25350"/>
                  <a:pt x="189954" y="31115"/>
                </a:cubicBezTo>
                <a:lnTo>
                  <a:pt x="216624" y="51117"/>
                </a:lnTo>
                <a:cubicBezTo>
                  <a:pt x="220444" y="54035"/>
                  <a:pt x="225167" y="55563"/>
                  <a:pt x="229959" y="55563"/>
                </a:cubicBezTo>
                <a:lnTo>
                  <a:pt x="311428" y="55563"/>
                </a:lnTo>
                <a:cubicBezTo>
                  <a:pt x="335945" y="55563"/>
                  <a:pt x="355878" y="75496"/>
                  <a:pt x="355878" y="100013"/>
                </a:cubicBezTo>
                <a:lnTo>
                  <a:pt x="355878" y="111125"/>
                </a:lnTo>
                <a:lnTo>
                  <a:pt x="102096" y="111125"/>
                </a:lnTo>
                <a:cubicBezTo>
                  <a:pt x="73412" y="111125"/>
                  <a:pt x="47923" y="129461"/>
                  <a:pt x="38824" y="156686"/>
                </a:cubicBezTo>
                <a:close/>
                <a:moveTo>
                  <a:pt x="331847" y="311150"/>
                </a:moveTo>
                <a:lnTo>
                  <a:pt x="68759" y="311150"/>
                </a:lnTo>
                <a:cubicBezTo>
                  <a:pt x="45978" y="311150"/>
                  <a:pt x="29934" y="288856"/>
                  <a:pt x="37157" y="267256"/>
                </a:cubicBezTo>
                <a:lnTo>
                  <a:pt x="70495" y="167243"/>
                </a:lnTo>
                <a:cubicBezTo>
                  <a:pt x="75009" y="153630"/>
                  <a:pt x="87789" y="144463"/>
                  <a:pt x="102096" y="144463"/>
                </a:cubicBezTo>
                <a:lnTo>
                  <a:pt x="365185" y="144463"/>
                </a:lnTo>
                <a:cubicBezTo>
                  <a:pt x="387965" y="144463"/>
                  <a:pt x="404009" y="166757"/>
                  <a:pt x="396786" y="188357"/>
                </a:cubicBezTo>
                <a:lnTo>
                  <a:pt x="363448" y="288369"/>
                </a:lnTo>
                <a:cubicBezTo>
                  <a:pt x="358934" y="301982"/>
                  <a:pt x="346154" y="311150"/>
                  <a:pt x="331847" y="311150"/>
                </a:cubicBezTo>
                <a:close/>
              </a:path>
            </a:pathLst>
          </a:custGeom>
          <a:solidFill>
            <a:srgbClr val="E63946"/>
          </a:solidFill>
          <a:ln/>
        </p:spPr>
      </p:sp>
      <p:sp>
        <p:nvSpPr>
          <p:cNvPr id="32" name="Text 30"/>
          <p:cNvSpPr/>
          <p:nvPr/>
        </p:nvSpPr>
        <p:spPr>
          <a:xfrm>
            <a:off x="1714500" y="4368800"/>
            <a:ext cx="584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E639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70000" y="4775200"/>
            <a:ext cx="393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Each department maintained its own </a:t>
            </a:r>
            <a:r>
              <a:rPr lang="en-US" sz="14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manual staff &amp; patient records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715000" y="4216400"/>
            <a:ext cx="4445000" cy="1460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59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13450" y="43688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0" y="44450"/>
                </a:moveTo>
                <a:cubicBezTo>
                  <a:pt x="0" y="19933"/>
                  <a:pt x="19933" y="0"/>
                  <a:pt x="44450" y="0"/>
                </a:cubicBezTo>
                <a:lnTo>
                  <a:pt x="148282" y="0"/>
                </a:lnTo>
                <a:cubicBezTo>
                  <a:pt x="160089" y="0"/>
                  <a:pt x="171410" y="4653"/>
                  <a:pt x="179745" y="12988"/>
                </a:cubicBezTo>
                <a:lnTo>
                  <a:pt x="253712" y="87025"/>
                </a:lnTo>
                <a:cubicBezTo>
                  <a:pt x="262047" y="95359"/>
                  <a:pt x="266700" y="106680"/>
                  <a:pt x="266700" y="118487"/>
                </a:cubicBezTo>
                <a:lnTo>
                  <a:pt x="266700" y="311150"/>
                </a:lnTo>
                <a:cubicBezTo>
                  <a:pt x="266700" y="335667"/>
                  <a:pt x="246767" y="355600"/>
                  <a:pt x="222250" y="355600"/>
                </a:cubicBezTo>
                <a:lnTo>
                  <a:pt x="44450" y="355600"/>
                </a:lnTo>
                <a:cubicBezTo>
                  <a:pt x="19933" y="355600"/>
                  <a:pt x="0" y="335667"/>
                  <a:pt x="0" y="311150"/>
                </a:cubicBezTo>
                <a:lnTo>
                  <a:pt x="0" y="44450"/>
                </a:lnTo>
                <a:close/>
                <a:moveTo>
                  <a:pt x="144463" y="40630"/>
                </a:moveTo>
                <a:lnTo>
                  <a:pt x="144463" y="105569"/>
                </a:lnTo>
                <a:cubicBezTo>
                  <a:pt x="144463" y="114806"/>
                  <a:pt x="151894" y="122238"/>
                  <a:pt x="161131" y="122238"/>
                </a:cubicBezTo>
                <a:lnTo>
                  <a:pt x="226070" y="122238"/>
                </a:lnTo>
                <a:lnTo>
                  <a:pt x="144463" y="40630"/>
                </a:lnTo>
                <a:close/>
                <a:moveTo>
                  <a:pt x="83344" y="177800"/>
                </a:moveTo>
                <a:cubicBezTo>
                  <a:pt x="74106" y="177800"/>
                  <a:pt x="66675" y="185231"/>
                  <a:pt x="66675" y="194469"/>
                </a:cubicBezTo>
                <a:cubicBezTo>
                  <a:pt x="66675" y="203706"/>
                  <a:pt x="74106" y="211138"/>
                  <a:pt x="83344" y="211138"/>
                </a:cubicBezTo>
                <a:lnTo>
                  <a:pt x="183356" y="211138"/>
                </a:lnTo>
                <a:cubicBezTo>
                  <a:pt x="192594" y="211138"/>
                  <a:pt x="200025" y="203706"/>
                  <a:pt x="200025" y="194469"/>
                </a:cubicBezTo>
                <a:cubicBezTo>
                  <a:pt x="200025" y="185231"/>
                  <a:pt x="192594" y="177800"/>
                  <a:pt x="183356" y="177800"/>
                </a:cubicBezTo>
                <a:lnTo>
                  <a:pt x="83344" y="177800"/>
                </a:lnTo>
                <a:close/>
                <a:moveTo>
                  <a:pt x="83344" y="244475"/>
                </a:moveTo>
                <a:cubicBezTo>
                  <a:pt x="74106" y="244475"/>
                  <a:pt x="66675" y="251906"/>
                  <a:pt x="66675" y="261144"/>
                </a:cubicBezTo>
                <a:cubicBezTo>
                  <a:pt x="66675" y="270381"/>
                  <a:pt x="74106" y="277813"/>
                  <a:pt x="83344" y="277813"/>
                </a:cubicBezTo>
                <a:lnTo>
                  <a:pt x="183356" y="277813"/>
                </a:lnTo>
                <a:cubicBezTo>
                  <a:pt x="192594" y="277813"/>
                  <a:pt x="200025" y="270381"/>
                  <a:pt x="200025" y="261144"/>
                </a:cubicBezTo>
                <a:cubicBezTo>
                  <a:pt x="200025" y="251906"/>
                  <a:pt x="192594" y="244475"/>
                  <a:pt x="183356" y="244475"/>
                </a:cubicBezTo>
                <a:lnTo>
                  <a:pt x="83344" y="244475"/>
                </a:lnTo>
                <a:close/>
              </a:path>
            </a:pathLst>
          </a:custGeom>
          <a:solidFill>
            <a:srgbClr val="E63946"/>
          </a:solidFill>
          <a:ln/>
        </p:spPr>
      </p:sp>
      <p:sp>
        <p:nvSpPr>
          <p:cNvPr id="36" name="Text 34"/>
          <p:cNvSpPr/>
          <p:nvPr/>
        </p:nvSpPr>
        <p:spPr>
          <a:xfrm>
            <a:off x="6413500" y="4368800"/>
            <a:ext cx="584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E639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08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969000" y="4775200"/>
            <a:ext cx="393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Paper-based procurement</a:t>
            </a: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vendor selection, POs, goods receipt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0414000" y="4216400"/>
            <a:ext cx="4826000" cy="1460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59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10690225" y="43688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88900" y="0"/>
                </a:moveTo>
                <a:cubicBezTo>
                  <a:pt x="101193" y="0"/>
                  <a:pt x="111125" y="9932"/>
                  <a:pt x="111125" y="22225"/>
                </a:cubicBezTo>
                <a:lnTo>
                  <a:pt x="111125" y="44450"/>
                </a:lnTo>
                <a:lnTo>
                  <a:pt x="200025" y="44450"/>
                </a:lnTo>
                <a:lnTo>
                  <a:pt x="200025" y="22225"/>
                </a:lnTo>
                <a:cubicBezTo>
                  <a:pt x="200025" y="9932"/>
                  <a:pt x="209957" y="0"/>
                  <a:pt x="222250" y="0"/>
                </a:cubicBezTo>
                <a:cubicBezTo>
                  <a:pt x="234543" y="0"/>
                  <a:pt x="244475" y="9932"/>
                  <a:pt x="244475" y="22225"/>
                </a:cubicBezTo>
                <a:lnTo>
                  <a:pt x="244475" y="44450"/>
                </a:lnTo>
                <a:lnTo>
                  <a:pt x="266700" y="44450"/>
                </a:lnTo>
                <a:cubicBezTo>
                  <a:pt x="291217" y="44450"/>
                  <a:pt x="311150" y="64383"/>
                  <a:pt x="311150" y="88900"/>
                </a:cubicBezTo>
                <a:lnTo>
                  <a:pt x="311150" y="288925"/>
                </a:lnTo>
                <a:cubicBezTo>
                  <a:pt x="311150" y="313442"/>
                  <a:pt x="291217" y="333375"/>
                  <a:pt x="266700" y="333375"/>
                </a:cubicBezTo>
                <a:lnTo>
                  <a:pt x="44450" y="333375"/>
                </a:lnTo>
                <a:cubicBezTo>
                  <a:pt x="19933" y="333375"/>
                  <a:pt x="0" y="313442"/>
                  <a:pt x="0" y="288925"/>
                </a:cubicBezTo>
                <a:lnTo>
                  <a:pt x="0" y="88900"/>
                </a:lnTo>
                <a:cubicBezTo>
                  <a:pt x="0" y="64383"/>
                  <a:pt x="19933" y="44450"/>
                  <a:pt x="44450" y="44450"/>
                </a:cubicBezTo>
                <a:lnTo>
                  <a:pt x="66675" y="44450"/>
                </a:lnTo>
                <a:lnTo>
                  <a:pt x="66675" y="22225"/>
                </a:lnTo>
                <a:cubicBezTo>
                  <a:pt x="66675" y="9932"/>
                  <a:pt x="76607" y="0"/>
                  <a:pt x="88900" y="0"/>
                </a:cubicBezTo>
                <a:close/>
                <a:moveTo>
                  <a:pt x="202734" y="152866"/>
                </a:moveTo>
                <a:cubicBezTo>
                  <a:pt x="196205" y="146338"/>
                  <a:pt x="185648" y="146338"/>
                  <a:pt x="179189" y="152866"/>
                </a:cubicBezTo>
                <a:lnTo>
                  <a:pt x="155644" y="176411"/>
                </a:lnTo>
                <a:lnTo>
                  <a:pt x="132100" y="152866"/>
                </a:lnTo>
                <a:cubicBezTo>
                  <a:pt x="125571" y="146338"/>
                  <a:pt x="115014" y="146338"/>
                  <a:pt x="108555" y="152866"/>
                </a:cubicBezTo>
                <a:cubicBezTo>
                  <a:pt x="102096" y="159395"/>
                  <a:pt x="102027" y="169952"/>
                  <a:pt x="108555" y="176411"/>
                </a:cubicBezTo>
                <a:lnTo>
                  <a:pt x="132100" y="199956"/>
                </a:lnTo>
                <a:lnTo>
                  <a:pt x="108555" y="223500"/>
                </a:lnTo>
                <a:cubicBezTo>
                  <a:pt x="102027" y="230029"/>
                  <a:pt x="102027" y="240586"/>
                  <a:pt x="108555" y="247045"/>
                </a:cubicBezTo>
                <a:cubicBezTo>
                  <a:pt x="115084" y="253504"/>
                  <a:pt x="125641" y="253573"/>
                  <a:pt x="132100" y="247045"/>
                </a:cubicBezTo>
                <a:lnTo>
                  <a:pt x="155644" y="223500"/>
                </a:lnTo>
                <a:lnTo>
                  <a:pt x="179189" y="247045"/>
                </a:lnTo>
                <a:cubicBezTo>
                  <a:pt x="185718" y="253573"/>
                  <a:pt x="196275" y="253573"/>
                  <a:pt x="202734" y="247045"/>
                </a:cubicBezTo>
                <a:cubicBezTo>
                  <a:pt x="209193" y="240516"/>
                  <a:pt x="209262" y="229959"/>
                  <a:pt x="202734" y="223500"/>
                </a:cubicBezTo>
                <a:lnTo>
                  <a:pt x="179189" y="199956"/>
                </a:lnTo>
                <a:lnTo>
                  <a:pt x="202734" y="176411"/>
                </a:lnTo>
                <a:cubicBezTo>
                  <a:pt x="209262" y="169882"/>
                  <a:pt x="209262" y="159325"/>
                  <a:pt x="202734" y="152866"/>
                </a:cubicBezTo>
                <a:close/>
              </a:path>
            </a:pathLst>
          </a:custGeom>
          <a:solidFill>
            <a:srgbClr val="E63946"/>
          </a:solidFill>
          <a:ln/>
        </p:spPr>
      </p:sp>
      <p:sp>
        <p:nvSpPr>
          <p:cNvPr id="40" name="Text 38"/>
          <p:cNvSpPr/>
          <p:nvPr/>
        </p:nvSpPr>
        <p:spPr>
          <a:xfrm>
            <a:off x="11112500" y="43688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E639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09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668000" y="4775200"/>
            <a:ext cx="431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real-time </a:t>
            </a:r>
            <a:r>
              <a:rPr lang="en-US" sz="14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 scheduling</a:t>
            </a: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or diagnostic workflow management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016000" y="6032500"/>
            <a:ext cx="14224000" cy="698500"/>
          </a:xfrm>
          <a:prstGeom prst="roundRect">
            <a:avLst>
              <a:gd name="adj" fmla="val 8000"/>
            </a:avLst>
          </a:prstGeom>
          <a:solidFill>
            <a:srgbClr val="E63946"/>
          </a:solidFill>
          <a:ln/>
        </p:spPr>
      </p:sp>
      <p:sp>
        <p:nvSpPr>
          <p:cNvPr id="43" name="Shape 41"/>
          <p:cNvSpPr/>
          <p:nvPr/>
        </p:nvSpPr>
        <p:spPr>
          <a:xfrm>
            <a:off x="1333500" y="6223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77800" y="94456"/>
                </a:moveTo>
                <a:cubicBezTo>
                  <a:pt x="187037" y="94456"/>
                  <a:pt x="194469" y="101888"/>
                  <a:pt x="194469" y="111125"/>
                </a:cubicBezTo>
                <a:lnTo>
                  <a:pt x="194469" y="188913"/>
                </a:lnTo>
                <a:cubicBezTo>
                  <a:pt x="194469" y="198150"/>
                  <a:pt x="187037" y="205581"/>
                  <a:pt x="177800" y="205581"/>
                </a:cubicBezTo>
                <a:cubicBezTo>
                  <a:pt x="168563" y="205581"/>
                  <a:pt x="161131" y="198150"/>
                  <a:pt x="161131" y="188913"/>
                </a:cubicBezTo>
                <a:lnTo>
                  <a:pt x="161131" y="111125"/>
                </a:lnTo>
                <a:cubicBezTo>
                  <a:pt x="161131" y="101888"/>
                  <a:pt x="168563" y="94456"/>
                  <a:pt x="177800" y="94456"/>
                </a:cubicBezTo>
                <a:close/>
                <a:moveTo>
                  <a:pt x="159256" y="244475"/>
                </a:moveTo>
                <a:cubicBezTo>
                  <a:pt x="158834" y="237592"/>
                  <a:pt x="162267" y="231043"/>
                  <a:pt x="168168" y="227474"/>
                </a:cubicBezTo>
                <a:cubicBezTo>
                  <a:pt x="174068" y="223904"/>
                  <a:pt x="181462" y="223904"/>
                  <a:pt x="187363" y="227474"/>
                </a:cubicBezTo>
                <a:cubicBezTo>
                  <a:pt x="193264" y="231043"/>
                  <a:pt x="196696" y="237592"/>
                  <a:pt x="196275" y="244475"/>
                </a:cubicBezTo>
                <a:cubicBezTo>
                  <a:pt x="196696" y="251358"/>
                  <a:pt x="193264" y="257907"/>
                  <a:pt x="187363" y="261476"/>
                </a:cubicBezTo>
                <a:cubicBezTo>
                  <a:pt x="181462" y="265046"/>
                  <a:pt x="174068" y="265046"/>
                  <a:pt x="168168" y="261476"/>
                </a:cubicBezTo>
                <a:cubicBezTo>
                  <a:pt x="162267" y="257907"/>
                  <a:pt x="158834" y="251358"/>
                  <a:pt x="159256" y="2444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1841500" y="6096000"/>
            <a:ext cx="13081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Result:</a:t>
            </a: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Operational bottlenecks that directly impacted patient care quality and institutional efficiency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0A1F44"/>
            </a:solidFill>
            <a:prstDash val="solid"/>
            <a:headEnd type="none"/>
            <a:tailEnd type="none"/>
          </a:ln>
        </p:spPr>
      </p:sp>
      <p:sp>
        <p:nvSpPr>
          <p:cNvPr id="46" name="Text 44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 / 19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00B4D8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101600"/>
            <a:ext cx="1346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SAP? — Strategic Reasons &amp; Proposed Implementation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30000" y="774700"/>
            <a:ext cx="4318000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dirty="0">
                <a:solidFill>
                  <a:srgbClr val="90E0EF">
                    <a:alpha val="25098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SRM University AP | Hospital ERP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9144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Reasons for Choosing SAP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16000" y="1320800"/>
            <a:ext cx="6858000" cy="63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6275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06500" y="1460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1625600" y="1397000"/>
            <a:ext cx="6070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Comprehensive system with seamless </a:t>
            </a:r>
            <a:r>
              <a:rPr lang="en-US" sz="14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cross-module integration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16000" y="2057400"/>
            <a:ext cx="6858000" cy="63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6275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206500" y="2197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1625600" y="2133600"/>
            <a:ext cx="6070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Robust framework for </a:t>
            </a:r>
            <a:r>
              <a:rPr lang="en-US" sz="14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healthcare-specific customization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16000" y="2794000"/>
            <a:ext cx="6858000" cy="63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6275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206500" y="29337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15" name="Text 13"/>
          <p:cNvSpPr/>
          <p:nvPr/>
        </p:nvSpPr>
        <p:spPr>
          <a:xfrm>
            <a:off x="1625600" y="2870200"/>
            <a:ext cx="6070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Service-based environment with </a:t>
            </a:r>
            <a:r>
              <a:rPr lang="en-US" sz="14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localization &amp; compliance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16000" y="3530600"/>
            <a:ext cx="6858000" cy="63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6275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206500" y="3670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18" name="Text 16"/>
          <p:cNvSpPr/>
          <p:nvPr/>
        </p:nvSpPr>
        <p:spPr>
          <a:xfrm>
            <a:off x="1625600" y="3606800"/>
            <a:ext cx="6070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Already proven in </a:t>
            </a:r>
            <a:r>
              <a:rPr lang="en-US" sz="14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large hospital chains worldwide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16000" y="4267200"/>
            <a:ext cx="6858000" cy="63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6275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206500" y="4406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21" name="Text 19"/>
          <p:cNvSpPr/>
          <p:nvPr/>
        </p:nvSpPr>
        <p:spPr>
          <a:xfrm>
            <a:off x="1625600" y="4343400"/>
            <a:ext cx="6070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SAP ASAP methodology</a:t>
            </a: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structured implementation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16000" y="5003800"/>
            <a:ext cx="6858000" cy="63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6275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206500" y="5143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24" name="Text 22"/>
          <p:cNvSpPr/>
          <p:nvPr/>
        </p:nvSpPr>
        <p:spPr>
          <a:xfrm>
            <a:off x="1625600" y="5080000"/>
            <a:ext cx="6070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Master Data Management</a:t>
            </a: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Training &amp; Change Management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82000" y="9144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SAP Fiori — The Next Step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382000" y="1320800"/>
            <a:ext cx="6858000" cy="444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8235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382000" y="1320800"/>
            <a:ext cx="6858000" cy="6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8" name="Text 26"/>
          <p:cNvSpPr/>
          <p:nvPr/>
        </p:nvSpPr>
        <p:spPr>
          <a:xfrm>
            <a:off x="8636000" y="1549400"/>
            <a:ext cx="304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7890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CURRENT STATE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636000" y="1879600"/>
            <a:ext cx="3048000" cy="698500"/>
          </a:xfrm>
          <a:prstGeom prst="roundRect">
            <a:avLst>
              <a:gd name="adj" fmla="val 8000"/>
            </a:avLst>
          </a:prstGeom>
          <a:solidFill>
            <a:srgbClr val="E8EEF4"/>
          </a:solidFill>
          <a:ln/>
        </p:spPr>
      </p:sp>
      <p:sp>
        <p:nvSpPr>
          <p:cNvPr id="30" name="Text 28"/>
          <p:cNvSpPr/>
          <p:nvPr/>
        </p:nvSpPr>
        <p:spPr>
          <a:xfrm>
            <a:off x="8763000" y="1930400"/>
            <a:ext cx="279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SAP ECC 6.0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Desktop only, traditional SAP GUI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1811000" y="2095500"/>
            <a:ext cx="508000" cy="0"/>
          </a:xfrm>
          <a:prstGeom prst="straightConnector1">
            <a:avLst/>
          </a:prstGeom>
          <a:noFill/>
          <a:ln w="25400">
            <a:solidFill>
              <a:srgbClr val="00B4D8"/>
            </a:solidFill>
            <a:prstDash val="solid"/>
            <a:headEnd type="none"/>
            <a:tailEnd type="arrow"/>
          </a:ln>
        </p:spPr>
      </p:sp>
      <p:sp>
        <p:nvSpPr>
          <p:cNvPr id="32" name="Text 30"/>
          <p:cNvSpPr/>
          <p:nvPr/>
        </p:nvSpPr>
        <p:spPr>
          <a:xfrm>
            <a:off x="12446000" y="1549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PROPOSED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2446000" y="1879600"/>
            <a:ext cx="2540000" cy="698500"/>
          </a:xfrm>
          <a:prstGeom prst="roundRect">
            <a:avLst>
              <a:gd name="adj" fmla="val 8000"/>
            </a:avLst>
          </a:prstGeom>
          <a:solidFill>
            <a:srgbClr val="00B4D8">
              <a:alpha val="8235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573000" y="1930400"/>
            <a:ext cx="228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SAP Fiori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Mobile-ready, role-based UI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636000" y="2768600"/>
            <a:ext cx="6350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8680450" y="29718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11112" y="44450"/>
                </a:moveTo>
                <a:cubicBezTo>
                  <a:pt x="11112" y="19933"/>
                  <a:pt x="31046" y="0"/>
                  <a:pt x="55563" y="0"/>
                </a:cubicBezTo>
                <a:lnTo>
                  <a:pt x="211138" y="0"/>
                </a:lnTo>
                <a:cubicBezTo>
                  <a:pt x="235654" y="0"/>
                  <a:pt x="255587" y="19933"/>
                  <a:pt x="255587" y="44450"/>
                </a:cubicBezTo>
                <a:lnTo>
                  <a:pt x="255587" y="311150"/>
                </a:lnTo>
                <a:cubicBezTo>
                  <a:pt x="255587" y="335667"/>
                  <a:pt x="235654" y="355600"/>
                  <a:pt x="211138" y="355600"/>
                </a:cubicBezTo>
                <a:lnTo>
                  <a:pt x="55563" y="355600"/>
                </a:lnTo>
                <a:cubicBezTo>
                  <a:pt x="31046" y="355600"/>
                  <a:pt x="11112" y="335667"/>
                  <a:pt x="11112" y="311150"/>
                </a:cubicBezTo>
                <a:lnTo>
                  <a:pt x="11112" y="44450"/>
                </a:lnTo>
                <a:close/>
                <a:moveTo>
                  <a:pt x="88900" y="305594"/>
                </a:moveTo>
                <a:cubicBezTo>
                  <a:pt x="88900" y="314831"/>
                  <a:pt x="96331" y="322263"/>
                  <a:pt x="105569" y="322263"/>
                </a:cubicBezTo>
                <a:lnTo>
                  <a:pt x="161131" y="322263"/>
                </a:lnTo>
                <a:cubicBezTo>
                  <a:pt x="170369" y="322263"/>
                  <a:pt x="177800" y="314831"/>
                  <a:pt x="177800" y="305594"/>
                </a:cubicBezTo>
                <a:cubicBezTo>
                  <a:pt x="177800" y="296356"/>
                  <a:pt x="170369" y="288925"/>
                  <a:pt x="161131" y="288925"/>
                </a:cubicBezTo>
                <a:lnTo>
                  <a:pt x="105569" y="288925"/>
                </a:lnTo>
                <a:cubicBezTo>
                  <a:pt x="96331" y="288925"/>
                  <a:pt x="88900" y="296356"/>
                  <a:pt x="88900" y="305594"/>
                </a:cubicBezTo>
                <a:close/>
                <a:moveTo>
                  <a:pt x="211138" y="44450"/>
                </a:moveTo>
                <a:lnTo>
                  <a:pt x="55563" y="44450"/>
                </a:lnTo>
                <a:lnTo>
                  <a:pt x="55563" y="255587"/>
                </a:lnTo>
                <a:lnTo>
                  <a:pt x="211138" y="255587"/>
                </a:lnTo>
                <a:lnTo>
                  <a:pt x="211138" y="44450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37" name="Text 35"/>
          <p:cNvSpPr/>
          <p:nvPr/>
        </p:nvSpPr>
        <p:spPr>
          <a:xfrm>
            <a:off x="9118600" y="2921000"/>
            <a:ext cx="584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Bedside Mobility</a:t>
            </a: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for nursing &amp; clinical staff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90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Real-time patient data at point of care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636000" y="3683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39" name="Text 37"/>
          <p:cNvSpPr/>
          <p:nvPr/>
        </p:nvSpPr>
        <p:spPr>
          <a:xfrm>
            <a:off x="9118600" y="3632200"/>
            <a:ext cx="584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Real-time approval</a:t>
            </a: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for procurement on mobile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90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Faster purchase order processing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636000" y="43942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244475"/>
                </a:lnTo>
                <a:cubicBezTo>
                  <a:pt x="0" y="268992"/>
                  <a:pt x="19933" y="288925"/>
                  <a:pt x="44450" y="288925"/>
                </a:cubicBezTo>
                <a:lnTo>
                  <a:pt x="144463" y="288925"/>
                </a:lnTo>
                <a:lnTo>
                  <a:pt x="133350" y="322263"/>
                </a:lnTo>
                <a:lnTo>
                  <a:pt x="83344" y="322263"/>
                </a:lnTo>
                <a:cubicBezTo>
                  <a:pt x="74106" y="322263"/>
                  <a:pt x="66675" y="329694"/>
                  <a:pt x="66675" y="338931"/>
                </a:cubicBezTo>
                <a:cubicBezTo>
                  <a:pt x="66675" y="348169"/>
                  <a:pt x="74106" y="355600"/>
                  <a:pt x="83344" y="355600"/>
                </a:cubicBezTo>
                <a:lnTo>
                  <a:pt x="272256" y="355600"/>
                </a:lnTo>
                <a:cubicBezTo>
                  <a:pt x="281494" y="355600"/>
                  <a:pt x="288925" y="348169"/>
                  <a:pt x="288925" y="338931"/>
                </a:cubicBezTo>
                <a:cubicBezTo>
                  <a:pt x="288925" y="329694"/>
                  <a:pt x="281494" y="322263"/>
                  <a:pt x="272256" y="322263"/>
                </a:cubicBezTo>
                <a:lnTo>
                  <a:pt x="222250" y="322263"/>
                </a:lnTo>
                <a:lnTo>
                  <a:pt x="211138" y="288925"/>
                </a:lnTo>
                <a:lnTo>
                  <a:pt x="311150" y="288925"/>
                </a:lnTo>
                <a:cubicBezTo>
                  <a:pt x="335667" y="288925"/>
                  <a:pt x="355600" y="268992"/>
                  <a:pt x="355600" y="244475"/>
                </a:cubicBezTo>
                <a:lnTo>
                  <a:pt x="355600" y="66675"/>
                </a:lnTo>
                <a:cubicBezTo>
                  <a:pt x="355600" y="42158"/>
                  <a:pt x="335667" y="22225"/>
                  <a:pt x="311150" y="22225"/>
                </a:cubicBezTo>
                <a:lnTo>
                  <a:pt x="44450" y="22225"/>
                </a:lnTo>
                <a:close/>
                <a:moveTo>
                  <a:pt x="66675" y="66675"/>
                </a:moveTo>
                <a:lnTo>
                  <a:pt x="288925" y="66675"/>
                </a:lnTo>
                <a:cubicBezTo>
                  <a:pt x="301218" y="66675"/>
                  <a:pt x="311150" y="76607"/>
                  <a:pt x="311150" y="88900"/>
                </a:cubicBezTo>
                <a:lnTo>
                  <a:pt x="311150" y="200025"/>
                </a:lnTo>
                <a:cubicBezTo>
                  <a:pt x="311150" y="212318"/>
                  <a:pt x="301218" y="222250"/>
                  <a:pt x="288925" y="222250"/>
                </a:cubicBezTo>
                <a:lnTo>
                  <a:pt x="66675" y="222250"/>
                </a:lnTo>
                <a:cubicBezTo>
                  <a:pt x="54382" y="222250"/>
                  <a:pt x="44450" y="212318"/>
                  <a:pt x="44450" y="200025"/>
                </a:cubicBezTo>
                <a:lnTo>
                  <a:pt x="44450" y="88900"/>
                </a:lnTo>
                <a:cubicBezTo>
                  <a:pt x="44450" y="76607"/>
                  <a:pt x="54382" y="66675"/>
                  <a:pt x="66675" y="66675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41" name="Text 39"/>
          <p:cNvSpPr/>
          <p:nvPr/>
        </p:nvSpPr>
        <p:spPr>
          <a:xfrm>
            <a:off x="9118600" y="4343400"/>
            <a:ext cx="584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Simplified UI</a:t>
            </a: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reduce training cost &amp; errors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90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Intuitive, user-friendly interface design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636000" y="5105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44450"/>
                </a:moveTo>
                <a:cubicBezTo>
                  <a:pt x="44450" y="32157"/>
                  <a:pt x="34518" y="22225"/>
                  <a:pt x="22225" y="22225"/>
                </a:cubicBezTo>
                <a:cubicBezTo>
                  <a:pt x="9932" y="22225"/>
                  <a:pt x="0" y="32157"/>
                  <a:pt x="0" y="44450"/>
                </a:cubicBezTo>
                <a:lnTo>
                  <a:pt x="0" y="277813"/>
                </a:lnTo>
                <a:cubicBezTo>
                  <a:pt x="0" y="308511"/>
                  <a:pt x="24864" y="333375"/>
                  <a:pt x="55563" y="333375"/>
                </a:cubicBezTo>
                <a:lnTo>
                  <a:pt x="333375" y="333375"/>
                </a:lnTo>
                <a:cubicBezTo>
                  <a:pt x="345668" y="333375"/>
                  <a:pt x="355600" y="323443"/>
                  <a:pt x="355600" y="311150"/>
                </a:cubicBezTo>
                <a:cubicBezTo>
                  <a:pt x="355600" y="298857"/>
                  <a:pt x="345668" y="288925"/>
                  <a:pt x="333375" y="288925"/>
                </a:cubicBezTo>
                <a:lnTo>
                  <a:pt x="55563" y="288925"/>
                </a:lnTo>
                <a:cubicBezTo>
                  <a:pt x="49451" y="288925"/>
                  <a:pt x="44450" y="283924"/>
                  <a:pt x="44450" y="277813"/>
                </a:cubicBezTo>
                <a:lnTo>
                  <a:pt x="44450" y="44450"/>
                </a:lnTo>
                <a:close/>
                <a:moveTo>
                  <a:pt x="326846" y="104596"/>
                </a:moveTo>
                <a:cubicBezTo>
                  <a:pt x="335528" y="95915"/>
                  <a:pt x="335528" y="81816"/>
                  <a:pt x="326846" y="73134"/>
                </a:cubicBezTo>
                <a:cubicBezTo>
                  <a:pt x="318165" y="64453"/>
                  <a:pt x="304066" y="64453"/>
                  <a:pt x="295384" y="73134"/>
                </a:cubicBezTo>
                <a:lnTo>
                  <a:pt x="222250" y="146338"/>
                </a:lnTo>
                <a:lnTo>
                  <a:pt x="182384" y="106541"/>
                </a:lnTo>
                <a:cubicBezTo>
                  <a:pt x="173702" y="97859"/>
                  <a:pt x="159603" y="97859"/>
                  <a:pt x="150922" y="106541"/>
                </a:cubicBezTo>
                <a:lnTo>
                  <a:pt x="84247" y="173216"/>
                </a:lnTo>
                <a:cubicBezTo>
                  <a:pt x="75565" y="181898"/>
                  <a:pt x="75565" y="195997"/>
                  <a:pt x="84247" y="204678"/>
                </a:cubicBezTo>
                <a:cubicBezTo>
                  <a:pt x="92928" y="213360"/>
                  <a:pt x="107027" y="213360"/>
                  <a:pt x="115709" y="204678"/>
                </a:cubicBezTo>
                <a:lnTo>
                  <a:pt x="166688" y="153700"/>
                </a:lnTo>
                <a:lnTo>
                  <a:pt x="206554" y="193566"/>
                </a:lnTo>
                <a:cubicBezTo>
                  <a:pt x="215235" y="202248"/>
                  <a:pt x="229334" y="202248"/>
                  <a:pt x="238016" y="193566"/>
                </a:cubicBezTo>
                <a:lnTo>
                  <a:pt x="326916" y="104666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43" name="Text 41"/>
          <p:cNvSpPr/>
          <p:nvPr/>
        </p:nvSpPr>
        <p:spPr>
          <a:xfrm>
            <a:off x="9118600" y="5054600"/>
            <a:ext cx="584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Executive dashboards</a:t>
            </a: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on tablets &amp; smartphones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90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Real-time analytics and KPI monitoring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0A1F44"/>
            </a:solidFill>
            <a:prstDash val="solid"/>
            <a:headEnd type="none"/>
            <a:tailEnd type="none"/>
          </a:ln>
        </p:spPr>
      </p:sp>
      <p:sp>
        <p:nvSpPr>
          <p:cNvPr id="45" name="Text 43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 / 19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00B4D8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101600"/>
            <a:ext cx="1143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ERP Blueprint: Three Foundational Pillars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30000" y="774700"/>
            <a:ext cx="4318000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dirty="0">
                <a:solidFill>
                  <a:srgbClr val="90E0EF">
                    <a:alpha val="25098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SRM University AP | Hospital ERP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16000" y="1079500"/>
            <a:ext cx="4445000" cy="55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00000">
                <a:alpha val="9412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16000" y="1079500"/>
            <a:ext cx="4445000" cy="76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2794000" y="1397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337220" y="25053"/>
                </a:moveTo>
                <a:cubicBezTo>
                  <a:pt x="325065" y="18107"/>
                  <a:pt x="310059" y="18107"/>
                  <a:pt x="297780" y="25053"/>
                </a:cubicBezTo>
                <a:lnTo>
                  <a:pt x="19968" y="183803"/>
                </a:lnTo>
                <a:cubicBezTo>
                  <a:pt x="4341" y="192732"/>
                  <a:pt x="-3349" y="211088"/>
                  <a:pt x="1240" y="228451"/>
                </a:cubicBezTo>
                <a:cubicBezTo>
                  <a:pt x="5829" y="245814"/>
                  <a:pt x="21704" y="257969"/>
                  <a:pt x="39688" y="257969"/>
                </a:cubicBezTo>
                <a:lnTo>
                  <a:pt x="79375" y="257969"/>
                </a:lnTo>
                <a:lnTo>
                  <a:pt x="79375" y="515937"/>
                </a:lnTo>
                <a:lnTo>
                  <a:pt x="79375" y="515937"/>
                </a:lnTo>
                <a:lnTo>
                  <a:pt x="15875" y="563563"/>
                </a:lnTo>
                <a:cubicBezTo>
                  <a:pt x="5829" y="571004"/>
                  <a:pt x="0" y="582786"/>
                  <a:pt x="0" y="595313"/>
                </a:cubicBezTo>
                <a:cubicBezTo>
                  <a:pt x="0" y="617265"/>
                  <a:pt x="17735" y="635000"/>
                  <a:pt x="39688" y="635000"/>
                </a:cubicBezTo>
                <a:lnTo>
                  <a:pt x="595313" y="635000"/>
                </a:lnTo>
                <a:cubicBezTo>
                  <a:pt x="617265" y="635000"/>
                  <a:pt x="635000" y="617265"/>
                  <a:pt x="635000" y="595313"/>
                </a:cubicBezTo>
                <a:cubicBezTo>
                  <a:pt x="635000" y="582786"/>
                  <a:pt x="629171" y="571004"/>
                  <a:pt x="619125" y="563563"/>
                </a:cubicBezTo>
                <a:lnTo>
                  <a:pt x="555625" y="515937"/>
                </a:lnTo>
                <a:lnTo>
                  <a:pt x="555625" y="257969"/>
                </a:lnTo>
                <a:lnTo>
                  <a:pt x="595313" y="257969"/>
                </a:lnTo>
                <a:cubicBezTo>
                  <a:pt x="613296" y="257969"/>
                  <a:pt x="629047" y="245814"/>
                  <a:pt x="633636" y="228451"/>
                </a:cubicBezTo>
                <a:cubicBezTo>
                  <a:pt x="638225" y="211088"/>
                  <a:pt x="630535" y="192732"/>
                  <a:pt x="614908" y="183803"/>
                </a:cubicBezTo>
                <a:lnTo>
                  <a:pt x="337096" y="25053"/>
                </a:lnTo>
                <a:close/>
                <a:moveTo>
                  <a:pt x="496094" y="257969"/>
                </a:moveTo>
                <a:lnTo>
                  <a:pt x="496094" y="515937"/>
                </a:lnTo>
                <a:lnTo>
                  <a:pt x="416719" y="515937"/>
                </a:lnTo>
                <a:lnTo>
                  <a:pt x="416719" y="257969"/>
                </a:lnTo>
                <a:lnTo>
                  <a:pt x="496094" y="257969"/>
                </a:lnTo>
                <a:close/>
                <a:moveTo>
                  <a:pt x="357188" y="257969"/>
                </a:moveTo>
                <a:lnTo>
                  <a:pt x="357188" y="515937"/>
                </a:lnTo>
                <a:lnTo>
                  <a:pt x="277813" y="515937"/>
                </a:lnTo>
                <a:lnTo>
                  <a:pt x="277813" y="257969"/>
                </a:lnTo>
                <a:lnTo>
                  <a:pt x="357188" y="257969"/>
                </a:lnTo>
                <a:close/>
                <a:moveTo>
                  <a:pt x="218281" y="257969"/>
                </a:moveTo>
                <a:lnTo>
                  <a:pt x="218281" y="515937"/>
                </a:lnTo>
                <a:lnTo>
                  <a:pt x="138906" y="515937"/>
                </a:lnTo>
                <a:lnTo>
                  <a:pt x="138906" y="257969"/>
                </a:lnTo>
                <a:lnTo>
                  <a:pt x="218281" y="257969"/>
                </a:lnTo>
                <a:close/>
                <a:moveTo>
                  <a:pt x="317500" y="119062"/>
                </a:moveTo>
                <a:cubicBezTo>
                  <a:pt x="339404" y="119062"/>
                  <a:pt x="357188" y="136846"/>
                  <a:pt x="357188" y="158750"/>
                </a:cubicBezTo>
                <a:cubicBezTo>
                  <a:pt x="357188" y="180654"/>
                  <a:pt x="339404" y="198438"/>
                  <a:pt x="317500" y="198438"/>
                </a:cubicBezTo>
                <a:cubicBezTo>
                  <a:pt x="295596" y="198438"/>
                  <a:pt x="277813" y="180654"/>
                  <a:pt x="277813" y="158750"/>
                </a:cubicBezTo>
                <a:cubicBezTo>
                  <a:pt x="277813" y="136846"/>
                  <a:pt x="295596" y="119062"/>
                  <a:pt x="317500" y="119062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1270000" y="2159000"/>
            <a:ext cx="393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Organizational Structure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70000" y="2565400"/>
            <a:ext cx="393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7890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Defines hierarchy and legal entities across the hospital network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524000" y="3276600"/>
            <a:ext cx="3429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1270000" y="3429000"/>
            <a:ext cx="3937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300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</a:t>
            </a:r>
            <a:r>
              <a:rPr lang="en-US" sz="13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3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Client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3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300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</a:t>
            </a:r>
            <a:r>
              <a:rPr lang="en-US" sz="13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3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Company Code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3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300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</a:t>
            </a:r>
            <a:r>
              <a:rPr lang="en-US" sz="13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3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Plant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3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300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</a:t>
            </a:r>
            <a:r>
              <a:rPr lang="en-US" sz="13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3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Storage Location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3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300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</a:t>
            </a:r>
            <a:r>
              <a:rPr lang="en-US" sz="13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3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Sales Org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05500" y="1079500"/>
            <a:ext cx="4445000" cy="55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00000">
                <a:alpha val="9412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05500" y="1079500"/>
            <a:ext cx="4445000" cy="762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5" name="Shape 13"/>
          <p:cNvSpPr/>
          <p:nvPr/>
        </p:nvSpPr>
        <p:spPr>
          <a:xfrm>
            <a:off x="7723188" y="1397000"/>
            <a:ext cx="555625" cy="635000"/>
          </a:xfrm>
          <a:custGeom>
            <a:avLst/>
            <a:gdLst/>
            <a:ahLst/>
            <a:cxnLst/>
            <a:rect l="l" t="t" r="r" b="b"/>
            <a:pathLst>
              <a:path w="555625" h="635000">
                <a:moveTo>
                  <a:pt x="555625" y="255240"/>
                </a:moveTo>
                <a:cubicBezTo>
                  <a:pt x="537270" y="267395"/>
                  <a:pt x="516186" y="277192"/>
                  <a:pt x="494233" y="285006"/>
                </a:cubicBezTo>
                <a:cubicBezTo>
                  <a:pt x="435942" y="305842"/>
                  <a:pt x="359420" y="317500"/>
                  <a:pt x="277813" y="317500"/>
                </a:cubicBezTo>
                <a:cubicBezTo>
                  <a:pt x="196205" y="317500"/>
                  <a:pt x="119559" y="305718"/>
                  <a:pt x="61392" y="285006"/>
                </a:cubicBezTo>
                <a:cubicBezTo>
                  <a:pt x="39563" y="277192"/>
                  <a:pt x="18355" y="267395"/>
                  <a:pt x="0" y="255240"/>
                </a:cubicBezTo>
                <a:lnTo>
                  <a:pt x="0" y="357188"/>
                </a:lnTo>
                <a:cubicBezTo>
                  <a:pt x="0" y="412006"/>
                  <a:pt x="124396" y="456406"/>
                  <a:pt x="277813" y="456406"/>
                </a:cubicBezTo>
                <a:cubicBezTo>
                  <a:pt x="431229" y="456406"/>
                  <a:pt x="555625" y="412006"/>
                  <a:pt x="555625" y="357188"/>
                </a:cubicBezTo>
                <a:lnTo>
                  <a:pt x="555625" y="255240"/>
                </a:lnTo>
                <a:close/>
                <a:moveTo>
                  <a:pt x="555625" y="158750"/>
                </a:moveTo>
                <a:lnTo>
                  <a:pt x="555625" y="99219"/>
                </a:lnTo>
                <a:cubicBezTo>
                  <a:pt x="555625" y="44400"/>
                  <a:pt x="431229" y="0"/>
                  <a:pt x="277813" y="0"/>
                </a:cubicBezTo>
                <a:cubicBezTo>
                  <a:pt x="124396" y="0"/>
                  <a:pt x="0" y="44400"/>
                  <a:pt x="0" y="99219"/>
                </a:cubicBezTo>
                <a:lnTo>
                  <a:pt x="0" y="158750"/>
                </a:lnTo>
                <a:cubicBezTo>
                  <a:pt x="0" y="213568"/>
                  <a:pt x="124396" y="257969"/>
                  <a:pt x="277813" y="257969"/>
                </a:cubicBezTo>
                <a:cubicBezTo>
                  <a:pt x="431229" y="257969"/>
                  <a:pt x="555625" y="213568"/>
                  <a:pt x="555625" y="158750"/>
                </a:cubicBezTo>
                <a:close/>
                <a:moveTo>
                  <a:pt x="494233" y="483443"/>
                </a:moveTo>
                <a:cubicBezTo>
                  <a:pt x="436066" y="504155"/>
                  <a:pt x="359544" y="515937"/>
                  <a:pt x="277813" y="515937"/>
                </a:cubicBezTo>
                <a:cubicBezTo>
                  <a:pt x="196081" y="515937"/>
                  <a:pt x="119559" y="504155"/>
                  <a:pt x="61392" y="483443"/>
                </a:cubicBezTo>
                <a:cubicBezTo>
                  <a:pt x="39563" y="475630"/>
                  <a:pt x="18355" y="465832"/>
                  <a:pt x="0" y="453678"/>
                </a:cubicBezTo>
                <a:lnTo>
                  <a:pt x="0" y="535781"/>
                </a:lnTo>
                <a:cubicBezTo>
                  <a:pt x="0" y="590600"/>
                  <a:pt x="124396" y="635000"/>
                  <a:pt x="277813" y="635000"/>
                </a:cubicBezTo>
                <a:cubicBezTo>
                  <a:pt x="431229" y="635000"/>
                  <a:pt x="555625" y="590600"/>
                  <a:pt x="555625" y="535781"/>
                </a:cubicBezTo>
                <a:lnTo>
                  <a:pt x="555625" y="453678"/>
                </a:lnTo>
                <a:cubicBezTo>
                  <a:pt x="537270" y="465832"/>
                  <a:pt x="516186" y="475630"/>
                  <a:pt x="494233" y="483443"/>
                </a:cubicBezTo>
                <a:close/>
              </a:path>
            </a:pathLst>
          </a:custGeom>
          <a:solidFill>
            <a:srgbClr val="0077B6"/>
          </a:solidFill>
          <a:ln/>
        </p:spPr>
      </p:sp>
      <p:sp>
        <p:nvSpPr>
          <p:cNvPr id="16" name="Text 14"/>
          <p:cNvSpPr/>
          <p:nvPr/>
        </p:nvSpPr>
        <p:spPr>
          <a:xfrm>
            <a:off x="6159500" y="2159000"/>
            <a:ext cx="393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Master Data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59500" y="2565400"/>
            <a:ext cx="393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7890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Core static information shared across all ERP modules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13500" y="3276600"/>
            <a:ext cx="3429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6159500" y="3492500"/>
            <a:ext cx="3937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200000"/>
              </a:lnSpc>
            </a:pPr>
            <a:r>
              <a:rPr lang="en-US" sz="1600" dirty="0">
                <a:solidFill>
                  <a:srgbClr val="0077B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</a:t>
            </a:r>
            <a:r>
              <a:rPr lang="en-US" sz="16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6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 Master</a:t>
            </a:r>
            <a:endParaRPr lang="en-US" sz="1600" dirty="0"/>
          </a:p>
          <a:p>
            <a:pPr algn="ctr">
              <a:lnSpc>
                <a:spcPct val="200000"/>
              </a:lnSpc>
            </a:pPr>
            <a:r>
              <a:rPr lang="en-US" sz="1600" dirty="0">
                <a:solidFill>
                  <a:srgbClr val="0077B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</a:t>
            </a:r>
            <a:r>
              <a:rPr lang="en-US" sz="16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6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Medicine Master</a:t>
            </a:r>
            <a:endParaRPr lang="en-US" sz="1600" dirty="0"/>
          </a:p>
          <a:p>
            <a:pPr algn="ctr">
              <a:lnSpc>
                <a:spcPct val="200000"/>
              </a:lnSpc>
            </a:pPr>
            <a:r>
              <a:rPr lang="en-US" sz="1600" dirty="0">
                <a:solidFill>
                  <a:srgbClr val="0077B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</a:t>
            </a:r>
            <a:r>
              <a:rPr lang="en-US" sz="16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6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 Master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795000" y="1079500"/>
            <a:ext cx="4445000" cy="55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00000">
                <a:alpha val="9412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795000" y="1079500"/>
            <a:ext cx="4445000" cy="7620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22" name="Shape 20"/>
          <p:cNvSpPr/>
          <p:nvPr/>
        </p:nvSpPr>
        <p:spPr>
          <a:xfrm>
            <a:off x="12612688" y="1397000"/>
            <a:ext cx="555625" cy="635000"/>
          </a:xfrm>
          <a:custGeom>
            <a:avLst/>
            <a:gdLst/>
            <a:ahLst/>
            <a:cxnLst/>
            <a:rect l="l" t="t" r="r" b="b"/>
            <a:pathLst>
              <a:path w="555625" h="635000">
                <a:moveTo>
                  <a:pt x="420191" y="-12278"/>
                </a:moveTo>
                <a:cubicBezTo>
                  <a:pt x="434950" y="-1612"/>
                  <a:pt x="440407" y="17735"/>
                  <a:pt x="433710" y="34603"/>
                </a:cubicBezTo>
                <a:lnTo>
                  <a:pt x="336476" y="277813"/>
                </a:lnTo>
                <a:lnTo>
                  <a:pt x="515937" y="277813"/>
                </a:lnTo>
                <a:cubicBezTo>
                  <a:pt x="532681" y="277813"/>
                  <a:pt x="547563" y="288230"/>
                  <a:pt x="553269" y="303981"/>
                </a:cubicBezTo>
                <a:cubicBezTo>
                  <a:pt x="558974" y="319732"/>
                  <a:pt x="554137" y="337344"/>
                  <a:pt x="541362" y="348010"/>
                </a:cubicBezTo>
                <a:lnTo>
                  <a:pt x="184175" y="645666"/>
                </a:lnTo>
                <a:cubicBezTo>
                  <a:pt x="170160" y="657324"/>
                  <a:pt x="150192" y="657944"/>
                  <a:pt x="135434" y="647278"/>
                </a:cubicBezTo>
                <a:cubicBezTo>
                  <a:pt x="120675" y="636612"/>
                  <a:pt x="115218" y="617265"/>
                  <a:pt x="121915" y="600397"/>
                </a:cubicBezTo>
                <a:lnTo>
                  <a:pt x="219149" y="357188"/>
                </a:lnTo>
                <a:lnTo>
                  <a:pt x="39688" y="357188"/>
                </a:lnTo>
                <a:cubicBezTo>
                  <a:pt x="22944" y="357188"/>
                  <a:pt x="8062" y="346770"/>
                  <a:pt x="2356" y="331019"/>
                </a:cubicBezTo>
                <a:cubicBezTo>
                  <a:pt x="-3349" y="315268"/>
                  <a:pt x="1488" y="297656"/>
                  <a:pt x="14263" y="286990"/>
                </a:cubicBezTo>
                <a:lnTo>
                  <a:pt x="371450" y="-10666"/>
                </a:lnTo>
                <a:cubicBezTo>
                  <a:pt x="385465" y="-22324"/>
                  <a:pt x="405433" y="-22944"/>
                  <a:pt x="420191" y="-12278"/>
                </a:cubicBezTo>
                <a:close/>
              </a:path>
            </a:pathLst>
          </a:custGeom>
          <a:solidFill>
            <a:srgbClr val="0A1F44"/>
          </a:solidFill>
          <a:ln/>
        </p:spPr>
      </p:sp>
      <p:sp>
        <p:nvSpPr>
          <p:cNvPr id="23" name="Text 21"/>
          <p:cNvSpPr/>
          <p:nvPr/>
        </p:nvSpPr>
        <p:spPr>
          <a:xfrm>
            <a:off x="11049000" y="2159000"/>
            <a:ext cx="393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Transaction Data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049000" y="2565400"/>
            <a:ext cx="393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7890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Daily operational events — admissions, treatments, payments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1303000" y="3276600"/>
            <a:ext cx="3429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11049000" y="3492500"/>
            <a:ext cx="3937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90000"/>
              </a:lnSpc>
            </a:pPr>
            <a:r>
              <a:rPr lang="en-US" sz="1500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</a:t>
            </a:r>
            <a:r>
              <a:rPr lang="en-US" sz="15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5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 Registration</a:t>
            </a:r>
            <a:endParaRPr lang="en-US" sz="1600" dirty="0"/>
          </a:p>
          <a:p>
            <a:pPr algn="ctr">
              <a:lnSpc>
                <a:spcPct val="190000"/>
              </a:lnSpc>
            </a:pPr>
            <a:r>
              <a:rPr lang="en-US" sz="1500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</a:t>
            </a:r>
            <a:r>
              <a:rPr lang="en-US" sz="15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5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Treatment Recording</a:t>
            </a:r>
            <a:endParaRPr lang="en-US" sz="1600" dirty="0"/>
          </a:p>
          <a:p>
            <a:pPr algn="ctr">
              <a:lnSpc>
                <a:spcPct val="190000"/>
              </a:lnSpc>
            </a:pPr>
            <a:r>
              <a:rPr lang="en-US" sz="1500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</a:t>
            </a:r>
            <a:r>
              <a:rPr lang="en-US" sz="15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5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Medicine Usage</a:t>
            </a:r>
            <a:endParaRPr lang="en-US" sz="1600" dirty="0"/>
          </a:p>
          <a:p>
            <a:pPr algn="ctr">
              <a:lnSpc>
                <a:spcPct val="190000"/>
              </a:lnSpc>
            </a:pPr>
            <a:r>
              <a:rPr lang="en-US" sz="1500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</a:t>
            </a:r>
            <a:r>
              <a:rPr lang="en-US" sz="15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5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Billing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16000" y="6985000"/>
            <a:ext cx="14224000" cy="635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0A1F44"/>
              </a:gs>
              <a:gs pos="100000">
                <a:srgbClr val="0077B6"/>
              </a:gs>
            </a:gsLst>
            <a:lin ang="0" scaled="1"/>
          </a:gradFill>
          <a:ln/>
        </p:spPr>
      </p:sp>
      <p:sp>
        <p:nvSpPr>
          <p:cNvPr id="28" name="Text 26"/>
          <p:cNvSpPr/>
          <p:nvPr/>
        </p:nvSpPr>
        <p:spPr>
          <a:xfrm>
            <a:off x="1333500" y="7048500"/>
            <a:ext cx="13589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These three pillars ensure </a:t>
            </a: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integrity, traceability, and seamless operations</a:t>
            </a: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across every module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0A1F44"/>
            </a:solidFill>
            <a:prstDash val="solid"/>
            <a:headEnd type="none"/>
            <a:tailEnd type="none"/>
          </a:ln>
        </p:spPr>
      </p:sp>
      <p:sp>
        <p:nvSpPr>
          <p:cNvPr id="30" name="Text 28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 / 19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00B4D8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101600"/>
            <a:ext cx="1143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Organizational Structure — Hospital Hierarchy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30000" y="774700"/>
            <a:ext cx="4318000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dirty="0">
                <a:solidFill>
                  <a:srgbClr val="90E0EF">
                    <a:alpha val="25098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SRM University AP | Hospital ERP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8636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Organization Chart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23000" y="1206500"/>
            <a:ext cx="3810000" cy="457200"/>
          </a:xfrm>
          <a:prstGeom prst="roundRect">
            <a:avLst>
              <a:gd name="adj" fmla="val 10000"/>
            </a:avLst>
          </a:prstGeom>
          <a:solidFill>
            <a:srgbClr val="0A1F44"/>
          </a:solidFill>
          <a:ln/>
        </p:spPr>
      </p:sp>
      <p:sp>
        <p:nvSpPr>
          <p:cNvPr id="8" name="Text 6"/>
          <p:cNvSpPr/>
          <p:nvPr/>
        </p:nvSpPr>
        <p:spPr>
          <a:xfrm>
            <a:off x="6223000" y="12065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Chairman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8000" y="1663700"/>
            <a:ext cx="0" cy="228600"/>
          </a:xfrm>
          <a:prstGeom prst="straightConnector1">
            <a:avLst/>
          </a:prstGeom>
          <a:noFill/>
          <a:ln w="25400">
            <a:solidFill>
              <a:srgbClr val="00B4D8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5588000" y="1892300"/>
            <a:ext cx="5080000" cy="457200"/>
          </a:xfrm>
          <a:prstGeom prst="roundRect">
            <a:avLst>
              <a:gd name="adj" fmla="val 10000"/>
            </a:avLst>
          </a:prstGeom>
          <a:solidFill>
            <a:srgbClr val="0077B6"/>
          </a:solidFill>
          <a:ln/>
        </p:spPr>
      </p:sp>
      <p:sp>
        <p:nvSpPr>
          <p:cNvPr id="11" name="Text 9"/>
          <p:cNvSpPr/>
          <p:nvPr/>
        </p:nvSpPr>
        <p:spPr>
          <a:xfrm>
            <a:off x="5588000" y="18923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Managing Director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778000" y="2349500"/>
            <a:ext cx="12700000" cy="0"/>
          </a:xfrm>
          <a:prstGeom prst="straightConnector1">
            <a:avLst/>
          </a:prstGeom>
          <a:noFill/>
          <a:ln w="25400">
            <a:solidFill>
              <a:srgbClr val="00B4D8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1778000" y="2349500"/>
            <a:ext cx="0" cy="228600"/>
          </a:xfrm>
          <a:prstGeom prst="straightConnector1">
            <a:avLst/>
          </a:prstGeom>
          <a:noFill/>
          <a:ln w="12700">
            <a:solidFill>
              <a:srgbClr val="00B4D8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4318000" y="2349500"/>
            <a:ext cx="0" cy="228600"/>
          </a:xfrm>
          <a:prstGeom prst="straightConnector1">
            <a:avLst/>
          </a:prstGeom>
          <a:noFill/>
          <a:ln w="12700">
            <a:solidFill>
              <a:srgbClr val="00B4D8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6858000" y="2349500"/>
            <a:ext cx="0" cy="228600"/>
          </a:xfrm>
          <a:prstGeom prst="straightConnector1">
            <a:avLst/>
          </a:prstGeom>
          <a:noFill/>
          <a:ln w="12700">
            <a:solidFill>
              <a:srgbClr val="00B4D8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398000" y="2349500"/>
            <a:ext cx="0" cy="228600"/>
          </a:xfrm>
          <a:prstGeom prst="straightConnector1">
            <a:avLst/>
          </a:prstGeom>
          <a:noFill/>
          <a:ln w="12700">
            <a:solidFill>
              <a:srgbClr val="00B4D8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11938000" y="2349500"/>
            <a:ext cx="0" cy="228600"/>
          </a:xfrm>
          <a:prstGeom prst="straightConnector1">
            <a:avLst/>
          </a:prstGeom>
          <a:noFill/>
          <a:ln w="12700">
            <a:solidFill>
              <a:srgbClr val="00B4D8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14478000" y="2349500"/>
            <a:ext cx="0" cy="228600"/>
          </a:xfrm>
          <a:prstGeom prst="straightConnector1">
            <a:avLst/>
          </a:prstGeom>
          <a:noFill/>
          <a:ln w="12700">
            <a:solidFill>
              <a:srgbClr val="00B4D8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825500" y="2717800"/>
            <a:ext cx="1905000" cy="355600"/>
          </a:xfrm>
          <a:prstGeom prst="roundRect">
            <a:avLst>
              <a:gd name="adj" fmla="val 8000"/>
            </a:avLst>
          </a:prstGeom>
          <a:solidFill>
            <a:srgbClr val="90E0EF"/>
          </a:solidFill>
          <a:ln/>
        </p:spPr>
      </p:sp>
      <p:sp>
        <p:nvSpPr>
          <p:cNvPr id="20" name="Text 18"/>
          <p:cNvSpPr/>
          <p:nvPr/>
        </p:nvSpPr>
        <p:spPr>
          <a:xfrm>
            <a:off x="825500" y="2717800"/>
            <a:ext cx="190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HR &amp; IR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365500" y="2717800"/>
            <a:ext cx="1905000" cy="355600"/>
          </a:xfrm>
          <a:prstGeom prst="roundRect">
            <a:avLst>
              <a:gd name="adj" fmla="val 8000"/>
            </a:avLst>
          </a:prstGeom>
          <a:solidFill>
            <a:srgbClr val="90E0EF"/>
          </a:solidFill>
          <a:ln/>
        </p:spPr>
      </p:sp>
      <p:sp>
        <p:nvSpPr>
          <p:cNvPr id="22" name="Text 20"/>
          <p:cNvSpPr/>
          <p:nvPr/>
        </p:nvSpPr>
        <p:spPr>
          <a:xfrm>
            <a:off x="3365500" y="2717800"/>
            <a:ext cx="190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Medical Services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905500" y="2717800"/>
            <a:ext cx="1905000" cy="355600"/>
          </a:xfrm>
          <a:prstGeom prst="roundRect">
            <a:avLst>
              <a:gd name="adj" fmla="val 8000"/>
            </a:avLst>
          </a:prstGeom>
          <a:solidFill>
            <a:srgbClr val="90E0EF"/>
          </a:solidFill>
          <a:ln/>
        </p:spPr>
      </p:sp>
      <p:sp>
        <p:nvSpPr>
          <p:cNvPr id="24" name="Text 22"/>
          <p:cNvSpPr/>
          <p:nvPr/>
        </p:nvSpPr>
        <p:spPr>
          <a:xfrm>
            <a:off x="5905500" y="2717800"/>
            <a:ext cx="190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Facilities &amp; Engg.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445500" y="2717800"/>
            <a:ext cx="1905000" cy="355600"/>
          </a:xfrm>
          <a:prstGeom prst="roundRect">
            <a:avLst>
              <a:gd name="adj" fmla="val 8000"/>
            </a:avLst>
          </a:prstGeom>
          <a:solidFill>
            <a:srgbClr val="90E0EF"/>
          </a:solidFill>
          <a:ln/>
        </p:spPr>
      </p:sp>
      <p:sp>
        <p:nvSpPr>
          <p:cNvPr id="26" name="Text 24"/>
          <p:cNvSpPr/>
          <p:nvPr/>
        </p:nvSpPr>
        <p:spPr>
          <a:xfrm>
            <a:off x="8445500" y="2717800"/>
            <a:ext cx="190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Supply Chain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985500" y="2717800"/>
            <a:ext cx="1905000" cy="355600"/>
          </a:xfrm>
          <a:prstGeom prst="roundRect">
            <a:avLst>
              <a:gd name="adj" fmla="val 8000"/>
            </a:avLst>
          </a:prstGeom>
          <a:solidFill>
            <a:srgbClr val="90E0EF"/>
          </a:solidFill>
          <a:ln/>
        </p:spPr>
      </p:sp>
      <p:sp>
        <p:nvSpPr>
          <p:cNvPr id="28" name="Text 26"/>
          <p:cNvSpPr/>
          <p:nvPr/>
        </p:nvSpPr>
        <p:spPr>
          <a:xfrm>
            <a:off x="10985500" y="2717800"/>
            <a:ext cx="190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 Care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3525500" y="2717800"/>
            <a:ext cx="1905000" cy="355600"/>
          </a:xfrm>
          <a:prstGeom prst="roundRect">
            <a:avLst>
              <a:gd name="adj" fmla="val 8000"/>
            </a:avLst>
          </a:prstGeom>
          <a:solidFill>
            <a:srgbClr val="90E0EF"/>
          </a:solidFill>
          <a:ln/>
        </p:spPr>
      </p:sp>
      <p:sp>
        <p:nvSpPr>
          <p:cNvPr id="30" name="Text 28"/>
          <p:cNvSpPr/>
          <p:nvPr/>
        </p:nvSpPr>
        <p:spPr>
          <a:xfrm>
            <a:off x="13525500" y="2717800"/>
            <a:ext cx="190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Finance &amp; Accounts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016000" y="3429000"/>
            <a:ext cx="14224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32" name="Text 30"/>
          <p:cNvSpPr/>
          <p:nvPr/>
        </p:nvSpPr>
        <p:spPr>
          <a:xfrm>
            <a:off x="1016000" y="3556000"/>
            <a:ext cx="444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MM Organization Structure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16000" y="3911600"/>
            <a:ext cx="6604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</a:t>
            </a: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4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Client</a:t>
            </a: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(Hospital Network)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</a:t>
            </a: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4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Company Code</a:t>
            </a: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(Legal Entity)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</a:t>
            </a: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4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Plants</a:t>
            </a: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(Hospital 1, 2, 3...n)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</a:t>
            </a: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4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Storage Locations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Pharmacy, Central Sterile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Supply Dept, Equipment Stores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</a:t>
            </a: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4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Sales Organization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382000" y="3556000"/>
            <a:ext cx="444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SD Organization Structure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382000" y="3911600"/>
            <a:ext cx="6604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0077B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</a:t>
            </a: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4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Sales Organization</a:t>
            </a: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(Billing Dept)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0077B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</a:t>
            </a: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4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Distribution Channels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IP Services | OP Services | Emergency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0077B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</a:t>
            </a: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4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Divisions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General Medicine | Surgery | Diagnostics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0077B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</a:t>
            </a: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4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Shipping Points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Outpatient Counters | Wards | OT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0A1F44"/>
            </a:solidFill>
            <a:prstDash val="solid"/>
            <a:headEnd type="none"/>
            <a:tailEnd type="none"/>
          </a:ln>
        </p:spPr>
      </p:sp>
      <p:sp>
        <p:nvSpPr>
          <p:cNvPr id="37" name="Text 35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08 / 19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00B4D8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101600"/>
            <a:ext cx="1143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Master Data — Patient Master (Customer Master)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30000" y="774700"/>
            <a:ext cx="4318000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dirty="0">
                <a:solidFill>
                  <a:srgbClr val="90E0EF">
                    <a:alpha val="25098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SRM University AP | Hospital ERP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16000" y="914400"/>
            <a:ext cx="14224000" cy="4826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00B4D8"/>
              </a:gs>
              <a:gs pos="100000">
                <a:srgbClr val="0077B6"/>
              </a:gs>
            </a:gsLst>
            <a:lin ang="0" scaled="1"/>
          </a:gradFill>
          <a:ln/>
        </p:spPr>
      </p:sp>
      <p:sp>
        <p:nvSpPr>
          <p:cNvPr id="7" name="Shape 5"/>
          <p:cNvSpPr/>
          <p:nvPr/>
        </p:nvSpPr>
        <p:spPr>
          <a:xfrm>
            <a:off x="1289050" y="10033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33350" y="147638"/>
                </a:moveTo>
                <a:cubicBezTo>
                  <a:pt x="172777" y="147638"/>
                  <a:pt x="204787" y="115627"/>
                  <a:pt x="204787" y="76200"/>
                </a:cubicBezTo>
                <a:cubicBezTo>
                  <a:pt x="204787" y="36773"/>
                  <a:pt x="172777" y="4763"/>
                  <a:pt x="133350" y="4763"/>
                </a:cubicBezTo>
                <a:cubicBezTo>
                  <a:pt x="93923" y="4763"/>
                  <a:pt x="61913" y="36773"/>
                  <a:pt x="61912" y="76200"/>
                </a:cubicBezTo>
                <a:cubicBezTo>
                  <a:pt x="61912" y="115627"/>
                  <a:pt x="93923" y="147638"/>
                  <a:pt x="133350" y="147638"/>
                </a:cubicBezTo>
                <a:close/>
                <a:moveTo>
                  <a:pt x="115669" y="180975"/>
                </a:moveTo>
                <a:cubicBezTo>
                  <a:pt x="57031" y="180975"/>
                  <a:pt x="9525" y="228481"/>
                  <a:pt x="9525" y="287119"/>
                </a:cubicBezTo>
                <a:cubicBezTo>
                  <a:pt x="9525" y="296882"/>
                  <a:pt x="17443" y="304800"/>
                  <a:pt x="27206" y="304800"/>
                </a:cubicBezTo>
                <a:lnTo>
                  <a:pt x="239494" y="304800"/>
                </a:lnTo>
                <a:cubicBezTo>
                  <a:pt x="249257" y="304800"/>
                  <a:pt x="257175" y="296882"/>
                  <a:pt x="257175" y="287119"/>
                </a:cubicBezTo>
                <a:cubicBezTo>
                  <a:pt x="257175" y="228481"/>
                  <a:pt x="209669" y="180975"/>
                  <a:pt x="151031" y="180975"/>
                </a:cubicBezTo>
                <a:lnTo>
                  <a:pt x="115669" y="18097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701800" y="939800"/>
            <a:ext cx="13208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the Hospital ERP, patients are treated as CUSTOMERS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16000" y="1587500"/>
            <a:ext cx="4445000" cy="482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8235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16000" y="1587500"/>
            <a:ext cx="4445000" cy="508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1587500"/>
            <a:ext cx="444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General (Central) Info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70000" y="2260600"/>
            <a:ext cx="3937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</a:t>
            </a:r>
            <a:r>
              <a:rPr lang="en-US" sz="15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Patient Name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</a:t>
            </a:r>
            <a:r>
              <a:rPr lang="en-US" sz="15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Date of Birth / Gender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</a:t>
            </a:r>
            <a:r>
              <a:rPr lang="en-US" sz="15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Address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</a:t>
            </a:r>
            <a:r>
              <a:rPr lang="en-US" sz="15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Contact Information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</a:t>
            </a:r>
            <a:r>
              <a:rPr lang="en-US" sz="15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Identification Details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</a:t>
            </a:r>
            <a:r>
              <a:rPr lang="en-US" sz="15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Emergency Contact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05500" y="1587500"/>
            <a:ext cx="4445000" cy="482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8235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05500" y="1587500"/>
            <a:ext cx="4445000" cy="5080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5" name="Text 13"/>
          <p:cNvSpPr/>
          <p:nvPr/>
        </p:nvSpPr>
        <p:spPr>
          <a:xfrm>
            <a:off x="5905500" y="1587500"/>
            <a:ext cx="444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Company Code-Specific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59500" y="2260600"/>
            <a:ext cx="3937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0077B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</a:t>
            </a:r>
            <a:r>
              <a:rPr lang="en-US" sz="15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Account Management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0077B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</a:t>
            </a:r>
            <a:r>
              <a:rPr lang="en-US" sz="15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Payment Terms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0077B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</a:t>
            </a:r>
            <a:r>
              <a:rPr lang="en-US" sz="15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Health Insurance Details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0077B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</a:t>
            </a:r>
            <a:r>
              <a:rPr lang="en-US" sz="15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Bank Details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0077B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</a:t>
            </a:r>
            <a:r>
              <a:rPr lang="en-US" sz="15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Credit Management Data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0077B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</a:t>
            </a:r>
            <a:r>
              <a:rPr lang="en-US" sz="15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Dunning Information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795000" y="1587500"/>
            <a:ext cx="4445000" cy="482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8235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0795000" y="1587500"/>
            <a:ext cx="4445000" cy="50800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19" name="Text 17"/>
          <p:cNvSpPr/>
          <p:nvPr/>
        </p:nvSpPr>
        <p:spPr>
          <a:xfrm>
            <a:off x="10795000" y="1587500"/>
            <a:ext cx="444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Sales Area-Specific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049000" y="2260600"/>
            <a:ext cx="3937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</a:t>
            </a:r>
            <a:r>
              <a:rPr lang="en-US" sz="15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Billing Organization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</a:t>
            </a:r>
            <a:r>
              <a:rPr lang="en-US" sz="15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Distribution Channel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(IP / OP / Emergency)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</a:t>
            </a:r>
            <a:r>
              <a:rPr lang="en-US" sz="15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Division (Specialty)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</a:t>
            </a:r>
            <a:r>
              <a:rPr lang="en-US" sz="15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Sales Office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</a:t>
            </a:r>
            <a:r>
              <a:rPr lang="en-US" sz="15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Service Location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(Ward / Counter / OT)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16000" y="6667500"/>
            <a:ext cx="14224000" cy="698500"/>
          </a:xfrm>
          <a:prstGeom prst="roundRect">
            <a:avLst>
              <a:gd name="adj" fmla="val 8000"/>
            </a:avLst>
          </a:prstGeom>
          <a:solidFill>
            <a:srgbClr val="00B4D8">
              <a:alpha val="8235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33500" y="6832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55575" y="111125"/>
                </a:moveTo>
                <a:cubicBezTo>
                  <a:pt x="155575" y="98859"/>
                  <a:pt x="165534" y="88900"/>
                  <a:pt x="177800" y="88900"/>
                </a:cubicBezTo>
                <a:cubicBezTo>
                  <a:pt x="190066" y="88900"/>
                  <a:pt x="200025" y="98859"/>
                  <a:pt x="200025" y="111125"/>
                </a:cubicBezTo>
                <a:cubicBezTo>
                  <a:pt x="200025" y="123391"/>
                  <a:pt x="190066" y="133350"/>
                  <a:pt x="177800" y="133350"/>
                </a:cubicBezTo>
                <a:cubicBezTo>
                  <a:pt x="165534" y="133350"/>
                  <a:pt x="155575" y="123391"/>
                  <a:pt x="155575" y="111125"/>
                </a:cubicBezTo>
                <a:close/>
                <a:moveTo>
                  <a:pt x="150019" y="155575"/>
                </a:moveTo>
                <a:lnTo>
                  <a:pt x="183356" y="155575"/>
                </a:lnTo>
                <a:cubicBezTo>
                  <a:pt x="192594" y="155575"/>
                  <a:pt x="200025" y="163006"/>
                  <a:pt x="200025" y="172244"/>
                </a:cubicBezTo>
                <a:lnTo>
                  <a:pt x="200025" y="233363"/>
                </a:lnTo>
                <a:lnTo>
                  <a:pt x="205581" y="233363"/>
                </a:lnTo>
                <a:cubicBezTo>
                  <a:pt x="214819" y="233363"/>
                  <a:pt x="222250" y="240794"/>
                  <a:pt x="222250" y="250031"/>
                </a:cubicBezTo>
                <a:cubicBezTo>
                  <a:pt x="222250" y="259269"/>
                  <a:pt x="214819" y="266700"/>
                  <a:pt x="205581" y="266700"/>
                </a:cubicBezTo>
                <a:lnTo>
                  <a:pt x="150019" y="266700"/>
                </a:lnTo>
                <a:cubicBezTo>
                  <a:pt x="140781" y="266700"/>
                  <a:pt x="133350" y="259269"/>
                  <a:pt x="133350" y="250031"/>
                </a:cubicBezTo>
                <a:cubicBezTo>
                  <a:pt x="133350" y="240794"/>
                  <a:pt x="140781" y="233363"/>
                  <a:pt x="150019" y="233363"/>
                </a:cubicBezTo>
                <a:lnTo>
                  <a:pt x="166688" y="233363"/>
                </a:lnTo>
                <a:lnTo>
                  <a:pt x="166688" y="188913"/>
                </a:lnTo>
                <a:lnTo>
                  <a:pt x="150019" y="188913"/>
                </a:lnTo>
                <a:cubicBezTo>
                  <a:pt x="140781" y="188913"/>
                  <a:pt x="133350" y="181481"/>
                  <a:pt x="133350" y="172244"/>
                </a:cubicBezTo>
                <a:cubicBezTo>
                  <a:pt x="133350" y="163006"/>
                  <a:pt x="140781" y="155575"/>
                  <a:pt x="150019" y="155575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1841500" y="6756400"/>
            <a:ext cx="1308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 Master ensures unified view of patient info</a:t>
            </a:r>
            <a:r>
              <a:rPr lang="en-US" sz="1500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enabling accurate billing and effective relationship management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0A1F44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09 / 19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00B4D8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101600"/>
            <a:ext cx="1143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Master Data — Medicine Master &amp; Vendor Master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30000" y="774700"/>
            <a:ext cx="4318000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dirty="0">
                <a:solidFill>
                  <a:srgbClr val="90E0EF">
                    <a:alpha val="25098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SRM University AP | Hospital ERP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16000" y="914400"/>
            <a:ext cx="3556000" cy="381000"/>
          </a:xfrm>
          <a:prstGeom prst="roundRect">
            <a:avLst>
              <a:gd name="adj" fmla="val 10000"/>
            </a:avLst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9144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MEDICINE MASTER (Material Master)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26000" y="914400"/>
            <a:ext cx="1041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7890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Stores comprehensive data about every medicine and medical supply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16000" y="1422400"/>
            <a:ext cx="4445000" cy="1968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59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16000" y="1422400"/>
            <a:ext cx="4445000" cy="6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1206500" y="1574800"/>
            <a:ext cx="406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General Information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06500" y="1905000"/>
            <a:ext cx="406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Medicine Name, Dosage Form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Strength, Weight, UOM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Medicine Group, Therapeutic Class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Manufacturer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15000" y="1422400"/>
            <a:ext cx="4445000" cy="1968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59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715000" y="1422400"/>
            <a:ext cx="4445000" cy="635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5" name="Text 13"/>
          <p:cNvSpPr/>
          <p:nvPr/>
        </p:nvSpPr>
        <p:spPr>
          <a:xfrm>
            <a:off x="5905500" y="1574800"/>
            <a:ext cx="406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0077B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Sales-Specific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05500" y="1905000"/>
            <a:ext cx="406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Delivering Plant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Loading Group, Sales Unit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Pricing Group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Tax Classification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414000" y="1422400"/>
            <a:ext cx="4826000" cy="1968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59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0414000" y="1422400"/>
            <a:ext cx="4826000" cy="6350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19" name="Text 17"/>
          <p:cNvSpPr/>
          <p:nvPr/>
        </p:nvSpPr>
        <p:spPr>
          <a:xfrm>
            <a:off x="10604500" y="1574800"/>
            <a:ext cx="444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Storage Location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604500" y="1905000"/>
            <a:ext cx="444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Stock Quantity, Reorder Level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Bin Location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Shelf Life / Expiry Date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Batch Management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16000" y="3619500"/>
            <a:ext cx="14224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1016000" y="3784600"/>
            <a:ext cx="3556000" cy="381000"/>
          </a:xfrm>
          <a:prstGeom prst="roundRect">
            <a:avLst>
              <a:gd name="adj" fmla="val 10000"/>
            </a:avLst>
          </a:prstGeom>
          <a:solidFill>
            <a:srgbClr val="0A1F44"/>
          </a:solidFill>
          <a:ln/>
        </p:spPr>
      </p:sp>
      <p:sp>
        <p:nvSpPr>
          <p:cNvPr id="23" name="Text 21"/>
          <p:cNvSpPr/>
          <p:nvPr/>
        </p:nvSpPr>
        <p:spPr>
          <a:xfrm>
            <a:off x="1016000" y="37846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 MASTER (Supplier)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26000" y="3784600"/>
            <a:ext cx="1041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7890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Captures all information about approved pharmaceutical &amp; equipment vendors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16000" y="4292600"/>
            <a:ext cx="4445000" cy="215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59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16000" y="4292600"/>
            <a:ext cx="4445000" cy="6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1206500" y="4445000"/>
            <a:ext cx="406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General Information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06500" y="4775200"/>
            <a:ext cx="406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Vendor Name, Type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Address, Contact, Phone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Tax ID (GST / PAN)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License &amp; Registration No.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715000" y="4292600"/>
            <a:ext cx="4445000" cy="215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59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715000" y="4292600"/>
            <a:ext cx="4445000" cy="635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1" name="Text 29"/>
          <p:cNvSpPr/>
          <p:nvPr/>
        </p:nvSpPr>
        <p:spPr>
          <a:xfrm>
            <a:off x="5905500" y="4445000"/>
            <a:ext cx="406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0077B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Company Code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905500" y="4775200"/>
            <a:ext cx="406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Account Management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Payment Terms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Bank Details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Credit Data, Dunning Info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414000" y="4292600"/>
            <a:ext cx="4826000" cy="215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59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0414000" y="4292600"/>
            <a:ext cx="4826000" cy="6350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35" name="Text 33"/>
          <p:cNvSpPr/>
          <p:nvPr/>
        </p:nvSpPr>
        <p:spPr>
          <a:xfrm>
            <a:off x="10604500" y="4445000"/>
            <a:ext cx="444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Purchasing Organization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604500" y="4775200"/>
            <a:ext cx="4445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Incoterms, Transaction Currency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Purchasing Group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Min Order Value, Lead Time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Approved Vendor Status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0A1F44"/>
            </a:solidFill>
            <a:prstDash val="solid"/>
            <a:headEnd type="none"/>
            <a:tailEnd type="none"/>
          </a:ln>
        </p:spPr>
      </p:sp>
      <p:sp>
        <p:nvSpPr>
          <p:cNvPr id="38" name="Text 36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 / 19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00B4D8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101600"/>
            <a:ext cx="1143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Five Core SAP Modules — Complete Hospital Coverage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30000" y="774700"/>
            <a:ext cx="4318000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dirty="0">
                <a:solidFill>
                  <a:srgbClr val="90E0EF">
                    <a:alpha val="25098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SRM University AP | Hospital ERP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863600"/>
            <a:ext cx="762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Each module mapped to a critical hospital function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16000" y="1270000"/>
            <a:ext cx="1422400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59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16000" y="1270000"/>
            <a:ext cx="101600" cy="1143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Shape 7"/>
          <p:cNvSpPr/>
          <p:nvPr/>
        </p:nvSpPr>
        <p:spPr>
          <a:xfrm>
            <a:off x="1298575" y="1498600"/>
            <a:ext cx="628650" cy="558800"/>
          </a:xfrm>
          <a:custGeom>
            <a:avLst/>
            <a:gdLst/>
            <a:ahLst/>
            <a:cxnLst/>
            <a:rect l="l" t="t" r="r" b="b"/>
            <a:pathLst>
              <a:path w="628650" h="558800">
                <a:moveTo>
                  <a:pt x="139700" y="69850"/>
                </a:moveTo>
                <a:cubicBezTo>
                  <a:pt x="139700" y="31323"/>
                  <a:pt x="171023" y="0"/>
                  <a:pt x="209550" y="0"/>
                </a:cubicBezTo>
                <a:lnTo>
                  <a:pt x="419100" y="0"/>
                </a:lnTo>
                <a:cubicBezTo>
                  <a:pt x="457627" y="0"/>
                  <a:pt x="488950" y="31323"/>
                  <a:pt x="488950" y="69850"/>
                </a:cubicBezTo>
                <a:lnTo>
                  <a:pt x="488950" y="139700"/>
                </a:lnTo>
                <a:lnTo>
                  <a:pt x="558800" y="139700"/>
                </a:lnTo>
                <a:cubicBezTo>
                  <a:pt x="597327" y="139700"/>
                  <a:pt x="628650" y="171023"/>
                  <a:pt x="628650" y="209550"/>
                </a:cubicBezTo>
                <a:lnTo>
                  <a:pt x="628650" y="488950"/>
                </a:lnTo>
                <a:cubicBezTo>
                  <a:pt x="628650" y="527477"/>
                  <a:pt x="597327" y="558800"/>
                  <a:pt x="558800" y="558800"/>
                </a:cubicBezTo>
                <a:lnTo>
                  <a:pt x="69850" y="558800"/>
                </a:lnTo>
                <a:cubicBezTo>
                  <a:pt x="31323" y="558800"/>
                  <a:pt x="0" y="527477"/>
                  <a:pt x="0" y="488950"/>
                </a:cubicBezTo>
                <a:lnTo>
                  <a:pt x="0" y="209550"/>
                </a:lnTo>
                <a:cubicBezTo>
                  <a:pt x="0" y="171023"/>
                  <a:pt x="31323" y="139700"/>
                  <a:pt x="69850" y="139700"/>
                </a:cubicBezTo>
                <a:lnTo>
                  <a:pt x="139700" y="139700"/>
                </a:lnTo>
                <a:lnTo>
                  <a:pt x="139700" y="69850"/>
                </a:lnTo>
                <a:close/>
                <a:moveTo>
                  <a:pt x="296863" y="384175"/>
                </a:moveTo>
                <a:cubicBezTo>
                  <a:pt x="277545" y="384175"/>
                  <a:pt x="261938" y="399782"/>
                  <a:pt x="261938" y="419100"/>
                </a:cubicBezTo>
                <a:lnTo>
                  <a:pt x="261938" y="506413"/>
                </a:lnTo>
                <a:lnTo>
                  <a:pt x="366713" y="506413"/>
                </a:lnTo>
                <a:lnTo>
                  <a:pt x="366713" y="419100"/>
                </a:lnTo>
                <a:cubicBezTo>
                  <a:pt x="366713" y="399782"/>
                  <a:pt x="351105" y="384175"/>
                  <a:pt x="331788" y="384175"/>
                </a:cubicBezTo>
                <a:lnTo>
                  <a:pt x="296863" y="384175"/>
                </a:lnTo>
                <a:close/>
                <a:moveTo>
                  <a:pt x="139700" y="401637"/>
                </a:moveTo>
                <a:lnTo>
                  <a:pt x="139700" y="366713"/>
                </a:lnTo>
                <a:cubicBezTo>
                  <a:pt x="139700" y="357108"/>
                  <a:pt x="131842" y="349250"/>
                  <a:pt x="122238" y="349250"/>
                </a:cubicBezTo>
                <a:lnTo>
                  <a:pt x="87313" y="349250"/>
                </a:lnTo>
                <a:cubicBezTo>
                  <a:pt x="77708" y="349250"/>
                  <a:pt x="69850" y="357108"/>
                  <a:pt x="69850" y="366713"/>
                </a:cubicBezTo>
                <a:lnTo>
                  <a:pt x="69850" y="401637"/>
                </a:lnTo>
                <a:cubicBezTo>
                  <a:pt x="69850" y="411242"/>
                  <a:pt x="77708" y="419100"/>
                  <a:pt x="87313" y="419100"/>
                </a:cubicBezTo>
                <a:lnTo>
                  <a:pt x="122238" y="419100"/>
                </a:lnTo>
                <a:cubicBezTo>
                  <a:pt x="131842" y="419100"/>
                  <a:pt x="139700" y="411242"/>
                  <a:pt x="139700" y="401637"/>
                </a:cubicBezTo>
                <a:close/>
                <a:moveTo>
                  <a:pt x="122238" y="279400"/>
                </a:moveTo>
                <a:cubicBezTo>
                  <a:pt x="131842" y="279400"/>
                  <a:pt x="139700" y="271542"/>
                  <a:pt x="139700" y="261938"/>
                </a:cubicBezTo>
                <a:lnTo>
                  <a:pt x="139700" y="227013"/>
                </a:lnTo>
                <a:cubicBezTo>
                  <a:pt x="139700" y="217408"/>
                  <a:pt x="131842" y="209550"/>
                  <a:pt x="122238" y="209550"/>
                </a:cubicBezTo>
                <a:lnTo>
                  <a:pt x="87313" y="209550"/>
                </a:lnTo>
                <a:cubicBezTo>
                  <a:pt x="77708" y="209550"/>
                  <a:pt x="69850" y="217408"/>
                  <a:pt x="69850" y="227013"/>
                </a:cubicBezTo>
                <a:lnTo>
                  <a:pt x="69850" y="261938"/>
                </a:lnTo>
                <a:cubicBezTo>
                  <a:pt x="69850" y="271542"/>
                  <a:pt x="77708" y="279400"/>
                  <a:pt x="87313" y="279400"/>
                </a:cubicBezTo>
                <a:lnTo>
                  <a:pt x="122238" y="279400"/>
                </a:lnTo>
                <a:close/>
                <a:moveTo>
                  <a:pt x="558800" y="401637"/>
                </a:moveTo>
                <a:lnTo>
                  <a:pt x="558800" y="366713"/>
                </a:lnTo>
                <a:cubicBezTo>
                  <a:pt x="558800" y="357108"/>
                  <a:pt x="550942" y="349250"/>
                  <a:pt x="541338" y="349250"/>
                </a:cubicBezTo>
                <a:lnTo>
                  <a:pt x="506413" y="349250"/>
                </a:lnTo>
                <a:cubicBezTo>
                  <a:pt x="496808" y="349250"/>
                  <a:pt x="488950" y="357108"/>
                  <a:pt x="488950" y="366713"/>
                </a:cubicBezTo>
                <a:lnTo>
                  <a:pt x="488950" y="401637"/>
                </a:lnTo>
                <a:cubicBezTo>
                  <a:pt x="488950" y="411242"/>
                  <a:pt x="496808" y="419100"/>
                  <a:pt x="506413" y="419100"/>
                </a:cubicBezTo>
                <a:lnTo>
                  <a:pt x="541338" y="419100"/>
                </a:lnTo>
                <a:cubicBezTo>
                  <a:pt x="550942" y="419100"/>
                  <a:pt x="558800" y="411242"/>
                  <a:pt x="558800" y="401637"/>
                </a:cubicBezTo>
                <a:close/>
                <a:moveTo>
                  <a:pt x="541338" y="279400"/>
                </a:moveTo>
                <a:cubicBezTo>
                  <a:pt x="550942" y="279400"/>
                  <a:pt x="558800" y="271542"/>
                  <a:pt x="558800" y="261938"/>
                </a:cubicBezTo>
                <a:lnTo>
                  <a:pt x="558800" y="227013"/>
                </a:lnTo>
                <a:cubicBezTo>
                  <a:pt x="558800" y="217408"/>
                  <a:pt x="550942" y="209550"/>
                  <a:pt x="541338" y="209550"/>
                </a:cubicBezTo>
                <a:lnTo>
                  <a:pt x="506413" y="209550"/>
                </a:lnTo>
                <a:cubicBezTo>
                  <a:pt x="496808" y="209550"/>
                  <a:pt x="488950" y="217408"/>
                  <a:pt x="488950" y="227013"/>
                </a:cubicBezTo>
                <a:lnTo>
                  <a:pt x="488950" y="261938"/>
                </a:lnTo>
                <a:cubicBezTo>
                  <a:pt x="488950" y="271542"/>
                  <a:pt x="496808" y="279400"/>
                  <a:pt x="506413" y="279400"/>
                </a:cubicBezTo>
                <a:lnTo>
                  <a:pt x="541338" y="279400"/>
                </a:lnTo>
                <a:close/>
                <a:moveTo>
                  <a:pt x="288131" y="113506"/>
                </a:moveTo>
                <a:lnTo>
                  <a:pt x="288131" y="148431"/>
                </a:lnTo>
                <a:lnTo>
                  <a:pt x="253206" y="148431"/>
                </a:lnTo>
                <a:cubicBezTo>
                  <a:pt x="243602" y="148431"/>
                  <a:pt x="235744" y="156289"/>
                  <a:pt x="235744" y="165894"/>
                </a:cubicBezTo>
                <a:lnTo>
                  <a:pt x="235744" y="183356"/>
                </a:lnTo>
                <a:cubicBezTo>
                  <a:pt x="235744" y="192961"/>
                  <a:pt x="243602" y="200819"/>
                  <a:pt x="253206" y="200819"/>
                </a:cubicBezTo>
                <a:lnTo>
                  <a:pt x="288131" y="200819"/>
                </a:lnTo>
                <a:lnTo>
                  <a:pt x="288131" y="235744"/>
                </a:lnTo>
                <a:cubicBezTo>
                  <a:pt x="288131" y="245348"/>
                  <a:pt x="295989" y="253206"/>
                  <a:pt x="305594" y="253206"/>
                </a:cubicBezTo>
                <a:lnTo>
                  <a:pt x="323056" y="253206"/>
                </a:lnTo>
                <a:cubicBezTo>
                  <a:pt x="332661" y="253206"/>
                  <a:pt x="340519" y="245348"/>
                  <a:pt x="340519" y="235744"/>
                </a:cubicBezTo>
                <a:lnTo>
                  <a:pt x="340519" y="200819"/>
                </a:lnTo>
                <a:lnTo>
                  <a:pt x="375444" y="200819"/>
                </a:lnTo>
                <a:cubicBezTo>
                  <a:pt x="385048" y="200819"/>
                  <a:pt x="392906" y="192961"/>
                  <a:pt x="392906" y="183356"/>
                </a:cubicBezTo>
                <a:lnTo>
                  <a:pt x="392906" y="165894"/>
                </a:lnTo>
                <a:cubicBezTo>
                  <a:pt x="392906" y="156289"/>
                  <a:pt x="385048" y="148431"/>
                  <a:pt x="375444" y="148431"/>
                </a:cubicBezTo>
                <a:lnTo>
                  <a:pt x="340519" y="148431"/>
                </a:lnTo>
                <a:lnTo>
                  <a:pt x="340519" y="113506"/>
                </a:lnTo>
                <a:cubicBezTo>
                  <a:pt x="340519" y="103902"/>
                  <a:pt x="332661" y="96044"/>
                  <a:pt x="323056" y="96044"/>
                </a:cubicBezTo>
                <a:lnTo>
                  <a:pt x="305594" y="96044"/>
                </a:lnTo>
                <a:cubicBezTo>
                  <a:pt x="295989" y="96044"/>
                  <a:pt x="288131" y="103902"/>
                  <a:pt x="288131" y="113506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2095500" y="13716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SD — Sales &amp; Distribution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095500" y="17272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 services, appointments, and billing cycles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095500" y="20320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7890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Customer creation → Sales orders → Billing documents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16000" y="2540000"/>
            <a:ext cx="1422400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59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16000" y="2540000"/>
            <a:ext cx="101600" cy="114300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15" name="Shape 13"/>
          <p:cNvSpPr/>
          <p:nvPr/>
        </p:nvSpPr>
        <p:spPr>
          <a:xfrm>
            <a:off x="1333500" y="27686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69850" y="122238"/>
                </a:moveTo>
                <a:cubicBezTo>
                  <a:pt x="69850" y="93315"/>
                  <a:pt x="93315" y="69850"/>
                  <a:pt x="122238" y="69850"/>
                </a:cubicBezTo>
                <a:cubicBezTo>
                  <a:pt x="151160" y="69850"/>
                  <a:pt x="174625" y="93315"/>
                  <a:pt x="174625" y="122238"/>
                </a:cubicBezTo>
                <a:lnTo>
                  <a:pt x="174625" y="244475"/>
                </a:lnTo>
                <a:lnTo>
                  <a:pt x="69850" y="244475"/>
                </a:lnTo>
                <a:lnTo>
                  <a:pt x="69850" y="122238"/>
                </a:lnTo>
                <a:close/>
                <a:moveTo>
                  <a:pt x="192088" y="401637"/>
                </a:moveTo>
                <a:cubicBezTo>
                  <a:pt x="192088" y="348486"/>
                  <a:pt x="211842" y="299918"/>
                  <a:pt x="244475" y="263029"/>
                </a:cubicBezTo>
                <a:lnTo>
                  <a:pt x="244475" y="122238"/>
                </a:lnTo>
                <a:cubicBezTo>
                  <a:pt x="244475" y="54679"/>
                  <a:pt x="189796" y="0"/>
                  <a:pt x="122238" y="0"/>
                </a:cubicBezTo>
                <a:cubicBezTo>
                  <a:pt x="54679" y="0"/>
                  <a:pt x="0" y="54679"/>
                  <a:pt x="0" y="122238"/>
                </a:cubicBezTo>
                <a:lnTo>
                  <a:pt x="0" y="436563"/>
                </a:lnTo>
                <a:cubicBezTo>
                  <a:pt x="0" y="504121"/>
                  <a:pt x="54679" y="558800"/>
                  <a:pt x="122238" y="558800"/>
                </a:cubicBezTo>
                <a:cubicBezTo>
                  <a:pt x="162947" y="558800"/>
                  <a:pt x="198963" y="538936"/>
                  <a:pt x="221228" y="508268"/>
                </a:cubicBezTo>
                <a:cubicBezTo>
                  <a:pt x="202674" y="477054"/>
                  <a:pt x="192088" y="440601"/>
                  <a:pt x="192088" y="401637"/>
                </a:cubicBezTo>
                <a:close/>
                <a:moveTo>
                  <a:pt x="262701" y="475198"/>
                </a:moveTo>
                <a:cubicBezTo>
                  <a:pt x="267722" y="484694"/>
                  <a:pt x="280491" y="485785"/>
                  <a:pt x="288131" y="478145"/>
                </a:cubicBezTo>
                <a:lnTo>
                  <a:pt x="478145" y="288131"/>
                </a:lnTo>
                <a:cubicBezTo>
                  <a:pt x="485785" y="280491"/>
                  <a:pt x="484694" y="267722"/>
                  <a:pt x="475198" y="262701"/>
                </a:cubicBezTo>
                <a:cubicBezTo>
                  <a:pt x="453261" y="251023"/>
                  <a:pt x="428268" y="244475"/>
                  <a:pt x="401637" y="244475"/>
                </a:cubicBezTo>
                <a:cubicBezTo>
                  <a:pt x="314871" y="244475"/>
                  <a:pt x="244475" y="314871"/>
                  <a:pt x="244475" y="401637"/>
                </a:cubicBezTo>
                <a:cubicBezTo>
                  <a:pt x="244475" y="428159"/>
                  <a:pt x="251023" y="453261"/>
                  <a:pt x="262701" y="475198"/>
                </a:cubicBezTo>
                <a:close/>
                <a:moveTo>
                  <a:pt x="325130" y="515144"/>
                </a:moveTo>
                <a:cubicBezTo>
                  <a:pt x="317490" y="522784"/>
                  <a:pt x="318581" y="535553"/>
                  <a:pt x="328077" y="540574"/>
                </a:cubicBezTo>
                <a:cubicBezTo>
                  <a:pt x="350014" y="552252"/>
                  <a:pt x="375007" y="558800"/>
                  <a:pt x="401637" y="558800"/>
                </a:cubicBezTo>
                <a:cubicBezTo>
                  <a:pt x="488404" y="558800"/>
                  <a:pt x="558800" y="488404"/>
                  <a:pt x="558800" y="401637"/>
                </a:cubicBezTo>
                <a:cubicBezTo>
                  <a:pt x="558800" y="375116"/>
                  <a:pt x="552252" y="350014"/>
                  <a:pt x="540574" y="328077"/>
                </a:cubicBezTo>
                <a:cubicBezTo>
                  <a:pt x="535553" y="318581"/>
                  <a:pt x="522784" y="317490"/>
                  <a:pt x="515144" y="325130"/>
                </a:cubicBezTo>
                <a:lnTo>
                  <a:pt x="325130" y="515144"/>
                </a:lnTo>
                <a:close/>
              </a:path>
            </a:pathLst>
          </a:custGeom>
          <a:solidFill>
            <a:srgbClr val="0A1F44"/>
          </a:solidFill>
          <a:ln/>
        </p:spPr>
      </p:sp>
      <p:sp>
        <p:nvSpPr>
          <p:cNvPr id="16" name="Text 14"/>
          <p:cNvSpPr/>
          <p:nvPr/>
        </p:nvSpPr>
        <p:spPr>
          <a:xfrm>
            <a:off x="2095500" y="26416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MM — Materials Management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095500" y="29972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Medicine procurement, stock levels, inventory control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095500" y="33020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7890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 mgmt → Purchase orders → Goods receipt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16000" y="3810000"/>
            <a:ext cx="1422400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59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16000" y="3810000"/>
            <a:ext cx="101600" cy="11430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1" name="Shape 19"/>
          <p:cNvSpPr/>
          <p:nvPr/>
        </p:nvSpPr>
        <p:spPr>
          <a:xfrm>
            <a:off x="1333500" y="40386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192088" y="0"/>
                </a:moveTo>
                <a:cubicBezTo>
                  <a:pt x="163165" y="0"/>
                  <a:pt x="139700" y="23465"/>
                  <a:pt x="139700" y="52388"/>
                </a:cubicBezTo>
                <a:lnTo>
                  <a:pt x="139700" y="279400"/>
                </a:lnTo>
                <a:cubicBezTo>
                  <a:pt x="139700" y="308322"/>
                  <a:pt x="163165" y="331788"/>
                  <a:pt x="192088" y="331788"/>
                </a:cubicBezTo>
                <a:lnTo>
                  <a:pt x="261938" y="331788"/>
                </a:lnTo>
                <a:cubicBezTo>
                  <a:pt x="290860" y="331788"/>
                  <a:pt x="314325" y="308322"/>
                  <a:pt x="314325" y="279400"/>
                </a:cubicBezTo>
                <a:lnTo>
                  <a:pt x="314325" y="209550"/>
                </a:lnTo>
                <a:lnTo>
                  <a:pt x="349250" y="209550"/>
                </a:lnTo>
                <a:cubicBezTo>
                  <a:pt x="426412" y="209550"/>
                  <a:pt x="488950" y="272088"/>
                  <a:pt x="488950" y="349250"/>
                </a:cubicBezTo>
                <a:cubicBezTo>
                  <a:pt x="488950" y="426412"/>
                  <a:pt x="426412" y="488950"/>
                  <a:pt x="349250" y="488950"/>
                </a:cubicBezTo>
                <a:lnTo>
                  <a:pt x="34925" y="488950"/>
                </a:lnTo>
                <a:cubicBezTo>
                  <a:pt x="15607" y="488950"/>
                  <a:pt x="0" y="504557"/>
                  <a:pt x="0" y="523875"/>
                </a:cubicBezTo>
                <a:cubicBezTo>
                  <a:pt x="0" y="543193"/>
                  <a:pt x="15607" y="558800"/>
                  <a:pt x="34925" y="558800"/>
                </a:cubicBezTo>
                <a:lnTo>
                  <a:pt x="523875" y="558800"/>
                </a:lnTo>
                <a:cubicBezTo>
                  <a:pt x="543193" y="558800"/>
                  <a:pt x="558800" y="543193"/>
                  <a:pt x="558800" y="523875"/>
                </a:cubicBezTo>
                <a:cubicBezTo>
                  <a:pt x="558800" y="504557"/>
                  <a:pt x="543193" y="488950"/>
                  <a:pt x="523875" y="488950"/>
                </a:cubicBezTo>
                <a:lnTo>
                  <a:pt x="505430" y="488950"/>
                </a:lnTo>
                <a:cubicBezTo>
                  <a:pt x="538609" y="451842"/>
                  <a:pt x="558800" y="402947"/>
                  <a:pt x="558800" y="349250"/>
                </a:cubicBezTo>
                <a:cubicBezTo>
                  <a:pt x="558800" y="233561"/>
                  <a:pt x="464939" y="139700"/>
                  <a:pt x="349250" y="139700"/>
                </a:cubicBezTo>
                <a:lnTo>
                  <a:pt x="314325" y="139700"/>
                </a:lnTo>
                <a:lnTo>
                  <a:pt x="314325" y="52388"/>
                </a:lnTo>
                <a:cubicBezTo>
                  <a:pt x="314325" y="23465"/>
                  <a:pt x="290860" y="0"/>
                  <a:pt x="261938" y="0"/>
                </a:cubicBezTo>
                <a:lnTo>
                  <a:pt x="192088" y="0"/>
                </a:lnTo>
                <a:close/>
                <a:moveTo>
                  <a:pt x="130969" y="384175"/>
                </a:moveTo>
                <a:cubicBezTo>
                  <a:pt x="116453" y="384175"/>
                  <a:pt x="104775" y="395853"/>
                  <a:pt x="104775" y="410369"/>
                </a:cubicBezTo>
                <a:cubicBezTo>
                  <a:pt x="104775" y="424884"/>
                  <a:pt x="116453" y="436563"/>
                  <a:pt x="130969" y="436563"/>
                </a:cubicBezTo>
                <a:lnTo>
                  <a:pt x="323056" y="436563"/>
                </a:lnTo>
                <a:cubicBezTo>
                  <a:pt x="337572" y="436563"/>
                  <a:pt x="349250" y="424884"/>
                  <a:pt x="349250" y="410369"/>
                </a:cubicBezTo>
                <a:cubicBezTo>
                  <a:pt x="349250" y="395853"/>
                  <a:pt x="337572" y="384175"/>
                  <a:pt x="323056" y="384175"/>
                </a:cubicBezTo>
                <a:lnTo>
                  <a:pt x="130969" y="384175"/>
                </a:lnTo>
                <a:close/>
              </a:path>
            </a:pathLst>
          </a:custGeom>
          <a:solidFill>
            <a:srgbClr val="0077B6"/>
          </a:solidFill>
          <a:ln/>
        </p:spPr>
      </p:sp>
      <p:sp>
        <p:nvSpPr>
          <p:cNvPr id="22" name="Text 20"/>
          <p:cNvSpPr/>
          <p:nvPr/>
        </p:nvSpPr>
        <p:spPr>
          <a:xfrm>
            <a:off x="2095500" y="39116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PP — Production Planning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095500" y="42672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 test scheduling and diagnostic workflow planning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095500" y="45720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7890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SOP creation → MRP run → Production order management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16000" y="5080000"/>
            <a:ext cx="1422400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59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16000" y="5080000"/>
            <a:ext cx="101600" cy="114300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27" name="Shape 25"/>
          <p:cNvSpPr/>
          <p:nvPr/>
        </p:nvSpPr>
        <p:spPr>
          <a:xfrm>
            <a:off x="1333500" y="53086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139700" y="104775"/>
                </a:moveTo>
                <a:lnTo>
                  <a:pt x="139700" y="87313"/>
                </a:lnTo>
                <a:cubicBezTo>
                  <a:pt x="139700" y="39072"/>
                  <a:pt x="233561" y="0"/>
                  <a:pt x="349250" y="0"/>
                </a:cubicBezTo>
                <a:cubicBezTo>
                  <a:pt x="464939" y="0"/>
                  <a:pt x="558800" y="39072"/>
                  <a:pt x="558800" y="87313"/>
                </a:cubicBezTo>
                <a:lnTo>
                  <a:pt x="558800" y="104775"/>
                </a:lnTo>
                <a:cubicBezTo>
                  <a:pt x="558800" y="138172"/>
                  <a:pt x="513725" y="167203"/>
                  <a:pt x="447477" y="181937"/>
                </a:cubicBezTo>
                <a:cubicBezTo>
                  <a:pt x="444857" y="178881"/>
                  <a:pt x="442129" y="175935"/>
                  <a:pt x="439400" y="173206"/>
                </a:cubicBezTo>
                <a:cubicBezTo>
                  <a:pt x="422483" y="156508"/>
                  <a:pt x="400655" y="143847"/>
                  <a:pt x="377845" y="134461"/>
                </a:cubicBezTo>
                <a:cubicBezTo>
                  <a:pt x="332115" y="115362"/>
                  <a:pt x="272524" y="104884"/>
                  <a:pt x="209550" y="104884"/>
                </a:cubicBezTo>
                <a:cubicBezTo>
                  <a:pt x="185648" y="104884"/>
                  <a:pt x="162292" y="106412"/>
                  <a:pt x="139918" y="109359"/>
                </a:cubicBezTo>
                <a:cubicBezTo>
                  <a:pt x="139700" y="107940"/>
                  <a:pt x="139700" y="106412"/>
                  <a:pt x="139700" y="104884"/>
                </a:cubicBezTo>
                <a:close/>
                <a:moveTo>
                  <a:pt x="471488" y="385266"/>
                </a:moveTo>
                <a:lnTo>
                  <a:pt x="471488" y="334843"/>
                </a:lnTo>
                <a:cubicBezTo>
                  <a:pt x="487968" y="330587"/>
                  <a:pt x="503466" y="325566"/>
                  <a:pt x="517545" y="319673"/>
                </a:cubicBezTo>
                <a:cubicBezTo>
                  <a:pt x="531951" y="313670"/>
                  <a:pt x="546031" y="306358"/>
                  <a:pt x="558800" y="297517"/>
                </a:cubicBezTo>
                <a:lnTo>
                  <a:pt x="558800" y="314325"/>
                </a:lnTo>
                <a:cubicBezTo>
                  <a:pt x="558800" y="343575"/>
                  <a:pt x="524421" y="369441"/>
                  <a:pt x="471488" y="385266"/>
                </a:cubicBezTo>
                <a:close/>
                <a:moveTo>
                  <a:pt x="471488" y="280491"/>
                </a:moveTo>
                <a:lnTo>
                  <a:pt x="471488" y="244475"/>
                </a:lnTo>
                <a:cubicBezTo>
                  <a:pt x="471488" y="239564"/>
                  <a:pt x="471051" y="234871"/>
                  <a:pt x="470396" y="230287"/>
                </a:cubicBezTo>
                <a:cubicBezTo>
                  <a:pt x="487313" y="226030"/>
                  <a:pt x="503138" y="220901"/>
                  <a:pt x="517545" y="214789"/>
                </a:cubicBezTo>
                <a:cubicBezTo>
                  <a:pt x="531951" y="208677"/>
                  <a:pt x="546031" y="201474"/>
                  <a:pt x="558800" y="192633"/>
                </a:cubicBezTo>
                <a:lnTo>
                  <a:pt x="558800" y="209441"/>
                </a:lnTo>
                <a:cubicBezTo>
                  <a:pt x="558800" y="238691"/>
                  <a:pt x="524421" y="264557"/>
                  <a:pt x="471488" y="280382"/>
                </a:cubicBezTo>
                <a:close/>
                <a:moveTo>
                  <a:pt x="0" y="261938"/>
                </a:moveTo>
                <a:lnTo>
                  <a:pt x="0" y="244475"/>
                </a:lnTo>
                <a:cubicBezTo>
                  <a:pt x="0" y="196235"/>
                  <a:pt x="93861" y="157163"/>
                  <a:pt x="209550" y="157163"/>
                </a:cubicBezTo>
                <a:cubicBezTo>
                  <a:pt x="325239" y="157163"/>
                  <a:pt x="419100" y="196235"/>
                  <a:pt x="419100" y="244475"/>
                </a:cubicBezTo>
                <a:lnTo>
                  <a:pt x="419100" y="261938"/>
                </a:lnTo>
                <a:cubicBezTo>
                  <a:pt x="419100" y="310178"/>
                  <a:pt x="325239" y="349250"/>
                  <a:pt x="209550" y="349250"/>
                </a:cubicBezTo>
                <a:cubicBezTo>
                  <a:pt x="93861" y="349250"/>
                  <a:pt x="0" y="310178"/>
                  <a:pt x="0" y="261938"/>
                </a:cubicBezTo>
                <a:close/>
                <a:moveTo>
                  <a:pt x="419100" y="366713"/>
                </a:moveTo>
                <a:cubicBezTo>
                  <a:pt x="419100" y="414953"/>
                  <a:pt x="325239" y="454025"/>
                  <a:pt x="209550" y="454025"/>
                </a:cubicBezTo>
                <a:cubicBezTo>
                  <a:pt x="93861" y="454025"/>
                  <a:pt x="0" y="414953"/>
                  <a:pt x="0" y="366713"/>
                </a:cubicBezTo>
                <a:lnTo>
                  <a:pt x="0" y="349905"/>
                </a:lnTo>
                <a:cubicBezTo>
                  <a:pt x="12660" y="358745"/>
                  <a:pt x="26739" y="365949"/>
                  <a:pt x="41255" y="372060"/>
                </a:cubicBezTo>
                <a:cubicBezTo>
                  <a:pt x="86985" y="391160"/>
                  <a:pt x="146576" y="401638"/>
                  <a:pt x="209550" y="401638"/>
                </a:cubicBezTo>
                <a:cubicBezTo>
                  <a:pt x="272524" y="401638"/>
                  <a:pt x="332115" y="391051"/>
                  <a:pt x="377845" y="372060"/>
                </a:cubicBezTo>
                <a:cubicBezTo>
                  <a:pt x="392251" y="366058"/>
                  <a:pt x="406331" y="358745"/>
                  <a:pt x="419100" y="349905"/>
                </a:cubicBezTo>
                <a:lnTo>
                  <a:pt x="419100" y="366713"/>
                </a:lnTo>
                <a:close/>
                <a:moveTo>
                  <a:pt x="419100" y="454680"/>
                </a:moveTo>
                <a:lnTo>
                  <a:pt x="419100" y="471488"/>
                </a:lnTo>
                <a:cubicBezTo>
                  <a:pt x="419100" y="519728"/>
                  <a:pt x="325239" y="558800"/>
                  <a:pt x="209550" y="558800"/>
                </a:cubicBezTo>
                <a:cubicBezTo>
                  <a:pt x="93861" y="558800"/>
                  <a:pt x="0" y="519728"/>
                  <a:pt x="0" y="471488"/>
                </a:cubicBezTo>
                <a:lnTo>
                  <a:pt x="0" y="454680"/>
                </a:lnTo>
                <a:cubicBezTo>
                  <a:pt x="12660" y="463520"/>
                  <a:pt x="26739" y="470724"/>
                  <a:pt x="41255" y="476835"/>
                </a:cubicBezTo>
                <a:cubicBezTo>
                  <a:pt x="86985" y="495935"/>
                  <a:pt x="146576" y="506413"/>
                  <a:pt x="209550" y="506413"/>
                </a:cubicBezTo>
                <a:cubicBezTo>
                  <a:pt x="272524" y="506413"/>
                  <a:pt x="332115" y="495826"/>
                  <a:pt x="377845" y="476835"/>
                </a:cubicBezTo>
                <a:cubicBezTo>
                  <a:pt x="392251" y="470833"/>
                  <a:pt x="406331" y="463520"/>
                  <a:pt x="419100" y="454680"/>
                </a:cubicBezTo>
                <a:close/>
              </a:path>
            </a:pathLst>
          </a:custGeom>
          <a:solidFill>
            <a:srgbClr val="0A1F44"/>
          </a:solidFill>
          <a:ln/>
        </p:spPr>
      </p:sp>
      <p:sp>
        <p:nvSpPr>
          <p:cNvPr id="28" name="Text 26"/>
          <p:cNvSpPr/>
          <p:nvPr/>
        </p:nvSpPr>
        <p:spPr>
          <a:xfrm>
            <a:off x="2095500" y="51816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FICO — Finance &amp; Controlling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095500" y="55372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Financial accounting, cost tracking, and reporting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2095500" y="58420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7890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Revenue posting → Payment processing → Financial reports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016000" y="6350000"/>
            <a:ext cx="1422400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59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16000" y="6350000"/>
            <a:ext cx="101600" cy="1143000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33" name="Shape 31"/>
          <p:cNvSpPr/>
          <p:nvPr/>
        </p:nvSpPr>
        <p:spPr>
          <a:xfrm>
            <a:off x="1263650" y="6578600"/>
            <a:ext cx="698500" cy="558800"/>
          </a:xfrm>
          <a:custGeom>
            <a:avLst/>
            <a:gdLst/>
            <a:ahLst/>
            <a:cxnLst/>
            <a:rect l="l" t="t" r="r" b="b"/>
            <a:pathLst>
              <a:path w="698500" h="558800">
                <a:moveTo>
                  <a:pt x="349250" y="17463"/>
                </a:moveTo>
                <a:cubicBezTo>
                  <a:pt x="411896" y="17463"/>
                  <a:pt x="462756" y="68323"/>
                  <a:pt x="462756" y="130969"/>
                </a:cubicBezTo>
                <a:cubicBezTo>
                  <a:pt x="462756" y="193615"/>
                  <a:pt x="411896" y="244475"/>
                  <a:pt x="349250" y="244475"/>
                </a:cubicBezTo>
                <a:cubicBezTo>
                  <a:pt x="286604" y="244475"/>
                  <a:pt x="235744" y="193615"/>
                  <a:pt x="235744" y="130969"/>
                </a:cubicBezTo>
                <a:cubicBezTo>
                  <a:pt x="235744" y="68323"/>
                  <a:pt x="286604" y="17463"/>
                  <a:pt x="349250" y="17463"/>
                </a:cubicBezTo>
                <a:close/>
                <a:moveTo>
                  <a:pt x="104775" y="96044"/>
                </a:moveTo>
                <a:cubicBezTo>
                  <a:pt x="148145" y="96044"/>
                  <a:pt x="183356" y="131255"/>
                  <a:pt x="183356" y="174625"/>
                </a:cubicBezTo>
                <a:cubicBezTo>
                  <a:pt x="183356" y="217995"/>
                  <a:pt x="148145" y="253206"/>
                  <a:pt x="104775" y="253206"/>
                </a:cubicBezTo>
                <a:cubicBezTo>
                  <a:pt x="61405" y="253206"/>
                  <a:pt x="26194" y="217995"/>
                  <a:pt x="26194" y="174625"/>
                </a:cubicBezTo>
                <a:cubicBezTo>
                  <a:pt x="26194" y="131255"/>
                  <a:pt x="61405" y="96044"/>
                  <a:pt x="104775" y="96044"/>
                </a:cubicBezTo>
                <a:close/>
                <a:moveTo>
                  <a:pt x="0" y="454025"/>
                </a:moveTo>
                <a:cubicBezTo>
                  <a:pt x="0" y="376863"/>
                  <a:pt x="62538" y="314325"/>
                  <a:pt x="139700" y="314325"/>
                </a:cubicBezTo>
                <a:cubicBezTo>
                  <a:pt x="153670" y="314325"/>
                  <a:pt x="167203" y="316399"/>
                  <a:pt x="179973" y="320219"/>
                </a:cubicBezTo>
                <a:cubicBezTo>
                  <a:pt x="144066" y="360382"/>
                  <a:pt x="122238" y="413425"/>
                  <a:pt x="122238" y="471488"/>
                </a:cubicBezTo>
                <a:lnTo>
                  <a:pt x="122238" y="488950"/>
                </a:lnTo>
                <a:cubicBezTo>
                  <a:pt x="122238" y="501392"/>
                  <a:pt x="124857" y="513179"/>
                  <a:pt x="129550" y="523875"/>
                </a:cubicBezTo>
                <a:lnTo>
                  <a:pt x="34925" y="523875"/>
                </a:lnTo>
                <a:cubicBezTo>
                  <a:pt x="15607" y="523875"/>
                  <a:pt x="0" y="508268"/>
                  <a:pt x="0" y="488950"/>
                </a:cubicBezTo>
                <a:lnTo>
                  <a:pt x="0" y="454025"/>
                </a:lnTo>
                <a:close/>
                <a:moveTo>
                  <a:pt x="568950" y="523875"/>
                </a:moveTo>
                <a:cubicBezTo>
                  <a:pt x="573643" y="513179"/>
                  <a:pt x="576262" y="501392"/>
                  <a:pt x="576262" y="488950"/>
                </a:cubicBezTo>
                <a:lnTo>
                  <a:pt x="576262" y="471488"/>
                </a:lnTo>
                <a:cubicBezTo>
                  <a:pt x="576262" y="413425"/>
                  <a:pt x="554434" y="360382"/>
                  <a:pt x="518527" y="320219"/>
                </a:cubicBezTo>
                <a:cubicBezTo>
                  <a:pt x="531297" y="316399"/>
                  <a:pt x="544830" y="314325"/>
                  <a:pt x="558800" y="314325"/>
                </a:cubicBezTo>
                <a:cubicBezTo>
                  <a:pt x="635962" y="314325"/>
                  <a:pt x="698500" y="376863"/>
                  <a:pt x="698500" y="454025"/>
                </a:cubicBezTo>
                <a:lnTo>
                  <a:pt x="698500" y="488950"/>
                </a:lnTo>
                <a:cubicBezTo>
                  <a:pt x="698500" y="508268"/>
                  <a:pt x="682893" y="523875"/>
                  <a:pt x="663575" y="523875"/>
                </a:cubicBezTo>
                <a:lnTo>
                  <a:pt x="568950" y="523875"/>
                </a:lnTo>
                <a:close/>
                <a:moveTo>
                  <a:pt x="515144" y="174625"/>
                </a:moveTo>
                <a:cubicBezTo>
                  <a:pt x="515144" y="131255"/>
                  <a:pt x="550355" y="96044"/>
                  <a:pt x="593725" y="96044"/>
                </a:cubicBezTo>
                <a:cubicBezTo>
                  <a:pt x="637095" y="96044"/>
                  <a:pt x="672306" y="131255"/>
                  <a:pt x="672306" y="174625"/>
                </a:cubicBezTo>
                <a:cubicBezTo>
                  <a:pt x="672306" y="217995"/>
                  <a:pt x="637095" y="253206"/>
                  <a:pt x="593725" y="253206"/>
                </a:cubicBezTo>
                <a:cubicBezTo>
                  <a:pt x="550355" y="253206"/>
                  <a:pt x="515144" y="217995"/>
                  <a:pt x="515144" y="174625"/>
                </a:cubicBezTo>
                <a:close/>
                <a:moveTo>
                  <a:pt x="174625" y="471488"/>
                </a:moveTo>
                <a:cubicBezTo>
                  <a:pt x="174625" y="375007"/>
                  <a:pt x="252770" y="296863"/>
                  <a:pt x="349250" y="296863"/>
                </a:cubicBezTo>
                <a:cubicBezTo>
                  <a:pt x="445730" y="296863"/>
                  <a:pt x="523875" y="375007"/>
                  <a:pt x="523875" y="471488"/>
                </a:cubicBezTo>
                <a:lnTo>
                  <a:pt x="523875" y="488950"/>
                </a:lnTo>
                <a:cubicBezTo>
                  <a:pt x="523875" y="508268"/>
                  <a:pt x="508268" y="523875"/>
                  <a:pt x="488950" y="523875"/>
                </a:cubicBezTo>
                <a:lnTo>
                  <a:pt x="209550" y="523875"/>
                </a:lnTo>
                <a:cubicBezTo>
                  <a:pt x="190232" y="523875"/>
                  <a:pt x="174625" y="508268"/>
                  <a:pt x="174625" y="488950"/>
                </a:cubicBezTo>
                <a:lnTo>
                  <a:pt x="174625" y="471488"/>
                </a:lnTo>
                <a:close/>
              </a:path>
            </a:pathLst>
          </a:custGeom>
          <a:solidFill>
            <a:srgbClr val="546E7A"/>
          </a:solidFill>
          <a:ln/>
        </p:spPr>
      </p:sp>
      <p:sp>
        <p:nvSpPr>
          <p:cNvPr id="34" name="Text 32"/>
          <p:cNvSpPr/>
          <p:nvPr/>
        </p:nvSpPr>
        <p:spPr>
          <a:xfrm>
            <a:off x="2095500" y="64516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HR — Human Resources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2095500" y="68072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Staff management, payroll, workforce administration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2095500" y="71120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7890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Employee records → Attendance → Role management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0A1F44"/>
            </a:solidFill>
            <a:prstDash val="solid"/>
            <a:headEnd type="none"/>
            <a:tailEnd type="none"/>
          </a:ln>
        </p:spPr>
      </p:sp>
      <p:sp>
        <p:nvSpPr>
          <p:cNvPr id="38" name="Text 36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 / 19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00B4D8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101600"/>
            <a:ext cx="1346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MM Module — Materials Management: Full Procurement Cycle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30000" y="774700"/>
            <a:ext cx="4318000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dirty="0">
                <a:solidFill>
                  <a:srgbClr val="90E0EF">
                    <a:alpha val="25098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SRM University AP | Hospital ERP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863600"/>
            <a:ext cx="762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Managing medicines &amp; equipment from vendor to stock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16000" y="1270000"/>
            <a:ext cx="2159000" cy="825500"/>
          </a:xfrm>
          <a:prstGeom prst="roundRect">
            <a:avLst>
              <a:gd name="adj" fmla="val 8000"/>
            </a:avLst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1270000"/>
            <a:ext cx="2159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175000" y="1651000"/>
            <a:ext cx="190500" cy="0"/>
          </a:xfrm>
          <a:prstGeom prst="straightConnector1">
            <a:avLst/>
          </a:prstGeom>
          <a:noFill/>
          <a:ln w="25400">
            <a:solidFill>
              <a:srgbClr val="00B4D8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3365500" y="1270000"/>
            <a:ext cx="2159000" cy="825500"/>
          </a:xfrm>
          <a:prstGeom prst="roundRect">
            <a:avLst>
              <a:gd name="adj" fmla="val 8000"/>
            </a:avLst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3365500" y="1270000"/>
            <a:ext cx="2159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Material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524500" y="1651000"/>
            <a:ext cx="190500" cy="0"/>
          </a:xfrm>
          <a:prstGeom prst="straightConnector1">
            <a:avLst/>
          </a:prstGeom>
          <a:noFill/>
          <a:ln w="25400">
            <a:solidFill>
              <a:srgbClr val="00B4D8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5715000" y="1270000"/>
            <a:ext cx="2159000" cy="825500"/>
          </a:xfrm>
          <a:prstGeom prst="roundRect">
            <a:avLst>
              <a:gd name="adj" fmla="val 8000"/>
            </a:avLst>
          </a:prstGeom>
          <a:solidFill>
            <a:srgbClr val="0A1F44"/>
          </a:solidFill>
          <a:ln/>
        </p:spPr>
      </p:sp>
      <p:sp>
        <p:nvSpPr>
          <p:cNvPr id="14" name="Text 12"/>
          <p:cNvSpPr/>
          <p:nvPr/>
        </p:nvSpPr>
        <p:spPr>
          <a:xfrm>
            <a:off x="5715000" y="1270000"/>
            <a:ext cx="2159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Display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Stock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874000" y="1651000"/>
            <a:ext cx="190500" cy="0"/>
          </a:xfrm>
          <a:prstGeom prst="straightConnector1">
            <a:avLst/>
          </a:prstGeom>
          <a:noFill/>
          <a:ln w="25400">
            <a:solidFill>
              <a:srgbClr val="00B4D8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8064500" y="1270000"/>
            <a:ext cx="2159000" cy="825500"/>
          </a:xfrm>
          <a:prstGeom prst="roundRect">
            <a:avLst>
              <a:gd name="adj" fmla="val 8000"/>
            </a:avLst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8064500" y="1270000"/>
            <a:ext cx="2159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Purchase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Requisition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223500" y="1651000"/>
            <a:ext cx="190500" cy="0"/>
          </a:xfrm>
          <a:prstGeom prst="straightConnector1">
            <a:avLst/>
          </a:prstGeom>
          <a:noFill/>
          <a:ln w="25400">
            <a:solidFill>
              <a:srgbClr val="00B4D8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10414000" y="1270000"/>
            <a:ext cx="2159000" cy="825500"/>
          </a:xfrm>
          <a:prstGeom prst="roundRect">
            <a:avLst>
              <a:gd name="adj" fmla="val 8000"/>
            </a:avLst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10414000" y="1270000"/>
            <a:ext cx="2159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RFQ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2573000" y="1651000"/>
            <a:ext cx="190500" cy="0"/>
          </a:xfrm>
          <a:prstGeom prst="straightConnector1">
            <a:avLst/>
          </a:prstGeom>
          <a:noFill/>
          <a:ln w="25400">
            <a:solidFill>
              <a:srgbClr val="00B4D8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12763500" y="1270000"/>
            <a:ext cx="2476500" cy="825500"/>
          </a:xfrm>
          <a:prstGeom prst="roundRect">
            <a:avLst>
              <a:gd name="adj" fmla="val 8000"/>
            </a:avLst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12763500" y="1270000"/>
            <a:ext cx="2476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Quotation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28000" y="2095500"/>
            <a:ext cx="0" cy="254000"/>
          </a:xfrm>
          <a:prstGeom prst="straightConnector1">
            <a:avLst/>
          </a:prstGeom>
          <a:noFill/>
          <a:ln w="25400">
            <a:solidFill>
              <a:srgbClr val="0A1F44"/>
            </a:solidFill>
            <a:prstDash val="solid"/>
            <a:headEnd type="none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1016000" y="2349500"/>
            <a:ext cx="2159000" cy="825500"/>
          </a:xfrm>
          <a:prstGeom prst="roundRect">
            <a:avLst>
              <a:gd name="adj" fmla="val 8000"/>
            </a:avLst>
          </a:prstGeom>
          <a:solidFill>
            <a:srgbClr val="0A1F44"/>
          </a:solidFill>
          <a:ln/>
        </p:spPr>
      </p:sp>
      <p:sp>
        <p:nvSpPr>
          <p:cNvPr id="26" name="Text 24"/>
          <p:cNvSpPr/>
          <p:nvPr/>
        </p:nvSpPr>
        <p:spPr>
          <a:xfrm>
            <a:off x="1016000" y="2349500"/>
            <a:ext cx="2159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Bid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Evaluation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175000" y="2730500"/>
            <a:ext cx="190500" cy="0"/>
          </a:xfrm>
          <a:prstGeom prst="straightConnector1">
            <a:avLst/>
          </a:prstGeom>
          <a:noFill/>
          <a:ln w="25400">
            <a:solidFill>
              <a:srgbClr val="0A1F44"/>
            </a:solidFill>
            <a:prstDash val="solid"/>
            <a:headEnd type="none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3365500" y="2349500"/>
            <a:ext cx="2159000" cy="825500"/>
          </a:xfrm>
          <a:prstGeom prst="roundRect">
            <a:avLst>
              <a:gd name="adj" fmla="val 8000"/>
            </a:avLst>
          </a:pr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3365500" y="2349500"/>
            <a:ext cx="2159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Purchase Order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524500" y="2730500"/>
            <a:ext cx="190500" cy="0"/>
          </a:xfrm>
          <a:prstGeom prst="straightConnector1">
            <a:avLst/>
          </a:prstGeom>
          <a:noFill/>
          <a:ln w="25400">
            <a:solidFill>
              <a:srgbClr val="0A1F44"/>
            </a:solidFill>
            <a:prstDash val="solid"/>
            <a:headEnd type="none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5715000" y="2349500"/>
            <a:ext cx="2159000" cy="825500"/>
          </a:xfrm>
          <a:prstGeom prst="roundRect">
            <a:avLst>
              <a:gd name="adj" fmla="val 8000"/>
            </a:avLst>
          </a:prstGeom>
          <a:solidFill>
            <a:srgbClr val="0A1F44"/>
          </a:solidFill>
          <a:ln/>
        </p:spPr>
      </p:sp>
      <p:sp>
        <p:nvSpPr>
          <p:cNvPr id="32" name="Text 30"/>
          <p:cNvSpPr/>
          <p:nvPr/>
        </p:nvSpPr>
        <p:spPr>
          <a:xfrm>
            <a:off x="5715000" y="2349500"/>
            <a:ext cx="2159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 Goods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Receipt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874000" y="2730500"/>
            <a:ext cx="190500" cy="0"/>
          </a:xfrm>
          <a:prstGeom prst="straightConnector1">
            <a:avLst/>
          </a:prstGeom>
          <a:noFill/>
          <a:ln w="25400">
            <a:solidFill>
              <a:srgbClr val="0A1F44"/>
            </a:solidFill>
            <a:prstDash val="solid"/>
            <a:headEnd type="none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8064500" y="2349500"/>
            <a:ext cx="2159000" cy="825500"/>
          </a:xfrm>
          <a:prstGeom prst="roundRect">
            <a:avLst>
              <a:gd name="adj" fmla="val 8000"/>
            </a:avLst>
          </a:prstGeom>
          <a:solidFill>
            <a:srgbClr val="00B4D8"/>
          </a:solidFill>
          <a:ln/>
        </p:spPr>
      </p:sp>
      <p:sp>
        <p:nvSpPr>
          <p:cNvPr id="35" name="Text 33"/>
          <p:cNvSpPr/>
          <p:nvPr/>
        </p:nvSpPr>
        <p:spPr>
          <a:xfrm>
            <a:off x="8064500" y="2349500"/>
            <a:ext cx="2159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Supplier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Invoice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0223500" y="2730500"/>
            <a:ext cx="190500" cy="0"/>
          </a:xfrm>
          <a:prstGeom prst="straightConnector1">
            <a:avLst/>
          </a:prstGeom>
          <a:noFill/>
          <a:ln w="25400">
            <a:solidFill>
              <a:srgbClr val="0A1F44"/>
            </a:solidFill>
            <a:prstDash val="solid"/>
            <a:headEnd type="none"/>
            <a:tailEnd type="arrow"/>
          </a:ln>
        </p:spPr>
      </p:sp>
      <p:sp>
        <p:nvSpPr>
          <p:cNvPr id="37" name="Shape 35"/>
          <p:cNvSpPr/>
          <p:nvPr/>
        </p:nvSpPr>
        <p:spPr>
          <a:xfrm>
            <a:off x="10414000" y="2349500"/>
            <a:ext cx="2159000" cy="825500"/>
          </a:xfrm>
          <a:prstGeom prst="roundRect">
            <a:avLst>
              <a:gd name="adj" fmla="val 8000"/>
            </a:avLst>
          </a:prstGeom>
          <a:solidFill>
            <a:srgbClr val="00B4D8"/>
          </a:solidFill>
          <a:ln/>
        </p:spPr>
      </p:sp>
      <p:sp>
        <p:nvSpPr>
          <p:cNvPr id="38" name="Text 36"/>
          <p:cNvSpPr/>
          <p:nvPr/>
        </p:nvSpPr>
        <p:spPr>
          <a:xfrm>
            <a:off x="10414000" y="2349500"/>
            <a:ext cx="2159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Outgoing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Payment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2573000" y="2730500"/>
            <a:ext cx="190500" cy="0"/>
          </a:xfrm>
          <a:prstGeom prst="straightConnector1">
            <a:avLst/>
          </a:prstGeom>
          <a:noFill/>
          <a:ln w="25400">
            <a:solidFill>
              <a:srgbClr val="0A1F44"/>
            </a:solidFill>
            <a:prstDash val="solid"/>
            <a:headEnd type="none"/>
            <a:tailEnd type="arrow"/>
          </a:ln>
        </p:spPr>
      </p:sp>
      <p:sp>
        <p:nvSpPr>
          <p:cNvPr id="40" name="Shape 38"/>
          <p:cNvSpPr/>
          <p:nvPr/>
        </p:nvSpPr>
        <p:spPr>
          <a:xfrm>
            <a:off x="12763500" y="2349500"/>
            <a:ext cx="2476500" cy="82550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/>
        </p:spPr>
      </p:sp>
      <p:sp>
        <p:nvSpPr>
          <p:cNvPr id="41" name="Text 39"/>
          <p:cNvSpPr/>
          <p:nvPr/>
        </p:nvSpPr>
        <p:spPr>
          <a:xfrm>
            <a:off x="12763500" y="2349500"/>
            <a:ext cx="2476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 Stock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 Complete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016000" y="3403600"/>
            <a:ext cx="203200" cy="203200"/>
          </a:xfrm>
          <a:prstGeom prst="roundRect">
            <a:avLst>
              <a:gd name="adj" fmla="val 8000"/>
            </a:avLst>
          </a:prstGeom>
          <a:solidFill>
            <a:srgbClr val="00B4D8"/>
          </a:solidFill>
          <a:ln/>
        </p:spPr>
      </p:sp>
      <p:sp>
        <p:nvSpPr>
          <p:cNvPr id="43" name="Text 41"/>
          <p:cNvSpPr/>
          <p:nvPr/>
        </p:nvSpPr>
        <p:spPr>
          <a:xfrm>
            <a:off x="1295400" y="3378200"/>
            <a:ext cx="177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Purchasing Steps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302000" y="3403600"/>
            <a:ext cx="203200" cy="203200"/>
          </a:xfrm>
          <a:prstGeom prst="roundRect">
            <a:avLst>
              <a:gd name="adj" fmla="val 8000"/>
            </a:avLst>
          </a:prstGeom>
          <a:solidFill>
            <a:srgbClr val="0A1F44"/>
          </a:solidFill>
          <a:ln/>
        </p:spPr>
      </p:sp>
      <p:sp>
        <p:nvSpPr>
          <p:cNvPr id="45" name="Text 43"/>
          <p:cNvSpPr/>
          <p:nvPr/>
        </p:nvSpPr>
        <p:spPr>
          <a:xfrm>
            <a:off x="3581400" y="3378200"/>
            <a:ext cx="177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Inventory Steps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016000" y="3873500"/>
            <a:ext cx="4445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59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1270000" y="406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78594" y="42863"/>
                </a:moveTo>
                <a:lnTo>
                  <a:pt x="278606" y="42863"/>
                </a:lnTo>
                <a:cubicBezTo>
                  <a:pt x="282535" y="42863"/>
                  <a:pt x="285750" y="46077"/>
                  <a:pt x="285750" y="50006"/>
                </a:cubicBezTo>
                <a:lnTo>
                  <a:pt x="285750" y="85725"/>
                </a:lnTo>
                <a:lnTo>
                  <a:pt x="171450" y="85725"/>
                </a:lnTo>
                <a:lnTo>
                  <a:pt x="171450" y="50006"/>
                </a:lnTo>
                <a:cubicBezTo>
                  <a:pt x="171450" y="46077"/>
                  <a:pt x="174665" y="42863"/>
                  <a:pt x="178594" y="42863"/>
                </a:cubicBezTo>
                <a:close/>
                <a:moveTo>
                  <a:pt x="128588" y="50006"/>
                </a:moveTo>
                <a:lnTo>
                  <a:pt x="128588" y="85725"/>
                </a:lnTo>
                <a:lnTo>
                  <a:pt x="57150" y="85725"/>
                </a:lnTo>
                <a:cubicBezTo>
                  <a:pt x="25628" y="85725"/>
                  <a:pt x="0" y="111353"/>
                  <a:pt x="0" y="142875"/>
                </a:cubicBezTo>
                <a:lnTo>
                  <a:pt x="0" y="228600"/>
                </a:lnTo>
                <a:lnTo>
                  <a:pt x="457200" y="228600"/>
                </a:lnTo>
                <a:lnTo>
                  <a:pt x="457200" y="142875"/>
                </a:lnTo>
                <a:cubicBezTo>
                  <a:pt x="457200" y="111353"/>
                  <a:pt x="431572" y="85725"/>
                  <a:pt x="400050" y="85725"/>
                </a:cubicBezTo>
                <a:lnTo>
                  <a:pt x="328613" y="85725"/>
                </a:lnTo>
                <a:lnTo>
                  <a:pt x="328613" y="50006"/>
                </a:lnTo>
                <a:cubicBezTo>
                  <a:pt x="328613" y="22414"/>
                  <a:pt x="306199" y="0"/>
                  <a:pt x="278606" y="0"/>
                </a:cubicBezTo>
                <a:lnTo>
                  <a:pt x="178594" y="0"/>
                </a:lnTo>
                <a:cubicBezTo>
                  <a:pt x="151001" y="0"/>
                  <a:pt x="128588" y="22414"/>
                  <a:pt x="128588" y="50006"/>
                </a:cubicBezTo>
                <a:close/>
                <a:moveTo>
                  <a:pt x="457200" y="271463"/>
                </a:moveTo>
                <a:lnTo>
                  <a:pt x="285750" y="271463"/>
                </a:lnTo>
                <a:lnTo>
                  <a:pt x="285750" y="285750"/>
                </a:lnTo>
                <a:cubicBezTo>
                  <a:pt x="285750" y="301556"/>
                  <a:pt x="272981" y="314325"/>
                  <a:pt x="257175" y="314325"/>
                </a:cubicBezTo>
                <a:lnTo>
                  <a:pt x="200025" y="314325"/>
                </a:lnTo>
                <a:cubicBezTo>
                  <a:pt x="184219" y="314325"/>
                  <a:pt x="171450" y="301556"/>
                  <a:pt x="171450" y="285750"/>
                </a:cubicBezTo>
                <a:lnTo>
                  <a:pt x="171450" y="271463"/>
                </a:lnTo>
                <a:lnTo>
                  <a:pt x="0" y="271463"/>
                </a:lnTo>
                <a:lnTo>
                  <a:pt x="0" y="371475"/>
                </a:lnTo>
                <a:cubicBezTo>
                  <a:pt x="0" y="402997"/>
                  <a:pt x="25628" y="428625"/>
                  <a:pt x="57150" y="428625"/>
                </a:cubicBezTo>
                <a:lnTo>
                  <a:pt x="400050" y="428625"/>
                </a:lnTo>
                <a:cubicBezTo>
                  <a:pt x="431572" y="428625"/>
                  <a:pt x="457200" y="402997"/>
                  <a:pt x="457200" y="371475"/>
                </a:cubicBezTo>
                <a:lnTo>
                  <a:pt x="457200" y="271463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48" name="Text 46"/>
          <p:cNvSpPr/>
          <p:nvPr/>
        </p:nvSpPr>
        <p:spPr>
          <a:xfrm>
            <a:off x="1879600" y="4038600"/>
            <a:ext cx="3365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 Selection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879600" y="4381500"/>
            <a:ext cx="3365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Approved pharmaceutical &amp; equipment suppliers with verified credentials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715000" y="3873500"/>
            <a:ext cx="4445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59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997575" y="4064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329863" y="114300"/>
                </a:moveTo>
                <a:lnTo>
                  <a:pt x="299234" y="71438"/>
                </a:lnTo>
                <a:lnTo>
                  <a:pt x="100905" y="71438"/>
                </a:lnTo>
                <a:lnTo>
                  <a:pt x="70277" y="114300"/>
                </a:lnTo>
                <a:lnTo>
                  <a:pt x="329863" y="114300"/>
                </a:lnTo>
                <a:close/>
                <a:moveTo>
                  <a:pt x="0" y="132606"/>
                </a:moveTo>
                <a:cubicBezTo>
                  <a:pt x="0" y="120729"/>
                  <a:pt x="3750" y="109121"/>
                  <a:pt x="10626" y="99387"/>
                </a:cubicBezTo>
                <a:lnTo>
                  <a:pt x="54382" y="38219"/>
                </a:lnTo>
                <a:cubicBezTo>
                  <a:pt x="65097" y="23217"/>
                  <a:pt x="82421" y="14288"/>
                  <a:pt x="100816" y="14288"/>
                </a:cubicBezTo>
                <a:lnTo>
                  <a:pt x="299145" y="14288"/>
                </a:lnTo>
                <a:cubicBezTo>
                  <a:pt x="317629" y="14288"/>
                  <a:pt x="334953" y="23217"/>
                  <a:pt x="345668" y="38219"/>
                </a:cubicBezTo>
                <a:lnTo>
                  <a:pt x="389334" y="99387"/>
                </a:lnTo>
                <a:cubicBezTo>
                  <a:pt x="396300" y="109121"/>
                  <a:pt x="399961" y="120729"/>
                  <a:pt x="399961" y="132606"/>
                </a:cubicBezTo>
                <a:lnTo>
                  <a:pt x="400050" y="371475"/>
                </a:lnTo>
                <a:cubicBezTo>
                  <a:pt x="400050" y="402997"/>
                  <a:pt x="374422" y="428625"/>
                  <a:pt x="342900" y="428625"/>
                </a:cubicBezTo>
                <a:lnTo>
                  <a:pt x="57150" y="428625"/>
                </a:lnTo>
                <a:cubicBezTo>
                  <a:pt x="25628" y="428625"/>
                  <a:pt x="0" y="402997"/>
                  <a:pt x="0" y="371475"/>
                </a:cubicBezTo>
                <a:lnTo>
                  <a:pt x="0" y="132606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52" name="Text 50"/>
          <p:cNvSpPr/>
          <p:nvPr/>
        </p:nvSpPr>
        <p:spPr>
          <a:xfrm>
            <a:off x="6578600" y="4038600"/>
            <a:ext cx="3365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Purchase &amp; Receipt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578600" y="4381500"/>
            <a:ext cx="3365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Streamlined PO with automated goods receipt and quality check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0414000" y="3873500"/>
            <a:ext cx="4826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59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10668000" y="406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28714" y="171450"/>
                </a:moveTo>
                <a:lnTo>
                  <a:pt x="435769" y="171450"/>
                </a:lnTo>
                <a:cubicBezTo>
                  <a:pt x="447645" y="171450"/>
                  <a:pt x="457200" y="161895"/>
                  <a:pt x="457200" y="150019"/>
                </a:cubicBezTo>
                <a:lnTo>
                  <a:pt x="457200" y="21431"/>
                </a:lnTo>
                <a:cubicBezTo>
                  <a:pt x="457200" y="12769"/>
                  <a:pt x="452021" y="4911"/>
                  <a:pt x="443984" y="1607"/>
                </a:cubicBezTo>
                <a:cubicBezTo>
                  <a:pt x="435947" y="-1697"/>
                  <a:pt x="426750" y="179"/>
                  <a:pt x="420588" y="6251"/>
                </a:cubicBezTo>
                <a:lnTo>
                  <a:pt x="374422" y="52507"/>
                </a:lnTo>
                <a:cubicBezTo>
                  <a:pt x="334863" y="19735"/>
                  <a:pt x="283964" y="0"/>
                  <a:pt x="228600" y="0"/>
                </a:cubicBezTo>
                <a:cubicBezTo>
                  <a:pt x="113407" y="0"/>
                  <a:pt x="18127" y="85189"/>
                  <a:pt x="2322" y="196007"/>
                </a:cubicBezTo>
                <a:cubicBezTo>
                  <a:pt x="89" y="211634"/>
                  <a:pt x="10894" y="226100"/>
                  <a:pt x="26521" y="228332"/>
                </a:cubicBezTo>
                <a:cubicBezTo>
                  <a:pt x="42148" y="230565"/>
                  <a:pt x="56614" y="219670"/>
                  <a:pt x="58847" y="204133"/>
                </a:cubicBezTo>
                <a:cubicBezTo>
                  <a:pt x="70723" y="120997"/>
                  <a:pt x="142250" y="57150"/>
                  <a:pt x="228600" y="57150"/>
                </a:cubicBezTo>
                <a:cubicBezTo>
                  <a:pt x="268248" y="57150"/>
                  <a:pt x="304681" y="70545"/>
                  <a:pt x="333702" y="93137"/>
                </a:cubicBezTo>
                <a:lnTo>
                  <a:pt x="292001" y="134838"/>
                </a:lnTo>
                <a:cubicBezTo>
                  <a:pt x="285839" y="141000"/>
                  <a:pt x="284053" y="150197"/>
                  <a:pt x="287357" y="158234"/>
                </a:cubicBezTo>
                <a:cubicBezTo>
                  <a:pt x="290661" y="166271"/>
                  <a:pt x="298519" y="171450"/>
                  <a:pt x="307181" y="171450"/>
                </a:cubicBezTo>
                <a:lnTo>
                  <a:pt x="428714" y="171450"/>
                </a:lnTo>
                <a:close/>
                <a:moveTo>
                  <a:pt x="454968" y="261193"/>
                </a:moveTo>
                <a:cubicBezTo>
                  <a:pt x="457200" y="245566"/>
                  <a:pt x="446306" y="231100"/>
                  <a:pt x="430768" y="228868"/>
                </a:cubicBezTo>
                <a:cubicBezTo>
                  <a:pt x="415230" y="226635"/>
                  <a:pt x="400675" y="237530"/>
                  <a:pt x="398443" y="253067"/>
                </a:cubicBezTo>
                <a:cubicBezTo>
                  <a:pt x="386566" y="336113"/>
                  <a:pt x="315039" y="399961"/>
                  <a:pt x="228689" y="399961"/>
                </a:cubicBezTo>
                <a:cubicBezTo>
                  <a:pt x="189041" y="399961"/>
                  <a:pt x="152608" y="386566"/>
                  <a:pt x="123587" y="363974"/>
                </a:cubicBezTo>
                <a:lnTo>
                  <a:pt x="165199" y="322362"/>
                </a:lnTo>
                <a:cubicBezTo>
                  <a:pt x="171361" y="316200"/>
                  <a:pt x="173147" y="307003"/>
                  <a:pt x="169843" y="298966"/>
                </a:cubicBezTo>
                <a:cubicBezTo>
                  <a:pt x="166539" y="290929"/>
                  <a:pt x="158681" y="285750"/>
                  <a:pt x="150019" y="285750"/>
                </a:cubicBezTo>
                <a:lnTo>
                  <a:pt x="21431" y="285750"/>
                </a:lnTo>
                <a:cubicBezTo>
                  <a:pt x="9555" y="285750"/>
                  <a:pt x="0" y="295305"/>
                  <a:pt x="0" y="307181"/>
                </a:cubicBezTo>
                <a:lnTo>
                  <a:pt x="0" y="435769"/>
                </a:lnTo>
                <a:cubicBezTo>
                  <a:pt x="0" y="444431"/>
                  <a:pt x="5179" y="452289"/>
                  <a:pt x="13216" y="455593"/>
                </a:cubicBezTo>
                <a:cubicBezTo>
                  <a:pt x="21253" y="458897"/>
                  <a:pt x="30450" y="457021"/>
                  <a:pt x="36612" y="450949"/>
                </a:cubicBezTo>
                <a:lnTo>
                  <a:pt x="82867" y="404693"/>
                </a:lnTo>
                <a:cubicBezTo>
                  <a:pt x="122337" y="437465"/>
                  <a:pt x="173236" y="457200"/>
                  <a:pt x="228600" y="457200"/>
                </a:cubicBezTo>
                <a:cubicBezTo>
                  <a:pt x="343793" y="457200"/>
                  <a:pt x="439073" y="372011"/>
                  <a:pt x="454878" y="261193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56" name="Text 54"/>
          <p:cNvSpPr/>
          <p:nvPr/>
        </p:nvSpPr>
        <p:spPr>
          <a:xfrm>
            <a:off x="11277600" y="4038600"/>
            <a:ext cx="3746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 Stock Updates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1277600" y="4381500"/>
            <a:ext cx="374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Inventory auto-adjusted as medicines are issued to patients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0A1F44"/>
            </a:solidFill>
            <a:prstDash val="solid"/>
            <a:headEnd type="none"/>
            <a:tailEnd type="none"/>
          </a:ln>
        </p:spPr>
      </p:sp>
      <p:sp>
        <p:nvSpPr>
          <p:cNvPr id="59" name="Text 57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 / 19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00B4D8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101600"/>
            <a:ext cx="1346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SD Module — Sales &amp; Distribution: Patient Service Journey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30000" y="774700"/>
            <a:ext cx="4318000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dirty="0">
                <a:solidFill>
                  <a:srgbClr val="90E0EF">
                    <a:alpha val="25098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SRM University AP | Hospital ERP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863600"/>
            <a:ext cx="762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Patients = Customers | Hospital Services = Sales Items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16000" y="1270000"/>
            <a:ext cx="8890000" cy="66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6275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79500" y="1320800"/>
            <a:ext cx="558800" cy="5588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1079500" y="13208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78000" y="13081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Create Customer (Patient)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78000" y="1600200"/>
            <a:ext cx="787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7890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Register patient as customer with personal &amp; billing details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16000" y="2032000"/>
            <a:ext cx="8890000" cy="66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6275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79500" y="2082800"/>
            <a:ext cx="558800" cy="5588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1079500" y="20828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78000" y="20701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Create Contact Person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78000" y="2362200"/>
            <a:ext cx="787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7890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Add next-of-kin / authorized contact linked to patient record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16000" y="2794000"/>
            <a:ext cx="8890000" cy="66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6275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079500" y="2844800"/>
            <a:ext cx="558800" cy="5588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1079500" y="28448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778000" y="28321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Create Sales Inquiry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778000" y="3124200"/>
            <a:ext cx="787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7890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Capture patient's initial request for hospital services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16000" y="3556000"/>
            <a:ext cx="8890000" cy="66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6275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79500" y="3606800"/>
            <a:ext cx="558800" cy="5588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4" name="Text 22"/>
          <p:cNvSpPr/>
          <p:nvPr/>
        </p:nvSpPr>
        <p:spPr>
          <a:xfrm>
            <a:off x="1079500" y="36068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778000" y="35941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Create Sales Quotation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778000" y="3886200"/>
            <a:ext cx="787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7890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Generate estimate of treatment costs for patient approval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16000" y="4318000"/>
            <a:ext cx="8890000" cy="66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6275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079500" y="4368800"/>
            <a:ext cx="558800" cy="558800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29" name="Text 27"/>
          <p:cNvSpPr/>
          <p:nvPr/>
        </p:nvSpPr>
        <p:spPr>
          <a:xfrm>
            <a:off x="1079500" y="43688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778000" y="43561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Create Sales Order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778000" y="4648200"/>
            <a:ext cx="787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7890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Record confirmed services and treatment plan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016000" y="5080000"/>
            <a:ext cx="8890000" cy="66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6275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079500" y="5130800"/>
            <a:ext cx="558800" cy="558800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34" name="Text 32"/>
          <p:cNvSpPr/>
          <p:nvPr/>
        </p:nvSpPr>
        <p:spPr>
          <a:xfrm>
            <a:off x="1079500" y="51308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778000" y="51181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Manage Outbound Deliveries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778000" y="5410200"/>
            <a:ext cx="787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7890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Coordinate delivery of medicines / devices to patient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016000" y="5842000"/>
            <a:ext cx="8890000" cy="660400"/>
          </a:xfrm>
          <a:prstGeom prst="roundRect">
            <a:avLst>
              <a:gd name="adj" fmla="val 8000"/>
            </a:avLst>
          </a:prstGeom>
          <a:solidFill>
            <a:srgbClr val="0A1F44"/>
          </a:solidFill>
          <a:ln/>
          <a:effectLst>
            <a:outerShdw blurRad="76200" dist="25400" dir="5400000" algn="bl" rotWithShape="0">
              <a:srgbClr val="000000">
                <a:alpha val="8235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079500" y="5892800"/>
            <a:ext cx="558800" cy="558800"/>
          </a:xfrm>
          <a:prstGeom prst="ellipse">
            <a:avLst/>
          </a:prstGeom>
          <a:solidFill>
            <a:srgbClr val="0A1F44"/>
          </a:solidFill>
          <a:ln/>
        </p:spPr>
      </p:sp>
      <p:sp>
        <p:nvSpPr>
          <p:cNvPr id="39" name="Text 37"/>
          <p:cNvSpPr/>
          <p:nvPr/>
        </p:nvSpPr>
        <p:spPr>
          <a:xfrm>
            <a:off x="1079500" y="58928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778000" y="58801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Create Billing Documents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778000" y="6172200"/>
            <a:ext cx="787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90E0E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Generate itemized invoice for all services rendered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0414000" y="1270000"/>
            <a:ext cx="4826000" cy="5232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  <a:effectLst>
            <a:outerShdw blurRad="127000" dist="50800" dir="5400000" algn="bl" rotWithShape="0">
              <a:srgbClr val="000000">
                <a:alpha val="8235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10414000" y="1270000"/>
            <a:ext cx="4826000" cy="76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4" name="Shape 42"/>
          <p:cNvSpPr/>
          <p:nvPr/>
        </p:nvSpPr>
        <p:spPr>
          <a:xfrm>
            <a:off x="12319000" y="1651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666750" y="381000"/>
                </a:moveTo>
                <a:cubicBezTo>
                  <a:pt x="666750" y="223290"/>
                  <a:pt x="538710" y="95250"/>
                  <a:pt x="381000" y="95250"/>
                </a:cubicBezTo>
                <a:cubicBezTo>
                  <a:pt x="223290" y="95250"/>
                  <a:pt x="95250" y="223290"/>
                  <a:pt x="95250" y="381000"/>
                </a:cubicBezTo>
                <a:cubicBezTo>
                  <a:pt x="95250" y="538710"/>
                  <a:pt x="223290" y="666750"/>
                  <a:pt x="381000" y="666750"/>
                </a:cubicBezTo>
                <a:cubicBezTo>
                  <a:pt x="538710" y="666750"/>
                  <a:pt x="666750" y="538710"/>
                  <a:pt x="666750" y="381000"/>
                </a:cubicBezTo>
                <a:close/>
                <a:moveTo>
                  <a:pt x="0" y="381000"/>
                </a:moveTo>
                <a:cubicBezTo>
                  <a:pt x="0" y="170720"/>
                  <a:pt x="170720" y="0"/>
                  <a:pt x="381000" y="0"/>
                </a:cubicBezTo>
                <a:cubicBezTo>
                  <a:pt x="591280" y="0"/>
                  <a:pt x="762000" y="170720"/>
                  <a:pt x="762000" y="381000"/>
                </a:cubicBezTo>
                <a:cubicBezTo>
                  <a:pt x="762000" y="591280"/>
                  <a:pt x="591280" y="762000"/>
                  <a:pt x="381000" y="762000"/>
                </a:cubicBezTo>
                <a:cubicBezTo>
                  <a:pt x="170720" y="762000"/>
                  <a:pt x="0" y="591280"/>
                  <a:pt x="0" y="381000"/>
                </a:cubicBezTo>
                <a:close/>
                <a:moveTo>
                  <a:pt x="381000" y="500063"/>
                </a:moveTo>
                <a:cubicBezTo>
                  <a:pt x="446712" y="500063"/>
                  <a:pt x="500063" y="446712"/>
                  <a:pt x="500063" y="381000"/>
                </a:cubicBezTo>
                <a:cubicBezTo>
                  <a:pt x="500063" y="315288"/>
                  <a:pt x="446712" y="261938"/>
                  <a:pt x="381000" y="261938"/>
                </a:cubicBezTo>
                <a:cubicBezTo>
                  <a:pt x="315288" y="261938"/>
                  <a:pt x="261938" y="315288"/>
                  <a:pt x="261938" y="381000"/>
                </a:cubicBezTo>
                <a:cubicBezTo>
                  <a:pt x="261938" y="446712"/>
                  <a:pt x="315288" y="500063"/>
                  <a:pt x="381000" y="500063"/>
                </a:cubicBezTo>
                <a:close/>
                <a:moveTo>
                  <a:pt x="381000" y="166688"/>
                </a:moveTo>
                <a:cubicBezTo>
                  <a:pt x="499282" y="166688"/>
                  <a:pt x="595313" y="262718"/>
                  <a:pt x="595313" y="381000"/>
                </a:cubicBezTo>
                <a:cubicBezTo>
                  <a:pt x="595313" y="499282"/>
                  <a:pt x="499282" y="595313"/>
                  <a:pt x="381000" y="595313"/>
                </a:cubicBezTo>
                <a:cubicBezTo>
                  <a:pt x="262718" y="595313"/>
                  <a:pt x="166688" y="499282"/>
                  <a:pt x="166688" y="381000"/>
                </a:cubicBezTo>
                <a:cubicBezTo>
                  <a:pt x="166688" y="262718"/>
                  <a:pt x="262718" y="166688"/>
                  <a:pt x="381000" y="166688"/>
                </a:cubicBezTo>
                <a:close/>
                <a:moveTo>
                  <a:pt x="333375" y="381000"/>
                </a:moveTo>
                <a:cubicBezTo>
                  <a:pt x="333375" y="354715"/>
                  <a:pt x="354715" y="333375"/>
                  <a:pt x="381000" y="333375"/>
                </a:cubicBezTo>
                <a:cubicBezTo>
                  <a:pt x="407285" y="333375"/>
                  <a:pt x="428625" y="354715"/>
                  <a:pt x="428625" y="381000"/>
                </a:cubicBezTo>
                <a:cubicBezTo>
                  <a:pt x="428625" y="407285"/>
                  <a:pt x="407285" y="428625"/>
                  <a:pt x="381000" y="428625"/>
                </a:cubicBezTo>
                <a:cubicBezTo>
                  <a:pt x="354715" y="428625"/>
                  <a:pt x="333375" y="407285"/>
                  <a:pt x="333375" y="38100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45" name="Text 43"/>
          <p:cNvSpPr/>
          <p:nvPr/>
        </p:nvSpPr>
        <p:spPr>
          <a:xfrm>
            <a:off x="10668000" y="2603500"/>
            <a:ext cx="431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SD Outcome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0922000" y="3048000"/>
            <a:ext cx="3810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47" name="Text 45"/>
          <p:cNvSpPr/>
          <p:nvPr/>
        </p:nvSpPr>
        <p:spPr>
          <a:xfrm>
            <a:off x="10668000" y="3238500"/>
            <a:ext cx="4318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service correctly </a:t>
            </a:r>
            <a:r>
              <a:rPr lang="en-US" sz="16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captured and billed</a:t>
            </a:r>
            <a:endParaRPr lang="en-US" sz="1600" dirty="0"/>
          </a:p>
          <a:p>
            <a:pPr algn="ctr">
              <a:lnSpc>
                <a:spcPct val="16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 maximizing </a:t>
            </a:r>
            <a:r>
              <a:rPr lang="en-US" sz="1600" b="1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revenue</a:t>
            </a:r>
            <a:r>
              <a:rPr lang="en-US" sz="16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and </a:t>
            </a:r>
            <a:r>
              <a:rPr lang="en-US" sz="1600" b="1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 satisfaction</a:t>
            </a:r>
            <a:endParaRPr lang="en-US" sz="1600" dirty="0"/>
          </a:p>
          <a:p>
            <a:pPr algn="ctr">
              <a:lnSpc>
                <a:spcPct val="160000"/>
              </a:lnSpc>
              <a:spcBef>
                <a:spcPts val="2000"/>
              </a:spcBef>
            </a:pPr>
            <a:r>
              <a:rPr lang="en-US" sz="1400" dirty="0">
                <a:solidFill>
                  <a:srgbClr val="7890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Complete visibility from patient registration to final billing with automated revenue posting to FICO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0A1F44"/>
            </a:solidFill>
            <a:prstDash val="solid"/>
            <a:headEnd type="none"/>
            <a:tailEnd type="none"/>
          </a:ln>
        </p:spPr>
      </p:sp>
      <p:sp>
        <p:nvSpPr>
          <p:cNvPr id="49" name="Text 47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 / 19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00B4D8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101600"/>
            <a:ext cx="1346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PP Module — Production Planning: Lab &amp; Diagnostic Workflow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30000" y="774700"/>
            <a:ext cx="4318000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dirty="0">
                <a:solidFill>
                  <a:srgbClr val="90E0EF">
                    <a:alpha val="25098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SRM University AP | Hospital ERP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863600"/>
            <a:ext cx="889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PP adapted for healthcare — lab scheduling, diagnostics &amp; resource optimization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16000" y="1244600"/>
            <a:ext cx="1778000" cy="330200"/>
          </a:xfrm>
          <a:prstGeom prst="roundRect">
            <a:avLst>
              <a:gd name="adj" fmla="val 10000"/>
            </a:avLst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1244600"/>
            <a:ext cx="177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PLANNING PHASE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16000" y="1676400"/>
            <a:ext cx="2159000" cy="736600"/>
          </a:xfrm>
          <a:prstGeom prst="roundRect">
            <a:avLst>
              <a:gd name="adj" fmla="val 8000"/>
            </a:avLst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1676400"/>
            <a:ext cx="2159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Change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Material Master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175000" y="2032000"/>
            <a:ext cx="152400" cy="0"/>
          </a:xfrm>
          <a:prstGeom prst="straightConnector1">
            <a:avLst/>
          </a:prstGeom>
          <a:noFill/>
          <a:ln w="25400">
            <a:solidFill>
              <a:srgbClr val="00B4D8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3327400" y="1676400"/>
            <a:ext cx="1841500" cy="736600"/>
          </a:xfrm>
          <a:prstGeom prst="roundRect">
            <a:avLst>
              <a:gd name="adj" fmla="val 8000"/>
            </a:avLst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3327400" y="1676400"/>
            <a:ext cx="18415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Change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Routing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68900" y="2032000"/>
            <a:ext cx="152400" cy="0"/>
          </a:xfrm>
          <a:prstGeom prst="straightConnector1">
            <a:avLst/>
          </a:prstGeom>
          <a:noFill/>
          <a:ln w="25400">
            <a:solidFill>
              <a:srgbClr val="00B4D8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5321300" y="1676400"/>
            <a:ext cx="1841500" cy="736600"/>
          </a:xfrm>
          <a:prstGeom prst="roundRect">
            <a:avLst>
              <a:gd name="adj" fmla="val 8000"/>
            </a:avLst>
          </a:prstGeom>
          <a:solidFill>
            <a:srgbClr val="0A1F44"/>
          </a:solidFill>
          <a:ln/>
        </p:spPr>
      </p:sp>
      <p:sp>
        <p:nvSpPr>
          <p:cNvPr id="16" name="Text 14"/>
          <p:cNvSpPr/>
          <p:nvPr/>
        </p:nvSpPr>
        <p:spPr>
          <a:xfrm>
            <a:off x="5321300" y="1676400"/>
            <a:ext cx="18415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Display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Group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162800" y="2032000"/>
            <a:ext cx="152400" cy="0"/>
          </a:xfrm>
          <a:prstGeom prst="straightConnector1">
            <a:avLst/>
          </a:prstGeom>
          <a:noFill/>
          <a:ln w="25400">
            <a:solidFill>
              <a:srgbClr val="00B4D8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7315200" y="1676400"/>
            <a:ext cx="1651000" cy="736600"/>
          </a:xfrm>
          <a:prstGeom prst="roundRect">
            <a:avLst>
              <a:gd name="adj" fmla="val 8000"/>
            </a:avLst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0" y="1676400"/>
            <a:ext cx="1651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SOP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966200" y="2032000"/>
            <a:ext cx="152400" cy="0"/>
          </a:xfrm>
          <a:prstGeom prst="straightConnector1">
            <a:avLst/>
          </a:prstGeom>
          <a:noFill/>
          <a:ln w="25400">
            <a:solidFill>
              <a:srgbClr val="00B4D8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9118600" y="1676400"/>
            <a:ext cx="2159000" cy="736600"/>
          </a:xfrm>
          <a:prstGeom prst="roundRect">
            <a:avLst>
              <a:gd name="adj" fmla="val 8000"/>
            </a:avLst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9118600" y="1676400"/>
            <a:ext cx="2159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Transfer SOP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 Demand Mgmt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277600" y="2032000"/>
            <a:ext cx="152400" cy="0"/>
          </a:xfrm>
          <a:prstGeom prst="straightConnector1">
            <a:avLst/>
          </a:prstGeom>
          <a:noFill/>
          <a:ln w="25400">
            <a:solidFill>
              <a:srgbClr val="00B4D8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11430000" y="1676400"/>
            <a:ext cx="3810000" cy="736600"/>
          </a:xfrm>
          <a:prstGeom prst="roundRect">
            <a:avLst>
              <a:gd name="adj" fmla="val 8000"/>
            </a:avLst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0" y="1676400"/>
            <a:ext cx="381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Run MPS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with MRP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128000" y="2413000"/>
            <a:ext cx="0" cy="228600"/>
          </a:xfrm>
          <a:prstGeom prst="straightConnector1">
            <a:avLst/>
          </a:prstGeom>
          <a:noFill/>
          <a:ln w="25400">
            <a:solidFill>
              <a:srgbClr val="0A1F44"/>
            </a:solidFill>
            <a:prstDash val="solid"/>
            <a:headEnd type="none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1016000" y="2667000"/>
            <a:ext cx="2032000" cy="330200"/>
          </a:xfrm>
          <a:prstGeom prst="roundRect">
            <a:avLst>
              <a:gd name="adj" fmla="val 10000"/>
            </a:avLst>
          </a:prstGeom>
          <a:solidFill>
            <a:srgbClr val="0A1F44"/>
          </a:solidFill>
          <a:ln/>
        </p:spPr>
      </p:sp>
      <p:sp>
        <p:nvSpPr>
          <p:cNvPr id="28" name="Text 26"/>
          <p:cNvSpPr/>
          <p:nvPr/>
        </p:nvSpPr>
        <p:spPr>
          <a:xfrm>
            <a:off x="1016000" y="2667000"/>
            <a:ext cx="203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EXECUTION PHASE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16000" y="3098800"/>
            <a:ext cx="2159000" cy="736600"/>
          </a:xfrm>
          <a:prstGeom prst="roundRect">
            <a:avLst>
              <a:gd name="adj" fmla="val 8000"/>
            </a:avLst>
          </a:prstGeom>
          <a:solidFill>
            <a:srgbClr val="0A1F44"/>
          </a:solidFill>
          <a:ln/>
        </p:spPr>
      </p:sp>
      <p:sp>
        <p:nvSpPr>
          <p:cNvPr id="30" name="Text 28"/>
          <p:cNvSpPr/>
          <p:nvPr/>
        </p:nvSpPr>
        <p:spPr>
          <a:xfrm>
            <a:off x="1016000" y="3098800"/>
            <a:ext cx="2159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Review Stock /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Requirements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175000" y="3454400"/>
            <a:ext cx="152400" cy="0"/>
          </a:xfrm>
          <a:prstGeom prst="straightConnector1">
            <a:avLst/>
          </a:prstGeom>
          <a:noFill/>
          <a:ln w="25400">
            <a:solidFill>
              <a:srgbClr val="0A1F44"/>
            </a:solidFill>
            <a:prstDash val="solid"/>
            <a:headEnd type="none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3327400" y="3098800"/>
            <a:ext cx="2476500" cy="736600"/>
          </a:xfrm>
          <a:prstGeom prst="roundRect">
            <a:avLst>
              <a:gd name="adj" fmla="val 8000"/>
            </a:avLst>
          </a:prstGeom>
          <a:solidFill>
            <a:srgbClr val="00B4D8"/>
          </a:solidFill>
          <a:ln/>
        </p:spPr>
      </p:sp>
      <p:sp>
        <p:nvSpPr>
          <p:cNvPr id="33" name="Text 31"/>
          <p:cNvSpPr/>
          <p:nvPr/>
        </p:nvSpPr>
        <p:spPr>
          <a:xfrm>
            <a:off x="3327400" y="3098800"/>
            <a:ext cx="24765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Convert Planned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Order → Prod. Order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03900" y="3454400"/>
            <a:ext cx="152400" cy="0"/>
          </a:xfrm>
          <a:prstGeom prst="straightConnector1">
            <a:avLst/>
          </a:prstGeom>
          <a:noFill/>
          <a:ln w="25400">
            <a:solidFill>
              <a:srgbClr val="00B4D8"/>
            </a:solidFill>
            <a:prstDash val="solid"/>
            <a:headEnd type="none"/>
            <a:tailEnd type="arrow"/>
          </a:ln>
        </p:spPr>
      </p:sp>
      <p:sp>
        <p:nvSpPr>
          <p:cNvPr id="35" name="Shape 33"/>
          <p:cNvSpPr/>
          <p:nvPr/>
        </p:nvSpPr>
        <p:spPr>
          <a:xfrm>
            <a:off x="5956300" y="3098800"/>
            <a:ext cx="2159000" cy="736600"/>
          </a:xfrm>
          <a:prstGeom prst="roundRect">
            <a:avLst>
              <a:gd name="adj" fmla="val 8000"/>
            </a:avLst>
          </a:prstGeom>
          <a:solidFill>
            <a:srgbClr val="0A1F44"/>
          </a:solidFill>
          <a:ln/>
        </p:spPr>
      </p:sp>
      <p:sp>
        <p:nvSpPr>
          <p:cNvPr id="36" name="Text 34"/>
          <p:cNvSpPr/>
          <p:nvPr/>
        </p:nvSpPr>
        <p:spPr>
          <a:xfrm>
            <a:off x="5956300" y="3098800"/>
            <a:ext cx="2159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Receive Goods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Inventory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115300" y="3454400"/>
            <a:ext cx="152400" cy="0"/>
          </a:xfrm>
          <a:prstGeom prst="straightConnector1">
            <a:avLst/>
          </a:prstGeom>
          <a:noFill/>
          <a:ln w="25400">
            <a:solidFill>
              <a:srgbClr val="0A1F44"/>
            </a:solidFill>
            <a:prstDash val="solid"/>
            <a:headEnd type="none"/>
            <a:tailEnd type="arrow"/>
          </a:ln>
        </p:spPr>
      </p:sp>
      <p:sp>
        <p:nvSpPr>
          <p:cNvPr id="38" name="Shape 36"/>
          <p:cNvSpPr/>
          <p:nvPr/>
        </p:nvSpPr>
        <p:spPr>
          <a:xfrm>
            <a:off x="8267700" y="3098800"/>
            <a:ext cx="2159000" cy="736600"/>
          </a:xfrm>
          <a:prstGeom prst="roundRect">
            <a:avLst>
              <a:gd name="adj" fmla="val 8000"/>
            </a:avLst>
          </a:prstGeom>
          <a:solidFill>
            <a:srgbClr val="0A1F44"/>
          </a:solidFill>
          <a:ln/>
        </p:spPr>
      </p:sp>
      <p:sp>
        <p:nvSpPr>
          <p:cNvPr id="39" name="Text 37"/>
          <p:cNvSpPr/>
          <p:nvPr/>
        </p:nvSpPr>
        <p:spPr>
          <a:xfrm>
            <a:off x="8267700" y="3098800"/>
            <a:ext cx="2159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Issue Goods to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Production Order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0426700" y="3454400"/>
            <a:ext cx="152400" cy="0"/>
          </a:xfrm>
          <a:prstGeom prst="straightConnector1">
            <a:avLst/>
          </a:prstGeom>
          <a:noFill/>
          <a:ln w="25400">
            <a:solidFill>
              <a:srgbClr val="0A1F44"/>
            </a:solidFill>
            <a:prstDash val="solid"/>
            <a:headEnd type="none"/>
            <a:tailEnd type="arrow"/>
          </a:ln>
        </p:spPr>
      </p:sp>
      <p:sp>
        <p:nvSpPr>
          <p:cNvPr id="41" name="Shape 39"/>
          <p:cNvSpPr/>
          <p:nvPr/>
        </p:nvSpPr>
        <p:spPr>
          <a:xfrm>
            <a:off x="10579100" y="3098800"/>
            <a:ext cx="2159000" cy="736600"/>
          </a:xfrm>
          <a:prstGeom prst="roundRect">
            <a:avLst>
              <a:gd name="adj" fmla="val 8000"/>
            </a:avLst>
          </a:prstGeom>
          <a:solidFill>
            <a:srgbClr val="00B4D8"/>
          </a:solidFill>
          <a:ln/>
        </p:spPr>
      </p:sp>
      <p:sp>
        <p:nvSpPr>
          <p:cNvPr id="42" name="Text 40"/>
          <p:cNvSpPr/>
          <p:nvPr/>
        </p:nvSpPr>
        <p:spPr>
          <a:xfrm>
            <a:off x="10579100" y="3098800"/>
            <a:ext cx="2159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Confirm Production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Completion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2738100" y="3454400"/>
            <a:ext cx="152400" cy="0"/>
          </a:xfrm>
          <a:prstGeom prst="straightConnector1">
            <a:avLst/>
          </a:prstGeom>
          <a:noFill/>
          <a:ln w="25400">
            <a:solidFill>
              <a:srgbClr val="0A1F44"/>
            </a:solidFill>
            <a:prstDash val="solid"/>
            <a:headEnd type="none"/>
            <a:tailEnd type="arrow"/>
          </a:ln>
        </p:spPr>
      </p:sp>
      <p:sp>
        <p:nvSpPr>
          <p:cNvPr id="44" name="Shape 42"/>
          <p:cNvSpPr/>
          <p:nvPr/>
        </p:nvSpPr>
        <p:spPr>
          <a:xfrm>
            <a:off x="12890500" y="3098800"/>
            <a:ext cx="2349500" cy="73660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/>
        </p:spPr>
      </p:sp>
      <p:sp>
        <p:nvSpPr>
          <p:cNvPr id="45" name="Text 43"/>
          <p:cNvSpPr/>
          <p:nvPr/>
        </p:nvSpPr>
        <p:spPr>
          <a:xfrm>
            <a:off x="12890500" y="3098800"/>
            <a:ext cx="23495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Settle Costs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 Cost Center ✓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016000" y="4191000"/>
            <a:ext cx="4445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59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1270000" y="4381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57163" y="0"/>
                </a:moveTo>
                <a:cubicBezTo>
                  <a:pt x="133499" y="0"/>
                  <a:pt x="114300" y="19199"/>
                  <a:pt x="114300" y="42863"/>
                </a:cubicBezTo>
                <a:lnTo>
                  <a:pt x="114300" y="228600"/>
                </a:lnTo>
                <a:cubicBezTo>
                  <a:pt x="114300" y="252264"/>
                  <a:pt x="133499" y="271463"/>
                  <a:pt x="157163" y="271463"/>
                </a:cubicBezTo>
                <a:lnTo>
                  <a:pt x="214313" y="271463"/>
                </a:lnTo>
                <a:cubicBezTo>
                  <a:pt x="237976" y="271463"/>
                  <a:pt x="257175" y="252264"/>
                  <a:pt x="257175" y="228600"/>
                </a:cubicBezTo>
                <a:lnTo>
                  <a:pt x="257175" y="171450"/>
                </a:lnTo>
                <a:lnTo>
                  <a:pt x="285750" y="171450"/>
                </a:lnTo>
                <a:cubicBezTo>
                  <a:pt x="348883" y="171450"/>
                  <a:pt x="400050" y="222617"/>
                  <a:pt x="400050" y="285750"/>
                </a:cubicBezTo>
                <a:cubicBezTo>
                  <a:pt x="400050" y="348883"/>
                  <a:pt x="348883" y="400050"/>
                  <a:pt x="285750" y="400050"/>
                </a:cubicBezTo>
                <a:lnTo>
                  <a:pt x="28575" y="400050"/>
                </a:lnTo>
                <a:cubicBezTo>
                  <a:pt x="12769" y="400050"/>
                  <a:pt x="0" y="412819"/>
                  <a:pt x="0" y="428625"/>
                </a:cubicBezTo>
                <a:cubicBezTo>
                  <a:pt x="0" y="444431"/>
                  <a:pt x="12769" y="457200"/>
                  <a:pt x="28575" y="457200"/>
                </a:cubicBezTo>
                <a:lnTo>
                  <a:pt x="428625" y="457200"/>
                </a:lnTo>
                <a:cubicBezTo>
                  <a:pt x="444431" y="457200"/>
                  <a:pt x="457200" y="444431"/>
                  <a:pt x="457200" y="428625"/>
                </a:cubicBezTo>
                <a:cubicBezTo>
                  <a:pt x="457200" y="412819"/>
                  <a:pt x="444431" y="400050"/>
                  <a:pt x="428625" y="400050"/>
                </a:cubicBezTo>
                <a:lnTo>
                  <a:pt x="413534" y="400050"/>
                </a:lnTo>
                <a:cubicBezTo>
                  <a:pt x="440680" y="369689"/>
                  <a:pt x="457200" y="329684"/>
                  <a:pt x="457200" y="285750"/>
                </a:cubicBezTo>
                <a:cubicBezTo>
                  <a:pt x="457200" y="191095"/>
                  <a:pt x="380405" y="114300"/>
                  <a:pt x="285750" y="114300"/>
                </a:cubicBezTo>
                <a:lnTo>
                  <a:pt x="257175" y="114300"/>
                </a:lnTo>
                <a:lnTo>
                  <a:pt x="257175" y="42863"/>
                </a:lnTo>
                <a:cubicBezTo>
                  <a:pt x="257175" y="19199"/>
                  <a:pt x="237976" y="0"/>
                  <a:pt x="214313" y="0"/>
                </a:cubicBezTo>
                <a:lnTo>
                  <a:pt x="157163" y="0"/>
                </a:lnTo>
                <a:close/>
                <a:moveTo>
                  <a:pt x="107156" y="314325"/>
                </a:moveTo>
                <a:cubicBezTo>
                  <a:pt x="95280" y="314325"/>
                  <a:pt x="85725" y="323880"/>
                  <a:pt x="85725" y="335756"/>
                </a:cubicBezTo>
                <a:cubicBezTo>
                  <a:pt x="85725" y="347633"/>
                  <a:pt x="95280" y="357188"/>
                  <a:pt x="107156" y="357188"/>
                </a:cubicBezTo>
                <a:lnTo>
                  <a:pt x="264319" y="357188"/>
                </a:lnTo>
                <a:cubicBezTo>
                  <a:pt x="276195" y="357188"/>
                  <a:pt x="285750" y="347633"/>
                  <a:pt x="285750" y="335756"/>
                </a:cubicBezTo>
                <a:cubicBezTo>
                  <a:pt x="285750" y="323880"/>
                  <a:pt x="276195" y="314325"/>
                  <a:pt x="264319" y="314325"/>
                </a:cubicBezTo>
                <a:lnTo>
                  <a:pt x="107156" y="314325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48" name="Text 46"/>
          <p:cNvSpPr/>
          <p:nvPr/>
        </p:nvSpPr>
        <p:spPr>
          <a:xfrm>
            <a:off x="1879600" y="4356100"/>
            <a:ext cx="3365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 Test Scheduling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879600" y="4699000"/>
            <a:ext cx="3365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 and track diagnostics across departments with automated scheduling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715000" y="4191000"/>
            <a:ext cx="4445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59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969000" y="4381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30143" y="214402"/>
                </a:moveTo>
                <a:cubicBezTo>
                  <a:pt x="414427" y="213330"/>
                  <a:pt x="400764" y="225117"/>
                  <a:pt x="399604" y="240923"/>
                </a:cubicBezTo>
                <a:cubicBezTo>
                  <a:pt x="396657" y="282893"/>
                  <a:pt x="378529" y="320754"/>
                  <a:pt x="350669" y="348972"/>
                </a:cubicBezTo>
                <a:lnTo>
                  <a:pt x="322362" y="320576"/>
                </a:lnTo>
                <a:cubicBezTo>
                  <a:pt x="316200" y="314414"/>
                  <a:pt x="307003" y="312628"/>
                  <a:pt x="298966" y="315932"/>
                </a:cubicBezTo>
                <a:cubicBezTo>
                  <a:pt x="290929" y="319236"/>
                  <a:pt x="285750" y="327094"/>
                  <a:pt x="285750" y="335756"/>
                </a:cubicBezTo>
                <a:lnTo>
                  <a:pt x="285750" y="435769"/>
                </a:lnTo>
                <a:cubicBezTo>
                  <a:pt x="285750" y="447645"/>
                  <a:pt x="295305" y="457200"/>
                  <a:pt x="307181" y="457200"/>
                </a:cubicBezTo>
                <a:lnTo>
                  <a:pt x="407194" y="457200"/>
                </a:lnTo>
                <a:cubicBezTo>
                  <a:pt x="415856" y="457200"/>
                  <a:pt x="423714" y="452021"/>
                  <a:pt x="427018" y="443984"/>
                </a:cubicBezTo>
                <a:cubicBezTo>
                  <a:pt x="430322" y="435947"/>
                  <a:pt x="428536" y="426750"/>
                  <a:pt x="422374" y="420588"/>
                </a:cubicBezTo>
                <a:lnTo>
                  <a:pt x="391120" y="389334"/>
                </a:lnTo>
                <a:cubicBezTo>
                  <a:pt x="428357" y="351651"/>
                  <a:pt x="452646" y="301109"/>
                  <a:pt x="456664" y="244852"/>
                </a:cubicBezTo>
                <a:cubicBezTo>
                  <a:pt x="457736" y="229136"/>
                  <a:pt x="445949" y="215473"/>
                  <a:pt x="430143" y="214313"/>
                </a:cubicBezTo>
                <a:close/>
                <a:moveTo>
                  <a:pt x="34826" y="36612"/>
                </a:moveTo>
                <a:lnTo>
                  <a:pt x="66080" y="67866"/>
                </a:lnTo>
                <a:cubicBezTo>
                  <a:pt x="28843" y="105549"/>
                  <a:pt x="4554" y="156091"/>
                  <a:pt x="536" y="212348"/>
                </a:cubicBezTo>
                <a:cubicBezTo>
                  <a:pt x="-536" y="228064"/>
                  <a:pt x="11251" y="241727"/>
                  <a:pt x="27057" y="242888"/>
                </a:cubicBezTo>
                <a:cubicBezTo>
                  <a:pt x="42862" y="244048"/>
                  <a:pt x="56436" y="232172"/>
                  <a:pt x="57596" y="216366"/>
                </a:cubicBezTo>
                <a:cubicBezTo>
                  <a:pt x="60543" y="174397"/>
                  <a:pt x="78671" y="136535"/>
                  <a:pt x="106531" y="108317"/>
                </a:cubicBezTo>
                <a:lnTo>
                  <a:pt x="134838" y="136624"/>
                </a:lnTo>
                <a:cubicBezTo>
                  <a:pt x="141000" y="142786"/>
                  <a:pt x="150197" y="144572"/>
                  <a:pt x="158234" y="141268"/>
                </a:cubicBezTo>
                <a:cubicBezTo>
                  <a:pt x="166271" y="137964"/>
                  <a:pt x="171450" y="130106"/>
                  <a:pt x="171450" y="121444"/>
                </a:cubicBezTo>
                <a:lnTo>
                  <a:pt x="171450" y="21431"/>
                </a:lnTo>
                <a:cubicBezTo>
                  <a:pt x="171450" y="9555"/>
                  <a:pt x="161895" y="0"/>
                  <a:pt x="150019" y="0"/>
                </a:cubicBezTo>
                <a:lnTo>
                  <a:pt x="50006" y="0"/>
                </a:lnTo>
                <a:cubicBezTo>
                  <a:pt x="41344" y="0"/>
                  <a:pt x="33486" y="5179"/>
                  <a:pt x="30182" y="13216"/>
                </a:cubicBezTo>
                <a:cubicBezTo>
                  <a:pt x="26878" y="21253"/>
                  <a:pt x="28754" y="30450"/>
                  <a:pt x="34826" y="36612"/>
                </a:cubicBezTo>
                <a:close/>
                <a:moveTo>
                  <a:pt x="214313" y="27057"/>
                </a:moveTo>
                <a:cubicBezTo>
                  <a:pt x="213241" y="42773"/>
                  <a:pt x="225028" y="56436"/>
                  <a:pt x="240834" y="57596"/>
                </a:cubicBezTo>
                <a:cubicBezTo>
                  <a:pt x="282803" y="60543"/>
                  <a:pt x="320665" y="78671"/>
                  <a:pt x="348883" y="106531"/>
                </a:cubicBezTo>
                <a:lnTo>
                  <a:pt x="320576" y="134838"/>
                </a:lnTo>
                <a:cubicBezTo>
                  <a:pt x="314414" y="141000"/>
                  <a:pt x="312628" y="150197"/>
                  <a:pt x="315932" y="158234"/>
                </a:cubicBezTo>
                <a:cubicBezTo>
                  <a:pt x="319236" y="166271"/>
                  <a:pt x="327094" y="171450"/>
                  <a:pt x="335756" y="171450"/>
                </a:cubicBezTo>
                <a:lnTo>
                  <a:pt x="435769" y="171450"/>
                </a:lnTo>
                <a:cubicBezTo>
                  <a:pt x="447645" y="171450"/>
                  <a:pt x="457200" y="161895"/>
                  <a:pt x="457200" y="150019"/>
                </a:cubicBezTo>
                <a:lnTo>
                  <a:pt x="457200" y="50006"/>
                </a:lnTo>
                <a:cubicBezTo>
                  <a:pt x="457200" y="41344"/>
                  <a:pt x="452021" y="33486"/>
                  <a:pt x="443984" y="30182"/>
                </a:cubicBezTo>
                <a:cubicBezTo>
                  <a:pt x="435947" y="26878"/>
                  <a:pt x="426750" y="28754"/>
                  <a:pt x="420588" y="34826"/>
                </a:cubicBezTo>
                <a:lnTo>
                  <a:pt x="389334" y="66080"/>
                </a:lnTo>
                <a:cubicBezTo>
                  <a:pt x="351651" y="28843"/>
                  <a:pt x="301109" y="4554"/>
                  <a:pt x="244852" y="536"/>
                </a:cubicBezTo>
                <a:cubicBezTo>
                  <a:pt x="229136" y="-536"/>
                  <a:pt x="215473" y="11251"/>
                  <a:pt x="214313" y="27057"/>
                </a:cubicBezTo>
                <a:close/>
                <a:moveTo>
                  <a:pt x="36612" y="422374"/>
                </a:moveTo>
                <a:lnTo>
                  <a:pt x="67866" y="391120"/>
                </a:lnTo>
                <a:cubicBezTo>
                  <a:pt x="105549" y="428357"/>
                  <a:pt x="156091" y="452646"/>
                  <a:pt x="212348" y="456664"/>
                </a:cubicBezTo>
                <a:cubicBezTo>
                  <a:pt x="228064" y="457736"/>
                  <a:pt x="241727" y="445949"/>
                  <a:pt x="242888" y="430143"/>
                </a:cubicBezTo>
                <a:cubicBezTo>
                  <a:pt x="244048" y="414338"/>
                  <a:pt x="232172" y="400764"/>
                  <a:pt x="216366" y="399604"/>
                </a:cubicBezTo>
                <a:cubicBezTo>
                  <a:pt x="174397" y="396657"/>
                  <a:pt x="136535" y="378529"/>
                  <a:pt x="108317" y="350669"/>
                </a:cubicBezTo>
                <a:lnTo>
                  <a:pt x="136624" y="322362"/>
                </a:lnTo>
                <a:cubicBezTo>
                  <a:pt x="142786" y="316200"/>
                  <a:pt x="144572" y="307003"/>
                  <a:pt x="141268" y="298966"/>
                </a:cubicBezTo>
                <a:cubicBezTo>
                  <a:pt x="137964" y="290929"/>
                  <a:pt x="130106" y="285750"/>
                  <a:pt x="121444" y="285750"/>
                </a:cubicBezTo>
                <a:lnTo>
                  <a:pt x="21431" y="285750"/>
                </a:lnTo>
                <a:cubicBezTo>
                  <a:pt x="9555" y="285750"/>
                  <a:pt x="0" y="295305"/>
                  <a:pt x="0" y="307181"/>
                </a:cubicBezTo>
                <a:lnTo>
                  <a:pt x="0" y="407194"/>
                </a:lnTo>
                <a:cubicBezTo>
                  <a:pt x="0" y="415856"/>
                  <a:pt x="5179" y="423714"/>
                  <a:pt x="13216" y="427018"/>
                </a:cubicBezTo>
                <a:cubicBezTo>
                  <a:pt x="21253" y="430322"/>
                  <a:pt x="30450" y="428446"/>
                  <a:pt x="36612" y="422374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52" name="Text 50"/>
          <p:cNvSpPr/>
          <p:nvPr/>
        </p:nvSpPr>
        <p:spPr>
          <a:xfrm>
            <a:off x="6578600" y="4356100"/>
            <a:ext cx="3365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Workflow Management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578600" y="4699000"/>
            <a:ext cx="3365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Coordinate hospital processes and patient flow efficiently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0414000" y="4191000"/>
            <a:ext cx="4826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59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10639425" y="4381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457557" y="214313"/>
                </a:moveTo>
                <a:lnTo>
                  <a:pt x="300395" y="214313"/>
                </a:lnTo>
                <a:cubicBezTo>
                  <a:pt x="284589" y="214313"/>
                  <a:pt x="271820" y="201543"/>
                  <a:pt x="271820" y="185738"/>
                </a:cubicBezTo>
                <a:lnTo>
                  <a:pt x="271820" y="28575"/>
                </a:lnTo>
                <a:cubicBezTo>
                  <a:pt x="271820" y="12769"/>
                  <a:pt x="284678" y="-179"/>
                  <a:pt x="300305" y="1875"/>
                </a:cubicBezTo>
                <a:cubicBezTo>
                  <a:pt x="395853" y="14555"/>
                  <a:pt x="471577" y="90279"/>
                  <a:pt x="484257" y="185827"/>
                </a:cubicBezTo>
                <a:cubicBezTo>
                  <a:pt x="486311" y="201454"/>
                  <a:pt x="473363" y="214313"/>
                  <a:pt x="457557" y="214313"/>
                </a:cubicBezTo>
                <a:close/>
                <a:moveTo>
                  <a:pt x="198775" y="33218"/>
                </a:moveTo>
                <a:cubicBezTo>
                  <a:pt x="214938" y="29825"/>
                  <a:pt x="228957" y="43041"/>
                  <a:pt x="228957" y="59561"/>
                </a:cubicBezTo>
                <a:lnTo>
                  <a:pt x="228957" y="235744"/>
                </a:lnTo>
                <a:cubicBezTo>
                  <a:pt x="228957" y="240744"/>
                  <a:pt x="230743" y="245566"/>
                  <a:pt x="233869" y="249406"/>
                </a:cubicBezTo>
                <a:lnTo>
                  <a:pt x="351830" y="391745"/>
                </a:lnTo>
                <a:cubicBezTo>
                  <a:pt x="362277" y="404336"/>
                  <a:pt x="360045" y="423356"/>
                  <a:pt x="345668" y="431125"/>
                </a:cubicBezTo>
                <a:cubicBezTo>
                  <a:pt x="315218" y="447735"/>
                  <a:pt x="280303" y="457200"/>
                  <a:pt x="243245" y="457200"/>
                </a:cubicBezTo>
                <a:cubicBezTo>
                  <a:pt x="124926" y="457200"/>
                  <a:pt x="28932" y="361206"/>
                  <a:pt x="28932" y="242888"/>
                </a:cubicBezTo>
                <a:cubicBezTo>
                  <a:pt x="28932" y="139750"/>
                  <a:pt x="101709" y="53667"/>
                  <a:pt x="198775" y="33218"/>
                </a:cubicBezTo>
                <a:close/>
                <a:moveTo>
                  <a:pt x="426660" y="257175"/>
                </a:moveTo>
                <a:lnTo>
                  <a:pt x="483810" y="257175"/>
                </a:lnTo>
                <a:cubicBezTo>
                  <a:pt x="500330" y="257175"/>
                  <a:pt x="513546" y="271195"/>
                  <a:pt x="510153" y="287357"/>
                </a:cubicBezTo>
                <a:cubicBezTo>
                  <a:pt x="501045" y="330577"/>
                  <a:pt x="478899" y="368975"/>
                  <a:pt x="448002" y="398264"/>
                </a:cubicBezTo>
                <a:cubicBezTo>
                  <a:pt x="437019" y="408712"/>
                  <a:pt x="419785" y="406479"/>
                  <a:pt x="410141" y="394781"/>
                </a:cubicBezTo>
                <a:lnTo>
                  <a:pt x="334774" y="303967"/>
                </a:lnTo>
                <a:cubicBezTo>
                  <a:pt x="319326" y="285304"/>
                  <a:pt x="332631" y="257175"/>
                  <a:pt x="356741" y="257175"/>
                </a:cubicBezTo>
                <a:lnTo>
                  <a:pt x="426571" y="257175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56" name="Text 54"/>
          <p:cNvSpPr/>
          <p:nvPr/>
        </p:nvSpPr>
        <p:spPr>
          <a:xfrm>
            <a:off x="11277600" y="4356100"/>
            <a:ext cx="3746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Resource Planning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1277600" y="4699000"/>
            <a:ext cx="374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Allocate equipment, rooms, and staff efficiently based on demand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0A1F44"/>
            </a:solidFill>
            <a:prstDash val="solid"/>
            <a:headEnd type="none"/>
            <a:tailEnd type="none"/>
          </a:ln>
        </p:spPr>
      </p:sp>
      <p:sp>
        <p:nvSpPr>
          <p:cNvPr id="59" name="Text 57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 / 19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00B4D8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101600"/>
            <a:ext cx="1143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Power of Integration — One Action, Many Updates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30000" y="774700"/>
            <a:ext cx="4318000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dirty="0">
                <a:solidFill>
                  <a:srgbClr val="90E0EF">
                    <a:alpha val="25098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SRM University AP | Hospital ERP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588000" y="1016000"/>
            <a:ext cx="5080000" cy="1016000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00B4D8"/>
              </a:gs>
              <a:gs pos="100000">
                <a:srgbClr val="0077B6"/>
              </a:gs>
            </a:gsLst>
            <a:lin ang="0" scaled="1"/>
          </a:gradFill>
          <a:ln/>
          <a:effectLst>
            <a:outerShdw blurRad="190500" dist="50800" dir="5400000" algn="bl" rotWithShape="0">
              <a:srgbClr val="00B4D8">
                <a:alpha val="25098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588000" y="1016000"/>
            <a:ext cx="508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INTEGRATION | AUTOMATION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REAL-TIME DATA | EFFICIENCY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16000" y="1206500"/>
            <a:ext cx="1524000" cy="635000"/>
          </a:xfrm>
          <a:prstGeom prst="roundRect">
            <a:avLst>
              <a:gd name="adj" fmla="val 10000"/>
            </a:avLst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120650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540000" y="1498600"/>
            <a:ext cx="3048000" cy="0"/>
          </a:xfrm>
          <a:prstGeom prst="straightConnector1">
            <a:avLst/>
          </a:prstGeom>
          <a:noFill/>
          <a:ln w="25400">
            <a:solidFill>
              <a:srgbClr val="00B4D8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3716000" y="1206500"/>
            <a:ext cx="1524000" cy="635000"/>
          </a:xfrm>
          <a:prstGeom prst="roundRect">
            <a:avLst>
              <a:gd name="adj" fmla="val 10000"/>
            </a:avLst>
          </a:prstGeom>
          <a:solidFill>
            <a:srgbClr val="0A1F44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0" y="120650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MM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668000" y="1498600"/>
            <a:ext cx="3048000" cy="0"/>
          </a:xfrm>
          <a:prstGeom prst="straightConnector1">
            <a:avLst/>
          </a:prstGeom>
          <a:noFill/>
          <a:ln w="25400">
            <a:solidFill>
              <a:srgbClr val="0A1F44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2540000" y="2222500"/>
            <a:ext cx="1524000" cy="635000"/>
          </a:xfrm>
          <a:prstGeom prst="roundRect">
            <a:avLst>
              <a:gd name="adj" fmla="val 10000"/>
            </a:avLst>
          </a:prstGeom>
          <a:solidFill>
            <a:srgbClr val="0077B6"/>
          </a:solidFill>
          <a:ln/>
        </p:spPr>
      </p:sp>
      <p:sp>
        <p:nvSpPr>
          <p:cNvPr id="15" name="Text 13"/>
          <p:cNvSpPr/>
          <p:nvPr/>
        </p:nvSpPr>
        <p:spPr>
          <a:xfrm>
            <a:off x="2540000" y="222250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PP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66000" y="2222500"/>
            <a:ext cx="1524000" cy="635000"/>
          </a:xfrm>
          <a:prstGeom prst="roundRect">
            <a:avLst>
              <a:gd name="adj" fmla="val 10000"/>
            </a:avLst>
          </a:prstGeom>
          <a:solidFill>
            <a:srgbClr val="0A1F44"/>
          </a:solidFill>
          <a:ln/>
        </p:spPr>
      </p:sp>
      <p:sp>
        <p:nvSpPr>
          <p:cNvPr id="17" name="Text 15"/>
          <p:cNvSpPr/>
          <p:nvPr/>
        </p:nvSpPr>
        <p:spPr>
          <a:xfrm>
            <a:off x="7366000" y="222250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FICO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192000" y="2222500"/>
            <a:ext cx="1524000" cy="635000"/>
          </a:xfrm>
          <a:prstGeom prst="roundRect">
            <a:avLst>
              <a:gd name="adj" fmla="val 10000"/>
            </a:avLst>
          </a:prstGeom>
          <a:solidFill>
            <a:srgbClr val="546E7A"/>
          </a:solidFill>
          <a:ln/>
        </p:spPr>
      </p:sp>
      <p:sp>
        <p:nvSpPr>
          <p:cNvPr id="19" name="Text 17"/>
          <p:cNvSpPr/>
          <p:nvPr/>
        </p:nvSpPr>
        <p:spPr>
          <a:xfrm>
            <a:off x="12192000" y="222250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16000" y="3111500"/>
            <a:ext cx="14224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1016000" y="3365500"/>
            <a:ext cx="68580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59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16000" y="3365500"/>
            <a:ext cx="63500" cy="1524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3" name="Shape 21"/>
          <p:cNvSpPr/>
          <p:nvPr/>
        </p:nvSpPr>
        <p:spPr>
          <a:xfrm>
            <a:off x="1270000" y="3492500"/>
            <a:ext cx="1270000" cy="304800"/>
          </a:xfrm>
          <a:prstGeom prst="roundRect">
            <a:avLst>
              <a:gd name="adj" fmla="val 10000"/>
            </a:avLst>
          </a:prstGeom>
          <a:solidFill>
            <a:srgbClr val="00B4D8"/>
          </a:solidFill>
          <a:ln/>
        </p:spPr>
      </p:sp>
      <p:sp>
        <p:nvSpPr>
          <p:cNvPr id="24" name="Text 22"/>
          <p:cNvSpPr/>
          <p:nvPr/>
        </p:nvSpPr>
        <p:spPr>
          <a:xfrm>
            <a:off x="1270000" y="34925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SD → FICO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70000" y="3911600"/>
            <a:ext cx="635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Billing a patient service in SD </a:t>
            </a:r>
            <a:r>
              <a:rPr lang="en-US" sz="15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automatically updates Financial Accounting</a:t>
            </a:r>
            <a:r>
              <a:rPr lang="en-US" sz="15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with revenue posting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382000" y="3365500"/>
            <a:ext cx="68580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59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382000" y="3365500"/>
            <a:ext cx="63500" cy="152400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28" name="Shape 26"/>
          <p:cNvSpPr/>
          <p:nvPr/>
        </p:nvSpPr>
        <p:spPr>
          <a:xfrm>
            <a:off x="8636000" y="3492500"/>
            <a:ext cx="1778000" cy="304800"/>
          </a:xfrm>
          <a:prstGeom prst="roundRect">
            <a:avLst>
              <a:gd name="adj" fmla="val 10000"/>
            </a:avLst>
          </a:prstGeom>
          <a:solidFill>
            <a:srgbClr val="0A1F44"/>
          </a:solidFill>
          <a:ln/>
        </p:spPr>
      </p:sp>
      <p:sp>
        <p:nvSpPr>
          <p:cNvPr id="29" name="Text 27"/>
          <p:cNvSpPr/>
          <p:nvPr/>
        </p:nvSpPr>
        <p:spPr>
          <a:xfrm>
            <a:off x="8636000" y="34925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MM → Inventory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636000" y="3911600"/>
            <a:ext cx="635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Dispensing medicine to a patient </a:t>
            </a:r>
            <a:r>
              <a:rPr lang="en-US" sz="15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automatically reduces stock levels</a:t>
            </a:r>
            <a:r>
              <a:rPr lang="en-US" sz="15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in Materials Management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016000" y="5143500"/>
            <a:ext cx="68580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59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16000" y="5143500"/>
            <a:ext cx="63500" cy="15240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3" name="Shape 31"/>
          <p:cNvSpPr/>
          <p:nvPr/>
        </p:nvSpPr>
        <p:spPr>
          <a:xfrm>
            <a:off x="1270000" y="5270500"/>
            <a:ext cx="2032000" cy="304800"/>
          </a:xfrm>
          <a:prstGeom prst="roundRect">
            <a:avLst>
              <a:gd name="adj" fmla="val 10000"/>
            </a:avLst>
          </a:prstGeom>
          <a:solidFill>
            <a:srgbClr val="0077B6"/>
          </a:solidFill>
          <a:ln/>
        </p:spPr>
      </p:sp>
      <p:sp>
        <p:nvSpPr>
          <p:cNvPr id="34" name="Text 32"/>
          <p:cNvSpPr/>
          <p:nvPr/>
        </p:nvSpPr>
        <p:spPr>
          <a:xfrm>
            <a:off x="1270000" y="5270500"/>
            <a:ext cx="203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PP → Lab Services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270000" y="5689600"/>
            <a:ext cx="635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 lab orders in Production Planning </a:t>
            </a:r>
            <a:r>
              <a:rPr lang="en-US" sz="15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trigger specific testing protocols</a:t>
            </a:r>
            <a:r>
              <a:rPr lang="en-US" sz="15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automatically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382000" y="5143500"/>
            <a:ext cx="68580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59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382000" y="5143500"/>
            <a:ext cx="63500" cy="1524000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38" name="Shape 36"/>
          <p:cNvSpPr/>
          <p:nvPr/>
        </p:nvSpPr>
        <p:spPr>
          <a:xfrm>
            <a:off x="8636000" y="5270500"/>
            <a:ext cx="1270000" cy="304800"/>
          </a:xfrm>
          <a:prstGeom prst="roundRect">
            <a:avLst>
              <a:gd name="adj" fmla="val 10000"/>
            </a:avLst>
          </a:prstGeom>
          <a:solidFill>
            <a:srgbClr val="546E7A"/>
          </a:solidFill>
          <a:ln/>
        </p:spPr>
      </p:sp>
      <p:sp>
        <p:nvSpPr>
          <p:cNvPr id="39" name="Text 37"/>
          <p:cNvSpPr/>
          <p:nvPr/>
        </p:nvSpPr>
        <p:spPr>
          <a:xfrm>
            <a:off x="8636000" y="52705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HR → Care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636000" y="5689600"/>
            <a:ext cx="635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Staff assignments and shift management </a:t>
            </a:r>
            <a:r>
              <a:rPr lang="en-US" sz="15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tracked in coordination</a:t>
            </a:r>
            <a:r>
              <a:rPr lang="en-US" sz="15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with patient care activities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0A1F44"/>
            </a:solidFill>
            <a:prstDash val="solid"/>
            <a:headEnd type="none"/>
            <a:tailEnd type="none"/>
          </a:ln>
        </p:spPr>
      </p:sp>
      <p:sp>
        <p:nvSpPr>
          <p:cNvPr id="42" name="Text 40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 / 19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00B4D8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101600"/>
            <a:ext cx="1346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From Patient Arrival to Recovery — End-to-End Journey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30000" y="774700"/>
            <a:ext cx="4318000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dirty="0">
                <a:solidFill>
                  <a:srgbClr val="90E0EF">
                    <a:alpha val="25098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SRM University AP | Hospital ERP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863600"/>
            <a:ext cx="1016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step of the patient journey supported by integrated ERP modules in real time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16000" y="1333500"/>
            <a:ext cx="33020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59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81100" y="14605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101600" y="50800"/>
                </a:moveTo>
                <a:cubicBezTo>
                  <a:pt x="101600" y="22781"/>
                  <a:pt x="124381" y="0"/>
                  <a:pt x="152400" y="0"/>
                </a:cubicBezTo>
                <a:lnTo>
                  <a:pt x="304800" y="0"/>
                </a:lnTo>
                <a:cubicBezTo>
                  <a:pt x="332819" y="0"/>
                  <a:pt x="355600" y="22781"/>
                  <a:pt x="355600" y="50800"/>
                </a:cubicBezTo>
                <a:lnTo>
                  <a:pt x="355600" y="101600"/>
                </a:lnTo>
                <a:lnTo>
                  <a:pt x="406400" y="101600"/>
                </a:lnTo>
                <a:cubicBezTo>
                  <a:pt x="434419" y="101600"/>
                  <a:pt x="457200" y="124381"/>
                  <a:pt x="457200" y="152400"/>
                </a:cubicBezTo>
                <a:lnTo>
                  <a:pt x="457200" y="355600"/>
                </a:lnTo>
                <a:cubicBezTo>
                  <a:pt x="457200" y="383619"/>
                  <a:pt x="434419" y="406400"/>
                  <a:pt x="406400" y="406400"/>
                </a:cubicBezTo>
                <a:lnTo>
                  <a:pt x="50800" y="406400"/>
                </a:lnTo>
                <a:cubicBezTo>
                  <a:pt x="22781" y="406400"/>
                  <a:pt x="0" y="383619"/>
                  <a:pt x="0" y="355600"/>
                </a:cubicBezTo>
                <a:lnTo>
                  <a:pt x="0" y="152400"/>
                </a:lnTo>
                <a:cubicBezTo>
                  <a:pt x="0" y="124381"/>
                  <a:pt x="22781" y="101600"/>
                  <a:pt x="50800" y="101600"/>
                </a:cubicBezTo>
                <a:lnTo>
                  <a:pt x="101600" y="101600"/>
                </a:lnTo>
                <a:lnTo>
                  <a:pt x="101600" y="50800"/>
                </a:lnTo>
                <a:close/>
                <a:moveTo>
                  <a:pt x="215900" y="279400"/>
                </a:moveTo>
                <a:cubicBezTo>
                  <a:pt x="201851" y="279400"/>
                  <a:pt x="190500" y="290751"/>
                  <a:pt x="190500" y="304800"/>
                </a:cubicBezTo>
                <a:lnTo>
                  <a:pt x="190500" y="368300"/>
                </a:lnTo>
                <a:lnTo>
                  <a:pt x="266700" y="368300"/>
                </a:lnTo>
                <a:lnTo>
                  <a:pt x="266700" y="304800"/>
                </a:lnTo>
                <a:cubicBezTo>
                  <a:pt x="266700" y="290751"/>
                  <a:pt x="255349" y="279400"/>
                  <a:pt x="241300" y="279400"/>
                </a:cubicBezTo>
                <a:lnTo>
                  <a:pt x="215900" y="279400"/>
                </a:lnTo>
                <a:close/>
                <a:moveTo>
                  <a:pt x="101600" y="292100"/>
                </a:moveTo>
                <a:lnTo>
                  <a:pt x="101600" y="266700"/>
                </a:lnTo>
                <a:cubicBezTo>
                  <a:pt x="101600" y="259715"/>
                  <a:pt x="95885" y="254000"/>
                  <a:pt x="88900" y="254000"/>
                </a:cubicBezTo>
                <a:lnTo>
                  <a:pt x="63500" y="254000"/>
                </a:lnTo>
                <a:cubicBezTo>
                  <a:pt x="56515" y="254000"/>
                  <a:pt x="50800" y="259715"/>
                  <a:pt x="50800" y="266700"/>
                </a:cubicBezTo>
                <a:lnTo>
                  <a:pt x="50800" y="292100"/>
                </a:lnTo>
                <a:cubicBezTo>
                  <a:pt x="50800" y="299085"/>
                  <a:pt x="56515" y="304800"/>
                  <a:pt x="63500" y="304800"/>
                </a:cubicBezTo>
                <a:lnTo>
                  <a:pt x="88900" y="304800"/>
                </a:lnTo>
                <a:cubicBezTo>
                  <a:pt x="95885" y="304800"/>
                  <a:pt x="101600" y="299085"/>
                  <a:pt x="101600" y="292100"/>
                </a:cubicBezTo>
                <a:close/>
                <a:moveTo>
                  <a:pt x="88900" y="203200"/>
                </a:moveTo>
                <a:cubicBezTo>
                  <a:pt x="95885" y="203200"/>
                  <a:pt x="101600" y="197485"/>
                  <a:pt x="101600" y="190500"/>
                </a:cubicBezTo>
                <a:lnTo>
                  <a:pt x="101600" y="165100"/>
                </a:lnTo>
                <a:cubicBezTo>
                  <a:pt x="101600" y="158115"/>
                  <a:pt x="95885" y="152400"/>
                  <a:pt x="88900" y="152400"/>
                </a:cubicBezTo>
                <a:lnTo>
                  <a:pt x="63500" y="152400"/>
                </a:lnTo>
                <a:cubicBezTo>
                  <a:pt x="56515" y="152400"/>
                  <a:pt x="50800" y="158115"/>
                  <a:pt x="50800" y="165100"/>
                </a:cubicBezTo>
                <a:lnTo>
                  <a:pt x="50800" y="190500"/>
                </a:lnTo>
                <a:cubicBezTo>
                  <a:pt x="50800" y="197485"/>
                  <a:pt x="56515" y="203200"/>
                  <a:pt x="63500" y="203200"/>
                </a:cubicBezTo>
                <a:lnTo>
                  <a:pt x="88900" y="203200"/>
                </a:lnTo>
                <a:close/>
                <a:moveTo>
                  <a:pt x="406400" y="292100"/>
                </a:moveTo>
                <a:lnTo>
                  <a:pt x="406400" y="266700"/>
                </a:lnTo>
                <a:cubicBezTo>
                  <a:pt x="406400" y="259715"/>
                  <a:pt x="400685" y="254000"/>
                  <a:pt x="393700" y="254000"/>
                </a:cubicBezTo>
                <a:lnTo>
                  <a:pt x="368300" y="254000"/>
                </a:lnTo>
                <a:cubicBezTo>
                  <a:pt x="361315" y="254000"/>
                  <a:pt x="355600" y="259715"/>
                  <a:pt x="355600" y="266700"/>
                </a:cubicBezTo>
                <a:lnTo>
                  <a:pt x="355600" y="292100"/>
                </a:lnTo>
                <a:cubicBezTo>
                  <a:pt x="355600" y="299085"/>
                  <a:pt x="361315" y="304800"/>
                  <a:pt x="368300" y="304800"/>
                </a:cubicBezTo>
                <a:lnTo>
                  <a:pt x="393700" y="304800"/>
                </a:lnTo>
                <a:cubicBezTo>
                  <a:pt x="400685" y="304800"/>
                  <a:pt x="406400" y="299085"/>
                  <a:pt x="406400" y="292100"/>
                </a:cubicBezTo>
                <a:close/>
                <a:moveTo>
                  <a:pt x="393700" y="203200"/>
                </a:moveTo>
                <a:cubicBezTo>
                  <a:pt x="400685" y="203200"/>
                  <a:pt x="406400" y="197485"/>
                  <a:pt x="406400" y="190500"/>
                </a:cubicBezTo>
                <a:lnTo>
                  <a:pt x="406400" y="165100"/>
                </a:lnTo>
                <a:cubicBezTo>
                  <a:pt x="406400" y="158115"/>
                  <a:pt x="400685" y="152400"/>
                  <a:pt x="393700" y="152400"/>
                </a:cubicBezTo>
                <a:lnTo>
                  <a:pt x="368300" y="152400"/>
                </a:lnTo>
                <a:cubicBezTo>
                  <a:pt x="361315" y="152400"/>
                  <a:pt x="355600" y="158115"/>
                  <a:pt x="355600" y="165100"/>
                </a:cubicBezTo>
                <a:lnTo>
                  <a:pt x="355600" y="190500"/>
                </a:lnTo>
                <a:cubicBezTo>
                  <a:pt x="355600" y="197485"/>
                  <a:pt x="361315" y="203200"/>
                  <a:pt x="368300" y="203200"/>
                </a:cubicBezTo>
                <a:lnTo>
                  <a:pt x="393700" y="203200"/>
                </a:lnTo>
                <a:close/>
                <a:moveTo>
                  <a:pt x="209550" y="82550"/>
                </a:moveTo>
                <a:lnTo>
                  <a:pt x="209550" y="107950"/>
                </a:lnTo>
                <a:lnTo>
                  <a:pt x="184150" y="107950"/>
                </a:lnTo>
                <a:cubicBezTo>
                  <a:pt x="177165" y="107950"/>
                  <a:pt x="171450" y="113665"/>
                  <a:pt x="171450" y="120650"/>
                </a:cubicBezTo>
                <a:lnTo>
                  <a:pt x="171450" y="133350"/>
                </a:lnTo>
                <a:cubicBezTo>
                  <a:pt x="171450" y="140335"/>
                  <a:pt x="177165" y="146050"/>
                  <a:pt x="184150" y="146050"/>
                </a:cubicBezTo>
                <a:lnTo>
                  <a:pt x="209550" y="146050"/>
                </a:lnTo>
                <a:lnTo>
                  <a:pt x="209550" y="171450"/>
                </a:lnTo>
                <a:cubicBezTo>
                  <a:pt x="209550" y="178435"/>
                  <a:pt x="215265" y="184150"/>
                  <a:pt x="222250" y="184150"/>
                </a:cubicBezTo>
                <a:lnTo>
                  <a:pt x="234950" y="184150"/>
                </a:lnTo>
                <a:cubicBezTo>
                  <a:pt x="241935" y="184150"/>
                  <a:pt x="247650" y="178435"/>
                  <a:pt x="247650" y="171450"/>
                </a:cubicBezTo>
                <a:lnTo>
                  <a:pt x="247650" y="146050"/>
                </a:lnTo>
                <a:lnTo>
                  <a:pt x="273050" y="146050"/>
                </a:lnTo>
                <a:cubicBezTo>
                  <a:pt x="280035" y="146050"/>
                  <a:pt x="285750" y="140335"/>
                  <a:pt x="285750" y="133350"/>
                </a:cubicBezTo>
                <a:lnTo>
                  <a:pt x="285750" y="120650"/>
                </a:lnTo>
                <a:cubicBezTo>
                  <a:pt x="285750" y="113665"/>
                  <a:pt x="280035" y="107950"/>
                  <a:pt x="273050" y="107950"/>
                </a:cubicBezTo>
                <a:lnTo>
                  <a:pt x="247650" y="107950"/>
                </a:lnTo>
                <a:lnTo>
                  <a:pt x="247650" y="82550"/>
                </a:lnTo>
                <a:cubicBezTo>
                  <a:pt x="247650" y="75565"/>
                  <a:pt x="241935" y="69850"/>
                  <a:pt x="234950" y="69850"/>
                </a:cubicBezTo>
                <a:lnTo>
                  <a:pt x="222250" y="69850"/>
                </a:lnTo>
                <a:cubicBezTo>
                  <a:pt x="215265" y="69850"/>
                  <a:pt x="209550" y="75565"/>
                  <a:pt x="209550" y="8255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9" name="Shape 7"/>
          <p:cNvSpPr/>
          <p:nvPr/>
        </p:nvSpPr>
        <p:spPr>
          <a:xfrm>
            <a:off x="1739900" y="1485900"/>
            <a:ext cx="508000" cy="279400"/>
          </a:xfrm>
          <a:prstGeom prst="roundRect">
            <a:avLst>
              <a:gd name="adj" fmla="val 10000"/>
            </a:avLst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1739900" y="14859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06500" y="1930400"/>
            <a:ext cx="292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 Registration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06500" y="2209800"/>
            <a:ext cx="292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90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 record created as a customer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18000" y="1968500"/>
            <a:ext cx="254000" cy="0"/>
          </a:xfrm>
          <a:prstGeom prst="straightConnector1">
            <a:avLst/>
          </a:prstGeom>
          <a:noFill/>
          <a:ln w="25400">
            <a:solidFill>
              <a:srgbClr val="00B4D8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4572000" y="1333500"/>
            <a:ext cx="33020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59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37100" y="14605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5400" y="38100"/>
                </a:moveTo>
                <a:cubicBezTo>
                  <a:pt x="25400" y="17066"/>
                  <a:pt x="42466" y="0"/>
                  <a:pt x="63500" y="0"/>
                </a:cubicBezTo>
                <a:lnTo>
                  <a:pt x="101600" y="0"/>
                </a:lnTo>
                <a:cubicBezTo>
                  <a:pt x="115649" y="0"/>
                  <a:pt x="127000" y="11351"/>
                  <a:pt x="127000" y="25400"/>
                </a:cubicBezTo>
                <a:cubicBezTo>
                  <a:pt x="127000" y="39449"/>
                  <a:pt x="115649" y="50800"/>
                  <a:pt x="101600" y="50800"/>
                </a:cubicBezTo>
                <a:lnTo>
                  <a:pt x="76200" y="50800"/>
                </a:lnTo>
                <a:lnTo>
                  <a:pt x="76200" y="152400"/>
                </a:lnTo>
                <a:cubicBezTo>
                  <a:pt x="76200" y="194469"/>
                  <a:pt x="110331" y="228600"/>
                  <a:pt x="152400" y="228600"/>
                </a:cubicBezTo>
                <a:cubicBezTo>
                  <a:pt x="194469" y="228600"/>
                  <a:pt x="228600" y="194469"/>
                  <a:pt x="228600" y="152400"/>
                </a:cubicBezTo>
                <a:lnTo>
                  <a:pt x="228600" y="50800"/>
                </a:lnTo>
                <a:lnTo>
                  <a:pt x="203200" y="50800"/>
                </a:lnTo>
                <a:cubicBezTo>
                  <a:pt x="189151" y="50800"/>
                  <a:pt x="177800" y="39449"/>
                  <a:pt x="177800" y="25400"/>
                </a:cubicBezTo>
                <a:cubicBezTo>
                  <a:pt x="177800" y="11351"/>
                  <a:pt x="189151" y="0"/>
                  <a:pt x="203200" y="0"/>
                </a:cubicBezTo>
                <a:lnTo>
                  <a:pt x="241300" y="0"/>
                </a:lnTo>
                <a:cubicBezTo>
                  <a:pt x="262334" y="0"/>
                  <a:pt x="279400" y="17066"/>
                  <a:pt x="279400" y="38100"/>
                </a:cubicBezTo>
                <a:lnTo>
                  <a:pt x="279400" y="152400"/>
                </a:lnTo>
                <a:cubicBezTo>
                  <a:pt x="279400" y="213836"/>
                  <a:pt x="235744" y="265113"/>
                  <a:pt x="177800" y="276860"/>
                </a:cubicBezTo>
                <a:lnTo>
                  <a:pt x="177800" y="292100"/>
                </a:lnTo>
                <a:cubicBezTo>
                  <a:pt x="177800" y="341233"/>
                  <a:pt x="217567" y="381000"/>
                  <a:pt x="266700" y="381000"/>
                </a:cubicBezTo>
                <a:cubicBezTo>
                  <a:pt x="315833" y="381000"/>
                  <a:pt x="355600" y="341233"/>
                  <a:pt x="355600" y="292100"/>
                </a:cubicBezTo>
                <a:lnTo>
                  <a:pt x="355600" y="224234"/>
                </a:lnTo>
                <a:cubicBezTo>
                  <a:pt x="325993" y="213757"/>
                  <a:pt x="304800" y="185579"/>
                  <a:pt x="304800" y="152400"/>
                </a:cubicBezTo>
                <a:cubicBezTo>
                  <a:pt x="304800" y="110331"/>
                  <a:pt x="338931" y="76200"/>
                  <a:pt x="381000" y="76200"/>
                </a:cubicBezTo>
                <a:cubicBezTo>
                  <a:pt x="423069" y="76200"/>
                  <a:pt x="457200" y="110331"/>
                  <a:pt x="457200" y="152400"/>
                </a:cubicBezTo>
                <a:cubicBezTo>
                  <a:pt x="457200" y="185579"/>
                  <a:pt x="436007" y="213836"/>
                  <a:pt x="406400" y="224234"/>
                </a:cubicBezTo>
                <a:lnTo>
                  <a:pt x="406400" y="292100"/>
                </a:lnTo>
                <a:cubicBezTo>
                  <a:pt x="406400" y="369253"/>
                  <a:pt x="343853" y="431800"/>
                  <a:pt x="266700" y="431800"/>
                </a:cubicBezTo>
                <a:cubicBezTo>
                  <a:pt x="189548" y="431800"/>
                  <a:pt x="127000" y="369253"/>
                  <a:pt x="127000" y="292100"/>
                </a:cubicBezTo>
                <a:lnTo>
                  <a:pt x="127000" y="276860"/>
                </a:lnTo>
                <a:cubicBezTo>
                  <a:pt x="69056" y="265113"/>
                  <a:pt x="25400" y="213836"/>
                  <a:pt x="25400" y="152400"/>
                </a:cubicBezTo>
                <a:lnTo>
                  <a:pt x="25400" y="38100"/>
                </a:lnTo>
                <a:close/>
                <a:moveTo>
                  <a:pt x="381000" y="177800"/>
                </a:moveTo>
                <a:cubicBezTo>
                  <a:pt x="395019" y="177800"/>
                  <a:pt x="406400" y="166419"/>
                  <a:pt x="406400" y="152400"/>
                </a:cubicBezTo>
                <a:cubicBezTo>
                  <a:pt x="406400" y="138381"/>
                  <a:pt x="395019" y="127000"/>
                  <a:pt x="381000" y="127000"/>
                </a:cubicBezTo>
                <a:cubicBezTo>
                  <a:pt x="366981" y="127000"/>
                  <a:pt x="355600" y="138381"/>
                  <a:pt x="355600" y="152400"/>
                </a:cubicBezTo>
                <a:cubicBezTo>
                  <a:pt x="355600" y="166419"/>
                  <a:pt x="366981" y="177800"/>
                  <a:pt x="381000" y="17780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6" name="Shape 14"/>
          <p:cNvSpPr/>
          <p:nvPr/>
        </p:nvSpPr>
        <p:spPr>
          <a:xfrm>
            <a:off x="5295900" y="1485900"/>
            <a:ext cx="508000" cy="279400"/>
          </a:xfrm>
          <a:prstGeom prst="roundRect">
            <a:avLst>
              <a:gd name="adj" fmla="val 10000"/>
            </a:avLst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5295900" y="14859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62500" y="1930400"/>
            <a:ext cx="292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Treatment Recording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62500" y="22098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7890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Services as sales order items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874000" y="1968500"/>
            <a:ext cx="254000" cy="0"/>
          </a:xfrm>
          <a:prstGeom prst="straightConnector1">
            <a:avLst/>
          </a:prstGeom>
          <a:noFill/>
          <a:ln w="25400">
            <a:solidFill>
              <a:srgbClr val="00B4D8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8128000" y="1333500"/>
            <a:ext cx="33020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59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318500" y="1460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39700" y="0"/>
                </a:moveTo>
                <a:cubicBezTo>
                  <a:pt x="118666" y="0"/>
                  <a:pt x="101600" y="17066"/>
                  <a:pt x="101600" y="38100"/>
                </a:cubicBezTo>
                <a:lnTo>
                  <a:pt x="101600" y="203200"/>
                </a:lnTo>
                <a:cubicBezTo>
                  <a:pt x="101600" y="224234"/>
                  <a:pt x="118666" y="241300"/>
                  <a:pt x="139700" y="241300"/>
                </a:cubicBezTo>
                <a:lnTo>
                  <a:pt x="190500" y="241300"/>
                </a:lnTo>
                <a:cubicBezTo>
                  <a:pt x="211534" y="241300"/>
                  <a:pt x="228600" y="224234"/>
                  <a:pt x="228600" y="203200"/>
                </a:cubicBezTo>
                <a:lnTo>
                  <a:pt x="228600" y="152400"/>
                </a:lnTo>
                <a:lnTo>
                  <a:pt x="254000" y="152400"/>
                </a:lnTo>
                <a:cubicBezTo>
                  <a:pt x="310118" y="152400"/>
                  <a:pt x="355600" y="197882"/>
                  <a:pt x="355600" y="254000"/>
                </a:cubicBezTo>
                <a:cubicBezTo>
                  <a:pt x="355600" y="310118"/>
                  <a:pt x="310118" y="355600"/>
                  <a:pt x="254000" y="355600"/>
                </a:cubicBezTo>
                <a:lnTo>
                  <a:pt x="25400" y="355600"/>
                </a:lnTo>
                <a:cubicBezTo>
                  <a:pt x="11351" y="355600"/>
                  <a:pt x="0" y="366951"/>
                  <a:pt x="0" y="381000"/>
                </a:cubicBezTo>
                <a:cubicBezTo>
                  <a:pt x="0" y="395049"/>
                  <a:pt x="11351" y="406400"/>
                  <a:pt x="25400" y="406400"/>
                </a:cubicBezTo>
                <a:lnTo>
                  <a:pt x="381000" y="406400"/>
                </a:lnTo>
                <a:cubicBezTo>
                  <a:pt x="395049" y="406400"/>
                  <a:pt x="406400" y="395049"/>
                  <a:pt x="406400" y="381000"/>
                </a:cubicBezTo>
                <a:cubicBezTo>
                  <a:pt x="406400" y="366951"/>
                  <a:pt x="395049" y="355600"/>
                  <a:pt x="381000" y="355600"/>
                </a:cubicBezTo>
                <a:lnTo>
                  <a:pt x="367586" y="355600"/>
                </a:lnTo>
                <a:cubicBezTo>
                  <a:pt x="391716" y="328613"/>
                  <a:pt x="406400" y="293053"/>
                  <a:pt x="406400" y="254000"/>
                </a:cubicBezTo>
                <a:cubicBezTo>
                  <a:pt x="406400" y="169863"/>
                  <a:pt x="338138" y="101600"/>
                  <a:pt x="254000" y="101600"/>
                </a:cubicBezTo>
                <a:lnTo>
                  <a:pt x="228600" y="101600"/>
                </a:lnTo>
                <a:lnTo>
                  <a:pt x="228600" y="38100"/>
                </a:lnTo>
                <a:cubicBezTo>
                  <a:pt x="228600" y="17066"/>
                  <a:pt x="211534" y="0"/>
                  <a:pt x="190500" y="0"/>
                </a:cubicBezTo>
                <a:lnTo>
                  <a:pt x="139700" y="0"/>
                </a:lnTo>
                <a:close/>
                <a:moveTo>
                  <a:pt x="95250" y="279400"/>
                </a:moveTo>
                <a:cubicBezTo>
                  <a:pt x="84693" y="279400"/>
                  <a:pt x="76200" y="287893"/>
                  <a:pt x="76200" y="298450"/>
                </a:cubicBezTo>
                <a:cubicBezTo>
                  <a:pt x="76200" y="309007"/>
                  <a:pt x="84693" y="317500"/>
                  <a:pt x="95250" y="317500"/>
                </a:cubicBezTo>
                <a:lnTo>
                  <a:pt x="234950" y="317500"/>
                </a:lnTo>
                <a:cubicBezTo>
                  <a:pt x="245507" y="317500"/>
                  <a:pt x="254000" y="309007"/>
                  <a:pt x="254000" y="298450"/>
                </a:cubicBezTo>
                <a:cubicBezTo>
                  <a:pt x="254000" y="287893"/>
                  <a:pt x="245507" y="279400"/>
                  <a:pt x="234950" y="279400"/>
                </a:cubicBezTo>
                <a:lnTo>
                  <a:pt x="95250" y="279400"/>
                </a:lnTo>
                <a:close/>
              </a:path>
            </a:pathLst>
          </a:custGeom>
          <a:solidFill>
            <a:srgbClr val="0077B6"/>
          </a:solidFill>
          <a:ln/>
        </p:spPr>
      </p:sp>
      <p:sp>
        <p:nvSpPr>
          <p:cNvPr id="23" name="Shape 21"/>
          <p:cNvSpPr/>
          <p:nvPr/>
        </p:nvSpPr>
        <p:spPr>
          <a:xfrm>
            <a:off x="8851900" y="1485900"/>
            <a:ext cx="508000" cy="279400"/>
          </a:xfrm>
          <a:prstGeom prst="roundRect">
            <a:avLst>
              <a:gd name="adj" fmla="val 10000"/>
            </a:avLst>
          </a:prstGeom>
          <a:solidFill>
            <a:srgbClr val="0077B6"/>
          </a:solidFill>
          <a:ln/>
        </p:spPr>
      </p:sp>
      <p:sp>
        <p:nvSpPr>
          <p:cNvPr id="24" name="Text 22"/>
          <p:cNvSpPr/>
          <p:nvPr/>
        </p:nvSpPr>
        <p:spPr>
          <a:xfrm>
            <a:off x="8851900" y="14859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PP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18500" y="1930400"/>
            <a:ext cx="292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 Tests Planned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318500" y="22098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7890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Diagnostics scheduled, resources set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430000" y="1968500"/>
            <a:ext cx="254000" cy="0"/>
          </a:xfrm>
          <a:prstGeom prst="straightConnector1">
            <a:avLst/>
          </a:prstGeom>
          <a:noFill/>
          <a:ln w="25400">
            <a:solidFill>
              <a:srgbClr val="00B4D8"/>
            </a:solidFill>
            <a:prstDash val="solid"/>
            <a:headEnd type="none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11684000" y="1333500"/>
            <a:ext cx="35560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59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1874500" y="1460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88900"/>
                </a:moveTo>
                <a:cubicBezTo>
                  <a:pt x="50800" y="67866"/>
                  <a:pt x="67866" y="50800"/>
                  <a:pt x="88900" y="50800"/>
                </a:cubicBezTo>
                <a:cubicBezTo>
                  <a:pt x="109934" y="50800"/>
                  <a:pt x="127000" y="67866"/>
                  <a:pt x="127000" y="88900"/>
                </a:cubicBezTo>
                <a:lnTo>
                  <a:pt x="127000" y="177800"/>
                </a:lnTo>
                <a:lnTo>
                  <a:pt x="50800" y="177800"/>
                </a:lnTo>
                <a:lnTo>
                  <a:pt x="50800" y="88900"/>
                </a:lnTo>
                <a:close/>
                <a:moveTo>
                  <a:pt x="139700" y="292100"/>
                </a:moveTo>
                <a:cubicBezTo>
                  <a:pt x="139700" y="253444"/>
                  <a:pt x="154067" y="218123"/>
                  <a:pt x="177800" y="191294"/>
                </a:cubicBezTo>
                <a:lnTo>
                  <a:pt x="177800" y="88900"/>
                </a:lnTo>
                <a:cubicBezTo>
                  <a:pt x="177800" y="39767"/>
                  <a:pt x="138033" y="0"/>
                  <a:pt x="88900" y="0"/>
                </a:cubicBezTo>
                <a:cubicBezTo>
                  <a:pt x="39767" y="0"/>
                  <a:pt x="0" y="39767"/>
                  <a:pt x="0" y="88900"/>
                </a:cubicBezTo>
                <a:lnTo>
                  <a:pt x="0" y="317500"/>
                </a:lnTo>
                <a:cubicBezTo>
                  <a:pt x="0" y="366633"/>
                  <a:pt x="39767" y="406400"/>
                  <a:pt x="88900" y="406400"/>
                </a:cubicBezTo>
                <a:cubicBezTo>
                  <a:pt x="118507" y="406400"/>
                  <a:pt x="144701" y="391954"/>
                  <a:pt x="160893" y="369649"/>
                </a:cubicBezTo>
                <a:cubicBezTo>
                  <a:pt x="147399" y="346948"/>
                  <a:pt x="139700" y="320437"/>
                  <a:pt x="139700" y="292100"/>
                </a:cubicBezTo>
                <a:close/>
                <a:moveTo>
                  <a:pt x="191056" y="345599"/>
                </a:moveTo>
                <a:cubicBezTo>
                  <a:pt x="194707" y="352504"/>
                  <a:pt x="203994" y="353298"/>
                  <a:pt x="209550" y="347742"/>
                </a:cubicBezTo>
                <a:lnTo>
                  <a:pt x="347742" y="209550"/>
                </a:lnTo>
                <a:cubicBezTo>
                  <a:pt x="353298" y="203994"/>
                  <a:pt x="352504" y="194707"/>
                  <a:pt x="345599" y="191056"/>
                </a:cubicBezTo>
                <a:cubicBezTo>
                  <a:pt x="329644" y="182563"/>
                  <a:pt x="311468" y="177800"/>
                  <a:pt x="292100" y="177800"/>
                </a:cubicBezTo>
                <a:cubicBezTo>
                  <a:pt x="228997" y="177800"/>
                  <a:pt x="177800" y="228997"/>
                  <a:pt x="177800" y="292100"/>
                </a:cubicBezTo>
                <a:cubicBezTo>
                  <a:pt x="177800" y="311388"/>
                  <a:pt x="182563" y="329644"/>
                  <a:pt x="191056" y="345599"/>
                </a:cubicBezTo>
                <a:close/>
                <a:moveTo>
                  <a:pt x="236458" y="374650"/>
                </a:moveTo>
                <a:cubicBezTo>
                  <a:pt x="230902" y="380206"/>
                  <a:pt x="231696" y="389493"/>
                  <a:pt x="238601" y="393144"/>
                </a:cubicBezTo>
                <a:cubicBezTo>
                  <a:pt x="254556" y="401638"/>
                  <a:pt x="272733" y="406400"/>
                  <a:pt x="292100" y="406400"/>
                </a:cubicBezTo>
                <a:cubicBezTo>
                  <a:pt x="355203" y="406400"/>
                  <a:pt x="406400" y="355203"/>
                  <a:pt x="406400" y="292100"/>
                </a:cubicBezTo>
                <a:cubicBezTo>
                  <a:pt x="406400" y="272812"/>
                  <a:pt x="401638" y="254556"/>
                  <a:pt x="393144" y="238601"/>
                </a:cubicBezTo>
                <a:cubicBezTo>
                  <a:pt x="389493" y="231696"/>
                  <a:pt x="380206" y="230902"/>
                  <a:pt x="374650" y="236458"/>
                </a:cubicBezTo>
                <a:lnTo>
                  <a:pt x="236458" y="374650"/>
                </a:lnTo>
                <a:close/>
              </a:path>
            </a:pathLst>
          </a:custGeom>
          <a:solidFill>
            <a:srgbClr val="0A1F44"/>
          </a:solidFill>
          <a:ln/>
        </p:spPr>
      </p:sp>
      <p:sp>
        <p:nvSpPr>
          <p:cNvPr id="30" name="Shape 28"/>
          <p:cNvSpPr/>
          <p:nvPr/>
        </p:nvSpPr>
        <p:spPr>
          <a:xfrm>
            <a:off x="12407900" y="1485900"/>
            <a:ext cx="508000" cy="279400"/>
          </a:xfrm>
          <a:prstGeom prst="roundRect">
            <a:avLst>
              <a:gd name="adj" fmla="val 10000"/>
            </a:avLst>
          </a:prstGeom>
          <a:solidFill>
            <a:srgbClr val="0A1F44"/>
          </a:solidFill>
          <a:ln/>
        </p:spPr>
      </p:sp>
      <p:sp>
        <p:nvSpPr>
          <p:cNvPr id="31" name="Text 29"/>
          <p:cNvSpPr/>
          <p:nvPr/>
        </p:nvSpPr>
        <p:spPr>
          <a:xfrm>
            <a:off x="12407900" y="14859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MM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874500" y="19304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Medicines Issued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874500" y="2209800"/>
            <a:ext cx="317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90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Stock auto-reduced at pharmacy storage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128000" y="2730500"/>
            <a:ext cx="0" cy="254000"/>
          </a:xfrm>
          <a:prstGeom prst="straightConnector1">
            <a:avLst/>
          </a:prstGeom>
          <a:noFill/>
          <a:ln w="25400">
            <a:solidFill>
              <a:srgbClr val="00B4D8"/>
            </a:solidFill>
            <a:prstDash val="solid"/>
            <a:headEnd type="none"/>
            <a:tailEnd type="arrow"/>
          </a:ln>
        </p:spPr>
      </p:sp>
      <p:sp>
        <p:nvSpPr>
          <p:cNvPr id="35" name="Shape 33"/>
          <p:cNvSpPr/>
          <p:nvPr/>
        </p:nvSpPr>
        <p:spPr>
          <a:xfrm>
            <a:off x="3302000" y="3048000"/>
            <a:ext cx="33020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59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543300" y="31750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50800" y="0"/>
                </a:moveTo>
                <a:cubicBezTo>
                  <a:pt x="22781" y="0"/>
                  <a:pt x="0" y="22781"/>
                  <a:pt x="0" y="50800"/>
                </a:cubicBezTo>
                <a:lnTo>
                  <a:pt x="0" y="355600"/>
                </a:lnTo>
                <a:cubicBezTo>
                  <a:pt x="0" y="383619"/>
                  <a:pt x="22781" y="406400"/>
                  <a:pt x="50800" y="406400"/>
                </a:cubicBezTo>
                <a:lnTo>
                  <a:pt x="254000" y="406400"/>
                </a:lnTo>
                <a:cubicBezTo>
                  <a:pt x="282019" y="406400"/>
                  <a:pt x="304800" y="383619"/>
                  <a:pt x="304800" y="355600"/>
                </a:cubicBezTo>
                <a:lnTo>
                  <a:pt x="304800" y="135334"/>
                </a:lnTo>
                <a:cubicBezTo>
                  <a:pt x="304800" y="121841"/>
                  <a:pt x="299482" y="108903"/>
                  <a:pt x="289957" y="99378"/>
                </a:cubicBezTo>
                <a:lnTo>
                  <a:pt x="205343" y="14843"/>
                </a:lnTo>
                <a:cubicBezTo>
                  <a:pt x="195818" y="5318"/>
                  <a:pt x="182959" y="0"/>
                  <a:pt x="169466" y="0"/>
                </a:cubicBezTo>
                <a:lnTo>
                  <a:pt x="50800" y="0"/>
                </a:lnTo>
                <a:close/>
                <a:moveTo>
                  <a:pt x="258366" y="139700"/>
                </a:moveTo>
                <a:lnTo>
                  <a:pt x="184150" y="139700"/>
                </a:lnTo>
                <a:cubicBezTo>
                  <a:pt x="173593" y="139700"/>
                  <a:pt x="165100" y="131207"/>
                  <a:pt x="165100" y="120650"/>
                </a:cubicBezTo>
                <a:lnTo>
                  <a:pt x="165100" y="46434"/>
                </a:lnTo>
                <a:lnTo>
                  <a:pt x="258366" y="139700"/>
                </a:lnTo>
                <a:close/>
                <a:moveTo>
                  <a:pt x="50800" y="304800"/>
                </a:moveTo>
                <a:lnTo>
                  <a:pt x="50800" y="254000"/>
                </a:lnTo>
                <a:cubicBezTo>
                  <a:pt x="50800" y="239951"/>
                  <a:pt x="62151" y="228600"/>
                  <a:pt x="76200" y="228600"/>
                </a:cubicBezTo>
                <a:lnTo>
                  <a:pt x="228600" y="228600"/>
                </a:lnTo>
                <a:cubicBezTo>
                  <a:pt x="242649" y="228600"/>
                  <a:pt x="254000" y="239951"/>
                  <a:pt x="254000" y="254000"/>
                </a:cubicBezTo>
                <a:lnTo>
                  <a:pt x="254000" y="304800"/>
                </a:lnTo>
                <a:cubicBezTo>
                  <a:pt x="254000" y="318849"/>
                  <a:pt x="242649" y="330200"/>
                  <a:pt x="228600" y="330200"/>
                </a:cubicBezTo>
                <a:lnTo>
                  <a:pt x="76200" y="330200"/>
                </a:lnTo>
                <a:cubicBezTo>
                  <a:pt x="62151" y="330200"/>
                  <a:pt x="50800" y="318849"/>
                  <a:pt x="50800" y="304800"/>
                </a:cubicBezTo>
                <a:close/>
                <a:moveTo>
                  <a:pt x="69850" y="50800"/>
                </a:moveTo>
                <a:lnTo>
                  <a:pt x="107950" y="50800"/>
                </a:lnTo>
                <a:cubicBezTo>
                  <a:pt x="118507" y="50800"/>
                  <a:pt x="127000" y="59293"/>
                  <a:pt x="127000" y="69850"/>
                </a:cubicBezTo>
                <a:cubicBezTo>
                  <a:pt x="127000" y="80407"/>
                  <a:pt x="118507" y="88900"/>
                  <a:pt x="107950" y="88900"/>
                </a:cubicBezTo>
                <a:lnTo>
                  <a:pt x="69850" y="88900"/>
                </a:lnTo>
                <a:cubicBezTo>
                  <a:pt x="59293" y="88900"/>
                  <a:pt x="50800" y="80407"/>
                  <a:pt x="50800" y="69850"/>
                </a:cubicBezTo>
                <a:cubicBezTo>
                  <a:pt x="50800" y="59293"/>
                  <a:pt x="59293" y="50800"/>
                  <a:pt x="69850" y="50800"/>
                </a:cubicBezTo>
                <a:close/>
                <a:moveTo>
                  <a:pt x="69850" y="127000"/>
                </a:moveTo>
                <a:lnTo>
                  <a:pt x="107950" y="127000"/>
                </a:lnTo>
                <a:cubicBezTo>
                  <a:pt x="118507" y="127000"/>
                  <a:pt x="127000" y="135493"/>
                  <a:pt x="127000" y="146050"/>
                </a:cubicBezTo>
                <a:cubicBezTo>
                  <a:pt x="127000" y="156607"/>
                  <a:pt x="118507" y="165100"/>
                  <a:pt x="107950" y="165100"/>
                </a:cubicBezTo>
                <a:lnTo>
                  <a:pt x="69850" y="165100"/>
                </a:lnTo>
                <a:cubicBezTo>
                  <a:pt x="59293" y="165100"/>
                  <a:pt x="50800" y="156607"/>
                  <a:pt x="50800" y="146050"/>
                </a:cubicBezTo>
                <a:cubicBezTo>
                  <a:pt x="50800" y="135493"/>
                  <a:pt x="59293" y="127000"/>
                  <a:pt x="69850" y="12700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37" name="Shape 35"/>
          <p:cNvSpPr/>
          <p:nvPr/>
        </p:nvSpPr>
        <p:spPr>
          <a:xfrm>
            <a:off x="4025900" y="3200400"/>
            <a:ext cx="508000" cy="279400"/>
          </a:xfrm>
          <a:prstGeom prst="roundRect">
            <a:avLst>
              <a:gd name="adj" fmla="val 10000"/>
            </a:avLst>
          </a:prstGeom>
          <a:solidFill>
            <a:srgbClr val="00B4D8"/>
          </a:solidFill>
          <a:ln/>
        </p:spPr>
      </p:sp>
      <p:sp>
        <p:nvSpPr>
          <p:cNvPr id="38" name="Text 36"/>
          <p:cNvSpPr/>
          <p:nvPr/>
        </p:nvSpPr>
        <p:spPr>
          <a:xfrm>
            <a:off x="4025900" y="32004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SD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492500" y="3644900"/>
            <a:ext cx="292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Billing Generated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3492500" y="3924300"/>
            <a:ext cx="292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90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Itemized invoice for all services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604000" y="3683000"/>
            <a:ext cx="254000" cy="0"/>
          </a:xfrm>
          <a:prstGeom prst="straightConnector1">
            <a:avLst/>
          </a:prstGeom>
          <a:noFill/>
          <a:ln w="25400">
            <a:solidFill>
              <a:srgbClr val="00B4D8"/>
            </a:solidFill>
            <a:prstDash val="solid"/>
            <a:headEnd type="none"/>
            <a:tailEnd type="arrow"/>
          </a:ln>
        </p:spPr>
      </p:sp>
      <p:sp>
        <p:nvSpPr>
          <p:cNvPr id="42" name="Shape 40"/>
          <p:cNvSpPr/>
          <p:nvPr/>
        </p:nvSpPr>
        <p:spPr>
          <a:xfrm>
            <a:off x="6858000" y="3048000"/>
            <a:ext cx="33020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59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048500" y="3175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333058"/>
                </a:moveTo>
                <a:lnTo>
                  <a:pt x="0" y="86916"/>
                </a:lnTo>
                <a:cubicBezTo>
                  <a:pt x="0" y="68501"/>
                  <a:pt x="19129" y="56277"/>
                  <a:pt x="36751" y="61516"/>
                </a:cubicBezTo>
                <a:cubicBezTo>
                  <a:pt x="106363" y="82312"/>
                  <a:pt x="155575" y="65881"/>
                  <a:pt x="205105" y="49371"/>
                </a:cubicBezTo>
                <a:cubicBezTo>
                  <a:pt x="256302" y="32306"/>
                  <a:pt x="307816" y="15161"/>
                  <a:pt x="382349" y="38973"/>
                </a:cubicBezTo>
                <a:cubicBezTo>
                  <a:pt x="397034" y="43656"/>
                  <a:pt x="406400" y="57864"/>
                  <a:pt x="406400" y="73343"/>
                </a:cubicBezTo>
                <a:lnTo>
                  <a:pt x="406400" y="319484"/>
                </a:lnTo>
                <a:cubicBezTo>
                  <a:pt x="406400" y="337899"/>
                  <a:pt x="387271" y="350123"/>
                  <a:pt x="369729" y="344884"/>
                </a:cubicBezTo>
                <a:cubicBezTo>
                  <a:pt x="300117" y="324088"/>
                  <a:pt x="250825" y="340519"/>
                  <a:pt x="201374" y="357029"/>
                </a:cubicBezTo>
                <a:cubicBezTo>
                  <a:pt x="150178" y="374094"/>
                  <a:pt x="98663" y="391239"/>
                  <a:pt x="24130" y="367427"/>
                </a:cubicBezTo>
                <a:cubicBezTo>
                  <a:pt x="9446" y="362744"/>
                  <a:pt x="79" y="348536"/>
                  <a:pt x="79" y="333058"/>
                </a:cubicBezTo>
                <a:close/>
                <a:moveTo>
                  <a:pt x="266700" y="203200"/>
                </a:moveTo>
                <a:cubicBezTo>
                  <a:pt x="266700" y="161131"/>
                  <a:pt x="238284" y="127000"/>
                  <a:pt x="203200" y="127000"/>
                </a:cubicBezTo>
                <a:cubicBezTo>
                  <a:pt x="168116" y="127000"/>
                  <a:pt x="139700" y="161131"/>
                  <a:pt x="139700" y="203200"/>
                </a:cubicBezTo>
                <a:cubicBezTo>
                  <a:pt x="139700" y="245269"/>
                  <a:pt x="168116" y="279400"/>
                  <a:pt x="203200" y="279400"/>
                </a:cubicBezTo>
                <a:cubicBezTo>
                  <a:pt x="238284" y="279400"/>
                  <a:pt x="266700" y="245269"/>
                  <a:pt x="266700" y="203200"/>
                </a:cubicBezTo>
                <a:close/>
                <a:moveTo>
                  <a:pt x="95250" y="328295"/>
                </a:moveTo>
                <a:cubicBezTo>
                  <a:pt x="98743" y="328295"/>
                  <a:pt x="101521" y="325279"/>
                  <a:pt x="100965" y="321866"/>
                </a:cubicBezTo>
                <a:cubicBezTo>
                  <a:pt x="97314" y="299799"/>
                  <a:pt x="79534" y="282575"/>
                  <a:pt x="57150" y="279797"/>
                </a:cubicBezTo>
                <a:cubicBezTo>
                  <a:pt x="53657" y="279400"/>
                  <a:pt x="50800" y="282258"/>
                  <a:pt x="50800" y="285750"/>
                </a:cubicBezTo>
                <a:lnTo>
                  <a:pt x="50800" y="317421"/>
                </a:lnTo>
                <a:cubicBezTo>
                  <a:pt x="50800" y="320278"/>
                  <a:pt x="52705" y="322818"/>
                  <a:pt x="55563" y="323532"/>
                </a:cubicBezTo>
                <a:cubicBezTo>
                  <a:pt x="69771" y="326866"/>
                  <a:pt x="82788" y="328374"/>
                  <a:pt x="95250" y="328374"/>
                </a:cubicBezTo>
                <a:close/>
                <a:moveTo>
                  <a:pt x="348059" y="287734"/>
                </a:moveTo>
                <a:cubicBezTo>
                  <a:pt x="352028" y="288369"/>
                  <a:pt x="355600" y="285353"/>
                  <a:pt x="355600" y="281384"/>
                </a:cubicBezTo>
                <a:lnTo>
                  <a:pt x="355600" y="247571"/>
                </a:lnTo>
                <a:cubicBezTo>
                  <a:pt x="355600" y="244078"/>
                  <a:pt x="352742" y="241141"/>
                  <a:pt x="349250" y="241618"/>
                </a:cubicBezTo>
                <a:cubicBezTo>
                  <a:pt x="329248" y="244078"/>
                  <a:pt x="312817" y="258207"/>
                  <a:pt x="307023" y="277019"/>
                </a:cubicBezTo>
                <a:cubicBezTo>
                  <a:pt x="305911" y="280749"/>
                  <a:pt x="308848" y="284242"/>
                  <a:pt x="312738" y="284321"/>
                </a:cubicBezTo>
                <a:cubicBezTo>
                  <a:pt x="324009" y="284639"/>
                  <a:pt x="335756" y="285671"/>
                  <a:pt x="347980" y="287734"/>
                </a:cubicBezTo>
                <a:close/>
                <a:moveTo>
                  <a:pt x="355600" y="120650"/>
                </a:moveTo>
                <a:lnTo>
                  <a:pt x="355600" y="88979"/>
                </a:lnTo>
                <a:cubicBezTo>
                  <a:pt x="355600" y="86122"/>
                  <a:pt x="353616" y="83582"/>
                  <a:pt x="350838" y="82868"/>
                </a:cubicBezTo>
                <a:cubicBezTo>
                  <a:pt x="336629" y="79534"/>
                  <a:pt x="323612" y="78026"/>
                  <a:pt x="311150" y="78026"/>
                </a:cubicBezTo>
                <a:cubicBezTo>
                  <a:pt x="307658" y="78026"/>
                  <a:pt x="304879" y="81042"/>
                  <a:pt x="305435" y="84455"/>
                </a:cubicBezTo>
                <a:cubicBezTo>
                  <a:pt x="309086" y="106521"/>
                  <a:pt x="326866" y="123746"/>
                  <a:pt x="349250" y="126524"/>
                </a:cubicBezTo>
                <a:cubicBezTo>
                  <a:pt x="352742" y="126921"/>
                  <a:pt x="355600" y="124063"/>
                  <a:pt x="355600" y="120571"/>
                </a:cubicBezTo>
                <a:close/>
                <a:moveTo>
                  <a:pt x="99378" y="129302"/>
                </a:moveTo>
                <a:cubicBezTo>
                  <a:pt x="100489" y="125571"/>
                  <a:pt x="97552" y="122079"/>
                  <a:pt x="93663" y="121999"/>
                </a:cubicBezTo>
                <a:cubicBezTo>
                  <a:pt x="82391" y="121682"/>
                  <a:pt x="70644" y="120650"/>
                  <a:pt x="58420" y="118586"/>
                </a:cubicBezTo>
                <a:cubicBezTo>
                  <a:pt x="54451" y="117951"/>
                  <a:pt x="50879" y="120968"/>
                  <a:pt x="50879" y="124936"/>
                </a:cubicBezTo>
                <a:lnTo>
                  <a:pt x="50800" y="158750"/>
                </a:lnTo>
                <a:cubicBezTo>
                  <a:pt x="50800" y="162243"/>
                  <a:pt x="53657" y="165179"/>
                  <a:pt x="57150" y="164703"/>
                </a:cubicBezTo>
                <a:cubicBezTo>
                  <a:pt x="77153" y="162243"/>
                  <a:pt x="93583" y="148114"/>
                  <a:pt x="99378" y="129302"/>
                </a:cubicBezTo>
                <a:close/>
              </a:path>
            </a:pathLst>
          </a:custGeom>
          <a:solidFill>
            <a:srgbClr val="0A1F44"/>
          </a:solidFill>
          <a:ln/>
        </p:spPr>
      </p:sp>
      <p:sp>
        <p:nvSpPr>
          <p:cNvPr id="44" name="Shape 42"/>
          <p:cNvSpPr/>
          <p:nvPr/>
        </p:nvSpPr>
        <p:spPr>
          <a:xfrm>
            <a:off x="7581900" y="3200400"/>
            <a:ext cx="635000" cy="279400"/>
          </a:xfrm>
          <a:prstGeom prst="roundRect">
            <a:avLst>
              <a:gd name="adj" fmla="val 10000"/>
            </a:avLst>
          </a:prstGeom>
          <a:solidFill>
            <a:srgbClr val="0A1F44"/>
          </a:solidFill>
          <a:ln/>
        </p:spPr>
      </p:sp>
      <p:sp>
        <p:nvSpPr>
          <p:cNvPr id="45" name="Text 43"/>
          <p:cNvSpPr/>
          <p:nvPr/>
        </p:nvSpPr>
        <p:spPr>
          <a:xfrm>
            <a:off x="7581900" y="3200400"/>
            <a:ext cx="63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FICO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048500" y="3644900"/>
            <a:ext cx="292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Payment Processed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048500" y="3924300"/>
            <a:ext cx="292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90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Revenue posting auto from SD billing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0160000" y="3683000"/>
            <a:ext cx="254000" cy="0"/>
          </a:xfrm>
          <a:prstGeom prst="straightConnector1">
            <a:avLst/>
          </a:prstGeom>
          <a:noFill/>
          <a:ln w="25400">
            <a:solidFill>
              <a:srgbClr val="00B4D8"/>
            </a:solidFill>
            <a:prstDash val="solid"/>
            <a:headEnd type="none"/>
            <a:tailEnd type="arrow"/>
          </a:ln>
        </p:spPr>
      </p:sp>
      <p:sp>
        <p:nvSpPr>
          <p:cNvPr id="49" name="Shape 47"/>
          <p:cNvSpPr/>
          <p:nvPr/>
        </p:nvSpPr>
        <p:spPr>
          <a:xfrm>
            <a:off x="10414000" y="3048000"/>
            <a:ext cx="35560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59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10553700" y="31750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254000" y="12700"/>
                </a:moveTo>
                <a:cubicBezTo>
                  <a:pt x="299561" y="12700"/>
                  <a:pt x="336550" y="49689"/>
                  <a:pt x="336550" y="95250"/>
                </a:cubicBezTo>
                <a:cubicBezTo>
                  <a:pt x="336550" y="140811"/>
                  <a:pt x="299561" y="177800"/>
                  <a:pt x="254000" y="177800"/>
                </a:cubicBezTo>
                <a:cubicBezTo>
                  <a:pt x="208439" y="177800"/>
                  <a:pt x="171450" y="140811"/>
                  <a:pt x="171450" y="95250"/>
                </a:cubicBezTo>
                <a:cubicBezTo>
                  <a:pt x="171450" y="49689"/>
                  <a:pt x="208439" y="12700"/>
                  <a:pt x="254000" y="12700"/>
                </a:cubicBezTo>
                <a:close/>
                <a:moveTo>
                  <a:pt x="76200" y="69850"/>
                </a:moveTo>
                <a:cubicBezTo>
                  <a:pt x="107742" y="69850"/>
                  <a:pt x="133350" y="95458"/>
                  <a:pt x="133350" y="127000"/>
                </a:cubicBezTo>
                <a:cubicBezTo>
                  <a:pt x="133350" y="158542"/>
                  <a:pt x="107742" y="184150"/>
                  <a:pt x="76200" y="184150"/>
                </a:cubicBezTo>
                <a:cubicBezTo>
                  <a:pt x="44658" y="184150"/>
                  <a:pt x="19050" y="158542"/>
                  <a:pt x="19050" y="127000"/>
                </a:cubicBezTo>
                <a:cubicBezTo>
                  <a:pt x="19050" y="95458"/>
                  <a:pt x="44658" y="69850"/>
                  <a:pt x="76200" y="69850"/>
                </a:cubicBezTo>
                <a:close/>
                <a:moveTo>
                  <a:pt x="0" y="330200"/>
                </a:moveTo>
                <a:cubicBezTo>
                  <a:pt x="0" y="274082"/>
                  <a:pt x="45482" y="228600"/>
                  <a:pt x="101600" y="228600"/>
                </a:cubicBezTo>
                <a:cubicBezTo>
                  <a:pt x="111760" y="228600"/>
                  <a:pt x="121603" y="230108"/>
                  <a:pt x="130889" y="232886"/>
                </a:cubicBezTo>
                <a:cubicBezTo>
                  <a:pt x="104775" y="262096"/>
                  <a:pt x="88900" y="300672"/>
                  <a:pt x="88900" y="342900"/>
                </a:cubicBezTo>
                <a:lnTo>
                  <a:pt x="88900" y="355600"/>
                </a:lnTo>
                <a:cubicBezTo>
                  <a:pt x="88900" y="364649"/>
                  <a:pt x="90805" y="373221"/>
                  <a:pt x="94218" y="381000"/>
                </a:cubicBezTo>
                <a:lnTo>
                  <a:pt x="25400" y="381000"/>
                </a:lnTo>
                <a:cubicBezTo>
                  <a:pt x="11351" y="381000"/>
                  <a:pt x="0" y="369649"/>
                  <a:pt x="0" y="355600"/>
                </a:cubicBezTo>
                <a:lnTo>
                  <a:pt x="0" y="330200"/>
                </a:lnTo>
                <a:close/>
                <a:moveTo>
                  <a:pt x="413782" y="381000"/>
                </a:moveTo>
                <a:cubicBezTo>
                  <a:pt x="417195" y="373221"/>
                  <a:pt x="419100" y="364649"/>
                  <a:pt x="419100" y="355600"/>
                </a:cubicBezTo>
                <a:lnTo>
                  <a:pt x="419100" y="342900"/>
                </a:lnTo>
                <a:cubicBezTo>
                  <a:pt x="419100" y="300673"/>
                  <a:pt x="403225" y="262096"/>
                  <a:pt x="377111" y="232886"/>
                </a:cubicBezTo>
                <a:cubicBezTo>
                  <a:pt x="386398" y="230108"/>
                  <a:pt x="396240" y="228600"/>
                  <a:pt x="406400" y="228600"/>
                </a:cubicBezTo>
                <a:cubicBezTo>
                  <a:pt x="462518" y="228600"/>
                  <a:pt x="508000" y="274082"/>
                  <a:pt x="508000" y="330200"/>
                </a:cubicBezTo>
                <a:lnTo>
                  <a:pt x="508000" y="355600"/>
                </a:lnTo>
                <a:cubicBezTo>
                  <a:pt x="508000" y="369649"/>
                  <a:pt x="496649" y="381000"/>
                  <a:pt x="482600" y="381000"/>
                </a:cubicBezTo>
                <a:lnTo>
                  <a:pt x="413782" y="381000"/>
                </a:lnTo>
                <a:close/>
                <a:moveTo>
                  <a:pt x="374650" y="127000"/>
                </a:moveTo>
                <a:cubicBezTo>
                  <a:pt x="374650" y="95458"/>
                  <a:pt x="400258" y="69850"/>
                  <a:pt x="431800" y="69850"/>
                </a:cubicBezTo>
                <a:cubicBezTo>
                  <a:pt x="463342" y="69850"/>
                  <a:pt x="488950" y="95458"/>
                  <a:pt x="488950" y="127000"/>
                </a:cubicBezTo>
                <a:cubicBezTo>
                  <a:pt x="488950" y="158542"/>
                  <a:pt x="463342" y="184150"/>
                  <a:pt x="431800" y="184150"/>
                </a:cubicBezTo>
                <a:cubicBezTo>
                  <a:pt x="400258" y="184150"/>
                  <a:pt x="374650" y="158542"/>
                  <a:pt x="374650" y="127000"/>
                </a:cubicBezTo>
                <a:close/>
                <a:moveTo>
                  <a:pt x="127000" y="342900"/>
                </a:moveTo>
                <a:cubicBezTo>
                  <a:pt x="127000" y="272733"/>
                  <a:pt x="183833" y="215900"/>
                  <a:pt x="254000" y="215900"/>
                </a:cubicBezTo>
                <a:cubicBezTo>
                  <a:pt x="324167" y="215900"/>
                  <a:pt x="381000" y="272733"/>
                  <a:pt x="381000" y="342900"/>
                </a:cubicBezTo>
                <a:lnTo>
                  <a:pt x="381000" y="355600"/>
                </a:lnTo>
                <a:cubicBezTo>
                  <a:pt x="381000" y="369649"/>
                  <a:pt x="369649" y="381000"/>
                  <a:pt x="355600" y="381000"/>
                </a:cubicBezTo>
                <a:lnTo>
                  <a:pt x="152400" y="381000"/>
                </a:lnTo>
                <a:cubicBezTo>
                  <a:pt x="138351" y="381000"/>
                  <a:pt x="127000" y="369649"/>
                  <a:pt x="127000" y="355600"/>
                </a:cubicBezTo>
                <a:lnTo>
                  <a:pt x="127000" y="342900"/>
                </a:lnTo>
                <a:close/>
              </a:path>
            </a:pathLst>
          </a:custGeom>
          <a:solidFill>
            <a:srgbClr val="546E7A"/>
          </a:solidFill>
          <a:ln/>
        </p:spPr>
      </p:sp>
      <p:sp>
        <p:nvSpPr>
          <p:cNvPr id="51" name="Shape 49"/>
          <p:cNvSpPr/>
          <p:nvPr/>
        </p:nvSpPr>
        <p:spPr>
          <a:xfrm>
            <a:off x="11137900" y="3200400"/>
            <a:ext cx="508000" cy="279400"/>
          </a:xfrm>
          <a:prstGeom prst="roundRect">
            <a:avLst>
              <a:gd name="adj" fmla="val 10000"/>
            </a:avLst>
          </a:prstGeom>
          <a:solidFill>
            <a:srgbClr val="546E7A"/>
          </a:solidFill>
          <a:ln/>
        </p:spPr>
      </p:sp>
      <p:sp>
        <p:nvSpPr>
          <p:cNvPr id="52" name="Text 50"/>
          <p:cNvSpPr/>
          <p:nvPr/>
        </p:nvSpPr>
        <p:spPr>
          <a:xfrm>
            <a:off x="11137900" y="32004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HR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604500" y="36449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Staff Managed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0604500" y="39243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7890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Staff care tracked, payroll processed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1016000" y="4889500"/>
            <a:ext cx="14224000" cy="6985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00B4D8"/>
              </a:gs>
              <a:gs pos="100000">
                <a:srgbClr val="0077B6"/>
              </a:gs>
            </a:gsLst>
            <a:lin ang="0" scaled="1"/>
          </a:gradFill>
          <a:ln/>
        </p:spPr>
      </p:sp>
      <p:sp>
        <p:nvSpPr>
          <p:cNvPr id="56" name="Text 54"/>
          <p:cNvSpPr/>
          <p:nvPr/>
        </p:nvSpPr>
        <p:spPr>
          <a:xfrm>
            <a:off x="1333500" y="4953000"/>
            <a:ext cx="13589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 modules communicate in real time</a:t>
            </a: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creating a unified, error-free patient experience from registration to discharge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0A1F44"/>
            </a:solidFill>
            <a:prstDash val="solid"/>
            <a:headEnd type="none"/>
            <a:tailEnd type="none"/>
          </a:ln>
        </p:spPr>
      </p:sp>
      <p:sp>
        <p:nvSpPr>
          <p:cNvPr id="58" name="Text 56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 / 19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00B4D8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101600"/>
            <a:ext cx="1143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Expected Strategic Benefits of ERP + SAP Fiori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30000" y="774700"/>
            <a:ext cx="4318000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dirty="0">
                <a:solidFill>
                  <a:srgbClr val="90E0EF">
                    <a:alpha val="25098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SRM University AP | Hospital ERP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9144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ERP Benefits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16000" y="1295400"/>
            <a:ext cx="6858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59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98575" y="1524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302538" y="-8840"/>
                </a:moveTo>
                <a:cubicBezTo>
                  <a:pt x="313164" y="-1161"/>
                  <a:pt x="317093" y="12769"/>
                  <a:pt x="312271" y="24914"/>
                </a:cubicBezTo>
                <a:lnTo>
                  <a:pt x="242262" y="200025"/>
                </a:lnTo>
                <a:lnTo>
                  <a:pt x="371475" y="200025"/>
                </a:lnTo>
                <a:cubicBezTo>
                  <a:pt x="383530" y="200025"/>
                  <a:pt x="394246" y="207526"/>
                  <a:pt x="398353" y="218867"/>
                </a:cubicBezTo>
                <a:cubicBezTo>
                  <a:pt x="402461" y="230207"/>
                  <a:pt x="398978" y="242888"/>
                  <a:pt x="389781" y="250567"/>
                </a:cubicBezTo>
                <a:lnTo>
                  <a:pt x="132606" y="464880"/>
                </a:lnTo>
                <a:cubicBezTo>
                  <a:pt x="122515" y="473273"/>
                  <a:pt x="108139" y="473720"/>
                  <a:pt x="97512" y="466040"/>
                </a:cubicBezTo>
                <a:cubicBezTo>
                  <a:pt x="86886" y="458361"/>
                  <a:pt x="82957" y="444431"/>
                  <a:pt x="87779" y="432286"/>
                </a:cubicBezTo>
                <a:lnTo>
                  <a:pt x="157788" y="257175"/>
                </a:lnTo>
                <a:lnTo>
                  <a:pt x="28575" y="257175"/>
                </a:lnTo>
                <a:cubicBezTo>
                  <a:pt x="16520" y="257175"/>
                  <a:pt x="5804" y="249674"/>
                  <a:pt x="1697" y="238333"/>
                </a:cubicBezTo>
                <a:cubicBezTo>
                  <a:pt x="-2411" y="226993"/>
                  <a:pt x="1072" y="214312"/>
                  <a:pt x="10269" y="206633"/>
                </a:cubicBezTo>
                <a:lnTo>
                  <a:pt x="267444" y="-7680"/>
                </a:lnTo>
                <a:cubicBezTo>
                  <a:pt x="277535" y="-16073"/>
                  <a:pt x="291911" y="-16520"/>
                  <a:pt x="302538" y="-884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1879600" y="14224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Real-Time Data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79600" y="1778000"/>
            <a:ext cx="571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Immediate insights across all departments for faster decision-making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82000" y="1295400"/>
            <a:ext cx="6858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59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36000" y="152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303967" y="189934"/>
                </a:moveTo>
                <a:lnTo>
                  <a:pt x="232529" y="304234"/>
                </a:lnTo>
                <a:cubicBezTo>
                  <a:pt x="228779" y="310217"/>
                  <a:pt x="222349" y="313968"/>
                  <a:pt x="215295" y="314325"/>
                </a:cubicBezTo>
                <a:cubicBezTo>
                  <a:pt x="208240" y="314682"/>
                  <a:pt x="201454" y="311468"/>
                  <a:pt x="197257" y="305753"/>
                </a:cubicBezTo>
                <a:lnTo>
                  <a:pt x="154394" y="248602"/>
                </a:lnTo>
                <a:cubicBezTo>
                  <a:pt x="147251" y="239137"/>
                  <a:pt x="149215" y="225743"/>
                  <a:pt x="158681" y="218599"/>
                </a:cubicBezTo>
                <a:cubicBezTo>
                  <a:pt x="168146" y="211455"/>
                  <a:pt x="181541" y="213420"/>
                  <a:pt x="188684" y="222885"/>
                </a:cubicBezTo>
                <a:lnTo>
                  <a:pt x="212794" y="255032"/>
                </a:lnTo>
                <a:lnTo>
                  <a:pt x="267623" y="167253"/>
                </a:lnTo>
                <a:cubicBezTo>
                  <a:pt x="273874" y="157252"/>
                  <a:pt x="287089" y="154126"/>
                  <a:pt x="297180" y="160466"/>
                </a:cubicBezTo>
                <a:cubicBezTo>
                  <a:pt x="307271" y="166807"/>
                  <a:pt x="310307" y="179933"/>
                  <a:pt x="303967" y="190024"/>
                </a:cubicBez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13" name="Text 11"/>
          <p:cNvSpPr/>
          <p:nvPr/>
        </p:nvSpPr>
        <p:spPr>
          <a:xfrm>
            <a:off x="9245600" y="14224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Reduced Errors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245600" y="1778000"/>
            <a:ext cx="5715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Automation eliminates manual data entry mistakes and inconsistencies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16000" y="2590800"/>
            <a:ext cx="6858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59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241425" y="28194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40119" y="76081"/>
                </a:moveTo>
                <a:lnTo>
                  <a:pt x="135999" y="191810"/>
                </a:lnTo>
                <a:cubicBezTo>
                  <a:pt x="131891" y="196364"/>
                  <a:pt x="132070" y="203418"/>
                  <a:pt x="136446" y="207794"/>
                </a:cubicBezTo>
                <a:cubicBezTo>
                  <a:pt x="163681" y="235029"/>
                  <a:pt x="207883" y="235029"/>
                  <a:pt x="235119" y="207794"/>
                </a:cubicBezTo>
                <a:lnTo>
                  <a:pt x="263515" y="179397"/>
                </a:lnTo>
                <a:cubicBezTo>
                  <a:pt x="267266" y="175647"/>
                  <a:pt x="271998" y="173593"/>
                  <a:pt x="276820" y="173236"/>
                </a:cubicBezTo>
                <a:cubicBezTo>
                  <a:pt x="282893" y="172700"/>
                  <a:pt x="289143" y="174754"/>
                  <a:pt x="293787" y="179397"/>
                </a:cubicBezTo>
                <a:lnTo>
                  <a:pt x="451485" y="335756"/>
                </a:lnTo>
                <a:lnTo>
                  <a:pt x="514350" y="285750"/>
                </a:lnTo>
                <a:lnTo>
                  <a:pt x="514350" y="28575"/>
                </a:lnTo>
                <a:lnTo>
                  <a:pt x="414338" y="85725"/>
                </a:lnTo>
                <a:lnTo>
                  <a:pt x="393085" y="71527"/>
                </a:lnTo>
                <a:cubicBezTo>
                  <a:pt x="378976" y="62151"/>
                  <a:pt x="362456" y="57150"/>
                  <a:pt x="345490" y="57150"/>
                </a:cubicBezTo>
                <a:lnTo>
                  <a:pt x="282625" y="57150"/>
                </a:lnTo>
                <a:cubicBezTo>
                  <a:pt x="281642" y="57150"/>
                  <a:pt x="280571" y="57150"/>
                  <a:pt x="279589" y="57239"/>
                </a:cubicBezTo>
                <a:cubicBezTo>
                  <a:pt x="264497" y="58043"/>
                  <a:pt x="250299" y="64830"/>
                  <a:pt x="240119" y="76081"/>
                </a:cubicBezTo>
                <a:close/>
                <a:moveTo>
                  <a:pt x="104120" y="163145"/>
                </a:moveTo>
                <a:lnTo>
                  <a:pt x="199489" y="57150"/>
                </a:lnTo>
                <a:lnTo>
                  <a:pt x="164128" y="57150"/>
                </a:lnTo>
                <a:cubicBezTo>
                  <a:pt x="141357" y="57150"/>
                  <a:pt x="119569" y="66169"/>
                  <a:pt x="103495" y="82242"/>
                </a:cubicBezTo>
                <a:lnTo>
                  <a:pt x="100013" y="85725"/>
                </a:lnTo>
                <a:lnTo>
                  <a:pt x="0" y="28575"/>
                </a:lnTo>
                <a:lnTo>
                  <a:pt x="0" y="285750"/>
                </a:lnTo>
                <a:lnTo>
                  <a:pt x="139660" y="402104"/>
                </a:lnTo>
                <a:cubicBezTo>
                  <a:pt x="160199" y="419249"/>
                  <a:pt x="186095" y="428625"/>
                  <a:pt x="212794" y="428625"/>
                </a:cubicBezTo>
                <a:lnTo>
                  <a:pt x="226814" y="428625"/>
                </a:lnTo>
                <a:lnTo>
                  <a:pt x="220563" y="422374"/>
                </a:lnTo>
                <a:cubicBezTo>
                  <a:pt x="212169" y="413980"/>
                  <a:pt x="212169" y="400407"/>
                  <a:pt x="220563" y="392103"/>
                </a:cubicBezTo>
                <a:cubicBezTo>
                  <a:pt x="228957" y="383798"/>
                  <a:pt x="242530" y="383709"/>
                  <a:pt x="250835" y="392103"/>
                </a:cubicBezTo>
                <a:lnTo>
                  <a:pt x="287447" y="428714"/>
                </a:lnTo>
                <a:lnTo>
                  <a:pt x="295483" y="428714"/>
                </a:lnTo>
                <a:cubicBezTo>
                  <a:pt x="312539" y="428714"/>
                  <a:pt x="329238" y="424875"/>
                  <a:pt x="344418" y="417731"/>
                </a:cubicBezTo>
                <a:lnTo>
                  <a:pt x="320576" y="393799"/>
                </a:lnTo>
                <a:cubicBezTo>
                  <a:pt x="312182" y="385405"/>
                  <a:pt x="312182" y="371832"/>
                  <a:pt x="320576" y="363528"/>
                </a:cubicBezTo>
                <a:cubicBezTo>
                  <a:pt x="328970" y="355223"/>
                  <a:pt x="342543" y="355134"/>
                  <a:pt x="350847" y="363528"/>
                </a:cubicBezTo>
                <a:lnTo>
                  <a:pt x="379422" y="392103"/>
                </a:lnTo>
                <a:lnTo>
                  <a:pt x="395049" y="376476"/>
                </a:lnTo>
                <a:cubicBezTo>
                  <a:pt x="402997" y="368528"/>
                  <a:pt x="405319" y="357009"/>
                  <a:pt x="401836" y="346918"/>
                </a:cubicBezTo>
                <a:lnTo>
                  <a:pt x="278696" y="224760"/>
                </a:lnTo>
                <a:lnTo>
                  <a:pt x="265390" y="238065"/>
                </a:lnTo>
                <a:cubicBezTo>
                  <a:pt x="221367" y="282089"/>
                  <a:pt x="150108" y="282089"/>
                  <a:pt x="106085" y="238065"/>
                </a:cubicBezTo>
                <a:cubicBezTo>
                  <a:pt x="85546" y="217527"/>
                  <a:pt x="84743" y="184577"/>
                  <a:pt x="104120" y="163056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1879600" y="27178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Better Coordination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879600" y="3073400"/>
            <a:ext cx="571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Seamless communication across all hospital units and departments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82000" y="2590800"/>
            <a:ext cx="6858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59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36000" y="2819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00025" y="0"/>
                </a:moveTo>
                <a:lnTo>
                  <a:pt x="200025" y="57150"/>
                </a:lnTo>
                <a:cubicBezTo>
                  <a:pt x="200025" y="65008"/>
                  <a:pt x="206454" y="71438"/>
                  <a:pt x="214313" y="71438"/>
                </a:cubicBezTo>
                <a:lnTo>
                  <a:pt x="242888" y="71438"/>
                </a:lnTo>
                <a:cubicBezTo>
                  <a:pt x="250746" y="71438"/>
                  <a:pt x="257175" y="65008"/>
                  <a:pt x="257175" y="57150"/>
                </a:cubicBezTo>
                <a:lnTo>
                  <a:pt x="257175" y="0"/>
                </a:lnTo>
                <a:lnTo>
                  <a:pt x="285750" y="0"/>
                </a:lnTo>
                <a:cubicBezTo>
                  <a:pt x="317272" y="0"/>
                  <a:pt x="342900" y="25628"/>
                  <a:pt x="342900" y="57150"/>
                </a:cubicBezTo>
                <a:lnTo>
                  <a:pt x="342900" y="171450"/>
                </a:lnTo>
                <a:cubicBezTo>
                  <a:pt x="342900" y="176361"/>
                  <a:pt x="342275" y="181183"/>
                  <a:pt x="341114" y="185738"/>
                </a:cubicBezTo>
                <a:lnTo>
                  <a:pt x="116086" y="185738"/>
                </a:lnTo>
                <a:cubicBezTo>
                  <a:pt x="114925" y="181183"/>
                  <a:pt x="114300" y="176361"/>
                  <a:pt x="114300" y="171450"/>
                </a:cubicBezTo>
                <a:lnTo>
                  <a:pt x="114300" y="57150"/>
                </a:lnTo>
                <a:cubicBezTo>
                  <a:pt x="114300" y="25628"/>
                  <a:pt x="139928" y="0"/>
                  <a:pt x="171450" y="0"/>
                </a:cubicBezTo>
                <a:lnTo>
                  <a:pt x="200025" y="0"/>
                </a:lnTo>
                <a:close/>
                <a:moveTo>
                  <a:pt x="285750" y="457200"/>
                </a:moveTo>
                <a:cubicBezTo>
                  <a:pt x="275749" y="457200"/>
                  <a:pt x="266283" y="454610"/>
                  <a:pt x="258068" y="450056"/>
                </a:cubicBezTo>
                <a:cubicBezTo>
                  <a:pt x="266551" y="435322"/>
                  <a:pt x="271463" y="418267"/>
                  <a:pt x="271463" y="400050"/>
                </a:cubicBezTo>
                <a:lnTo>
                  <a:pt x="271463" y="285750"/>
                </a:lnTo>
                <a:cubicBezTo>
                  <a:pt x="271463" y="267533"/>
                  <a:pt x="266551" y="250478"/>
                  <a:pt x="258068" y="235744"/>
                </a:cubicBezTo>
                <a:cubicBezTo>
                  <a:pt x="266283" y="231190"/>
                  <a:pt x="275659" y="228600"/>
                  <a:pt x="285750" y="228600"/>
                </a:cubicBezTo>
                <a:lnTo>
                  <a:pt x="314325" y="228600"/>
                </a:lnTo>
                <a:lnTo>
                  <a:pt x="314325" y="285750"/>
                </a:lnTo>
                <a:cubicBezTo>
                  <a:pt x="314325" y="293608"/>
                  <a:pt x="320754" y="300038"/>
                  <a:pt x="328613" y="300038"/>
                </a:cubicBezTo>
                <a:lnTo>
                  <a:pt x="357188" y="300038"/>
                </a:lnTo>
                <a:cubicBezTo>
                  <a:pt x="365046" y="300038"/>
                  <a:pt x="371475" y="293608"/>
                  <a:pt x="371475" y="285750"/>
                </a:cubicBezTo>
                <a:lnTo>
                  <a:pt x="371475" y="228600"/>
                </a:lnTo>
                <a:lnTo>
                  <a:pt x="400050" y="228600"/>
                </a:lnTo>
                <a:cubicBezTo>
                  <a:pt x="431572" y="228600"/>
                  <a:pt x="457200" y="254228"/>
                  <a:pt x="457200" y="285750"/>
                </a:cubicBezTo>
                <a:lnTo>
                  <a:pt x="457200" y="400050"/>
                </a:lnTo>
                <a:cubicBezTo>
                  <a:pt x="457200" y="431572"/>
                  <a:pt x="431572" y="457200"/>
                  <a:pt x="400050" y="457200"/>
                </a:cubicBezTo>
                <a:lnTo>
                  <a:pt x="285750" y="457200"/>
                </a:lnTo>
                <a:close/>
                <a:moveTo>
                  <a:pt x="0" y="285750"/>
                </a:moveTo>
                <a:cubicBezTo>
                  <a:pt x="0" y="254228"/>
                  <a:pt x="25628" y="228600"/>
                  <a:pt x="57150" y="228600"/>
                </a:cubicBezTo>
                <a:lnTo>
                  <a:pt x="85725" y="228600"/>
                </a:lnTo>
                <a:lnTo>
                  <a:pt x="85725" y="285750"/>
                </a:lnTo>
                <a:cubicBezTo>
                  <a:pt x="85725" y="293608"/>
                  <a:pt x="92154" y="300038"/>
                  <a:pt x="100013" y="300038"/>
                </a:cubicBezTo>
                <a:lnTo>
                  <a:pt x="128588" y="300038"/>
                </a:lnTo>
                <a:cubicBezTo>
                  <a:pt x="136446" y="300038"/>
                  <a:pt x="142875" y="293608"/>
                  <a:pt x="142875" y="285750"/>
                </a:cubicBezTo>
                <a:lnTo>
                  <a:pt x="142875" y="228600"/>
                </a:lnTo>
                <a:lnTo>
                  <a:pt x="171450" y="228600"/>
                </a:lnTo>
                <a:cubicBezTo>
                  <a:pt x="202972" y="228600"/>
                  <a:pt x="228600" y="254228"/>
                  <a:pt x="228600" y="285750"/>
                </a:cubicBezTo>
                <a:lnTo>
                  <a:pt x="228600" y="400050"/>
                </a:lnTo>
                <a:cubicBezTo>
                  <a:pt x="228600" y="431572"/>
                  <a:pt x="202972" y="457200"/>
                  <a:pt x="171450" y="457200"/>
                </a:cubicBezTo>
                <a:lnTo>
                  <a:pt x="57150" y="457200"/>
                </a:lnTo>
                <a:cubicBezTo>
                  <a:pt x="25628" y="457200"/>
                  <a:pt x="0" y="431572"/>
                  <a:pt x="0" y="400050"/>
                </a:cubicBezTo>
                <a:lnTo>
                  <a:pt x="0" y="285750"/>
                </a:lnTo>
                <a:close/>
              </a:path>
            </a:pathLst>
          </a:custGeom>
          <a:solidFill>
            <a:srgbClr val="0077B6"/>
          </a:solidFill>
          <a:ln/>
        </p:spPr>
      </p:sp>
      <p:sp>
        <p:nvSpPr>
          <p:cNvPr id="21" name="Text 19"/>
          <p:cNvSpPr/>
          <p:nvPr/>
        </p:nvSpPr>
        <p:spPr>
          <a:xfrm>
            <a:off x="9245600" y="27178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Efficient Inventory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45600" y="3073400"/>
            <a:ext cx="571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Automated stock tracking prevents shortages and reduces waste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16000" y="3937000"/>
            <a:ext cx="14224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1016000" y="4089400"/>
            <a:ext cx="444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077B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SAP Fiori Benefits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16000" y="4470400"/>
            <a:ext cx="6858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59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270000" y="469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40566" y="2590"/>
                </a:moveTo>
                <a:cubicBezTo>
                  <a:pt x="236815" y="893"/>
                  <a:pt x="232797" y="0"/>
                  <a:pt x="228600" y="0"/>
                </a:cubicBezTo>
                <a:cubicBezTo>
                  <a:pt x="224403" y="0"/>
                  <a:pt x="220385" y="893"/>
                  <a:pt x="216634" y="2590"/>
                </a:cubicBezTo>
                <a:lnTo>
                  <a:pt x="48488" y="73938"/>
                </a:lnTo>
                <a:cubicBezTo>
                  <a:pt x="28843" y="82242"/>
                  <a:pt x="14198" y="101620"/>
                  <a:pt x="14288" y="125016"/>
                </a:cubicBezTo>
                <a:cubicBezTo>
                  <a:pt x="14734" y="213598"/>
                  <a:pt x="51167" y="375672"/>
                  <a:pt x="205026" y="449342"/>
                </a:cubicBezTo>
                <a:cubicBezTo>
                  <a:pt x="219938" y="456486"/>
                  <a:pt x="237262" y="456486"/>
                  <a:pt x="252174" y="449342"/>
                </a:cubicBezTo>
                <a:cubicBezTo>
                  <a:pt x="406122" y="375672"/>
                  <a:pt x="442555" y="213598"/>
                  <a:pt x="442913" y="125016"/>
                </a:cubicBezTo>
                <a:cubicBezTo>
                  <a:pt x="443002" y="101620"/>
                  <a:pt x="428357" y="82242"/>
                  <a:pt x="408712" y="73938"/>
                </a:cubicBezTo>
                <a:lnTo>
                  <a:pt x="240566" y="2590"/>
                </a:lnTo>
                <a:close/>
                <a:moveTo>
                  <a:pt x="222885" y="163860"/>
                </a:moveTo>
                <a:lnTo>
                  <a:pt x="228600" y="171450"/>
                </a:lnTo>
                <a:lnTo>
                  <a:pt x="234315" y="163860"/>
                </a:lnTo>
                <a:cubicBezTo>
                  <a:pt x="244227" y="150644"/>
                  <a:pt x="259765" y="142875"/>
                  <a:pt x="276195" y="142875"/>
                </a:cubicBezTo>
                <a:cubicBezTo>
                  <a:pt x="305127" y="142875"/>
                  <a:pt x="328613" y="166360"/>
                  <a:pt x="328613" y="195292"/>
                </a:cubicBezTo>
                <a:lnTo>
                  <a:pt x="328613" y="200025"/>
                </a:lnTo>
                <a:cubicBezTo>
                  <a:pt x="328613" y="243870"/>
                  <a:pt x="269855" y="287625"/>
                  <a:pt x="242441" y="305663"/>
                </a:cubicBezTo>
                <a:cubicBezTo>
                  <a:pt x="233958" y="311200"/>
                  <a:pt x="223242" y="311200"/>
                  <a:pt x="214848" y="305663"/>
                </a:cubicBezTo>
                <a:cubicBezTo>
                  <a:pt x="187434" y="287625"/>
                  <a:pt x="128677" y="243780"/>
                  <a:pt x="128677" y="200025"/>
                </a:cubicBezTo>
                <a:lnTo>
                  <a:pt x="128677" y="195292"/>
                </a:lnTo>
                <a:cubicBezTo>
                  <a:pt x="128677" y="166360"/>
                  <a:pt x="152162" y="142875"/>
                  <a:pt x="181094" y="142875"/>
                </a:cubicBezTo>
                <a:cubicBezTo>
                  <a:pt x="197614" y="142875"/>
                  <a:pt x="213152" y="150644"/>
                  <a:pt x="222974" y="163860"/>
                </a:cubicBezTo>
                <a:close/>
              </a:path>
            </a:pathLst>
          </a:custGeom>
          <a:solidFill>
            <a:srgbClr val="E63946"/>
          </a:solidFill>
          <a:ln/>
        </p:spPr>
      </p:sp>
      <p:sp>
        <p:nvSpPr>
          <p:cNvPr id="27" name="Text 25"/>
          <p:cNvSpPr/>
          <p:nvPr/>
        </p:nvSpPr>
        <p:spPr>
          <a:xfrm>
            <a:off x="1879600" y="4597400"/>
            <a:ext cx="444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Improved Patient Safety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879600" y="4953000"/>
            <a:ext cx="571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Faster medication dispensing &amp; treatment recording at bedside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382000" y="4470400"/>
            <a:ext cx="6858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59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664575" y="4699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85725" y="40094"/>
                </a:moveTo>
                <a:cubicBezTo>
                  <a:pt x="85725" y="28754"/>
                  <a:pt x="92422" y="18484"/>
                  <a:pt x="102870" y="13930"/>
                </a:cubicBezTo>
                <a:lnTo>
                  <a:pt x="188595" y="-23574"/>
                </a:lnTo>
                <a:cubicBezTo>
                  <a:pt x="195917" y="-26789"/>
                  <a:pt x="204222" y="-26789"/>
                  <a:pt x="211544" y="-23574"/>
                </a:cubicBezTo>
                <a:lnTo>
                  <a:pt x="297269" y="13930"/>
                </a:lnTo>
                <a:cubicBezTo>
                  <a:pt x="307628" y="18484"/>
                  <a:pt x="314325" y="28754"/>
                  <a:pt x="314325" y="40094"/>
                </a:cubicBezTo>
                <a:lnTo>
                  <a:pt x="314325" y="128588"/>
                </a:lnTo>
                <a:cubicBezTo>
                  <a:pt x="314325" y="191720"/>
                  <a:pt x="263158" y="242888"/>
                  <a:pt x="200025" y="242888"/>
                </a:cubicBezTo>
                <a:cubicBezTo>
                  <a:pt x="136892" y="242888"/>
                  <a:pt x="85725" y="191720"/>
                  <a:pt x="85725" y="128588"/>
                </a:cubicBezTo>
                <a:lnTo>
                  <a:pt x="85725" y="40094"/>
                </a:lnTo>
                <a:close/>
                <a:moveTo>
                  <a:pt x="271463" y="114300"/>
                </a:moveTo>
                <a:lnTo>
                  <a:pt x="171807" y="114300"/>
                </a:lnTo>
                <a:lnTo>
                  <a:pt x="171450" y="114300"/>
                </a:lnTo>
                <a:lnTo>
                  <a:pt x="128588" y="114300"/>
                </a:lnTo>
                <a:lnTo>
                  <a:pt x="128588" y="128588"/>
                </a:lnTo>
                <a:cubicBezTo>
                  <a:pt x="128588" y="168057"/>
                  <a:pt x="160556" y="200025"/>
                  <a:pt x="200025" y="200025"/>
                </a:cubicBezTo>
                <a:cubicBezTo>
                  <a:pt x="239494" y="200025"/>
                  <a:pt x="271463" y="168057"/>
                  <a:pt x="271463" y="128588"/>
                </a:cubicBezTo>
                <a:lnTo>
                  <a:pt x="271463" y="114300"/>
                </a:lnTo>
                <a:close/>
                <a:moveTo>
                  <a:pt x="185738" y="14288"/>
                </a:moveTo>
                <a:lnTo>
                  <a:pt x="185738" y="28575"/>
                </a:lnTo>
                <a:lnTo>
                  <a:pt x="171450" y="28575"/>
                </a:lnTo>
                <a:cubicBezTo>
                  <a:pt x="167521" y="28575"/>
                  <a:pt x="164306" y="31790"/>
                  <a:pt x="164306" y="35719"/>
                </a:cubicBezTo>
                <a:lnTo>
                  <a:pt x="164306" y="50006"/>
                </a:lnTo>
                <a:cubicBezTo>
                  <a:pt x="164306" y="53935"/>
                  <a:pt x="167521" y="57150"/>
                  <a:pt x="171450" y="57150"/>
                </a:cubicBezTo>
                <a:lnTo>
                  <a:pt x="185738" y="57150"/>
                </a:lnTo>
                <a:lnTo>
                  <a:pt x="185738" y="71438"/>
                </a:lnTo>
                <a:cubicBezTo>
                  <a:pt x="185738" y="75367"/>
                  <a:pt x="188952" y="78581"/>
                  <a:pt x="192881" y="78581"/>
                </a:cubicBezTo>
                <a:lnTo>
                  <a:pt x="207169" y="78581"/>
                </a:lnTo>
                <a:cubicBezTo>
                  <a:pt x="211098" y="78581"/>
                  <a:pt x="214313" y="75367"/>
                  <a:pt x="214313" y="71438"/>
                </a:cubicBezTo>
                <a:lnTo>
                  <a:pt x="214313" y="57150"/>
                </a:lnTo>
                <a:lnTo>
                  <a:pt x="228600" y="57150"/>
                </a:lnTo>
                <a:cubicBezTo>
                  <a:pt x="232529" y="57150"/>
                  <a:pt x="235744" y="53935"/>
                  <a:pt x="235744" y="50006"/>
                </a:cubicBezTo>
                <a:lnTo>
                  <a:pt x="235744" y="35719"/>
                </a:lnTo>
                <a:cubicBezTo>
                  <a:pt x="235744" y="31790"/>
                  <a:pt x="232529" y="28575"/>
                  <a:pt x="228600" y="28575"/>
                </a:cubicBezTo>
                <a:lnTo>
                  <a:pt x="214313" y="28575"/>
                </a:lnTo>
                <a:lnTo>
                  <a:pt x="214313" y="14288"/>
                </a:lnTo>
                <a:cubicBezTo>
                  <a:pt x="214313" y="10358"/>
                  <a:pt x="211098" y="7144"/>
                  <a:pt x="207169" y="7144"/>
                </a:cubicBezTo>
                <a:lnTo>
                  <a:pt x="192881" y="7144"/>
                </a:lnTo>
                <a:cubicBezTo>
                  <a:pt x="188952" y="7144"/>
                  <a:pt x="185738" y="10358"/>
                  <a:pt x="185738" y="14288"/>
                </a:cubicBezTo>
                <a:close/>
                <a:moveTo>
                  <a:pt x="127337" y="288429"/>
                </a:moveTo>
                <a:cubicBezTo>
                  <a:pt x="121533" y="284053"/>
                  <a:pt x="113764" y="282893"/>
                  <a:pt x="107156" y="285929"/>
                </a:cubicBezTo>
                <a:cubicBezTo>
                  <a:pt x="52328" y="311110"/>
                  <a:pt x="14198" y="366474"/>
                  <a:pt x="14198" y="430679"/>
                </a:cubicBezTo>
                <a:cubicBezTo>
                  <a:pt x="14198" y="445324"/>
                  <a:pt x="26075" y="457200"/>
                  <a:pt x="40719" y="457200"/>
                </a:cubicBezTo>
                <a:lnTo>
                  <a:pt x="359152" y="457200"/>
                </a:lnTo>
                <a:cubicBezTo>
                  <a:pt x="373797" y="457200"/>
                  <a:pt x="385673" y="445324"/>
                  <a:pt x="385673" y="430679"/>
                </a:cubicBezTo>
                <a:cubicBezTo>
                  <a:pt x="385673" y="366385"/>
                  <a:pt x="347543" y="311021"/>
                  <a:pt x="292715" y="285929"/>
                </a:cubicBezTo>
                <a:cubicBezTo>
                  <a:pt x="286107" y="282892"/>
                  <a:pt x="278338" y="284053"/>
                  <a:pt x="272534" y="288429"/>
                </a:cubicBezTo>
                <a:lnTo>
                  <a:pt x="212705" y="333256"/>
                </a:lnTo>
                <a:cubicBezTo>
                  <a:pt x="205115" y="338971"/>
                  <a:pt x="194578" y="338971"/>
                  <a:pt x="186988" y="333256"/>
                </a:cubicBezTo>
                <a:lnTo>
                  <a:pt x="127159" y="288429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31" name="Text 29"/>
          <p:cNvSpPr/>
          <p:nvPr/>
        </p:nvSpPr>
        <p:spPr>
          <a:xfrm>
            <a:off x="9245600" y="4597400"/>
            <a:ext cx="444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Higher Staff Productivity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245600" y="4953000"/>
            <a:ext cx="571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Less admin desk-time, more patient care time with mobile access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16000" y="5765800"/>
            <a:ext cx="6858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59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298575" y="59944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400050" y="183773"/>
                </a:moveTo>
                <a:cubicBezTo>
                  <a:pt x="386834" y="192524"/>
                  <a:pt x="371654" y="199579"/>
                  <a:pt x="355848" y="205204"/>
                </a:cubicBezTo>
                <a:cubicBezTo>
                  <a:pt x="313879" y="220206"/>
                  <a:pt x="258782" y="228600"/>
                  <a:pt x="200025" y="228600"/>
                </a:cubicBezTo>
                <a:cubicBezTo>
                  <a:pt x="141268" y="228600"/>
                  <a:pt x="86082" y="220117"/>
                  <a:pt x="44202" y="205204"/>
                </a:cubicBezTo>
                <a:cubicBezTo>
                  <a:pt x="28486" y="199579"/>
                  <a:pt x="13216" y="192524"/>
                  <a:pt x="0" y="183773"/>
                </a:cubicBezTo>
                <a:lnTo>
                  <a:pt x="0" y="257175"/>
                </a:lnTo>
                <a:cubicBezTo>
                  <a:pt x="0" y="296644"/>
                  <a:pt x="89565" y="328613"/>
                  <a:pt x="200025" y="328613"/>
                </a:cubicBezTo>
                <a:cubicBezTo>
                  <a:pt x="310485" y="328613"/>
                  <a:pt x="400050" y="296644"/>
                  <a:pt x="400050" y="257175"/>
                </a:cubicBezTo>
                <a:lnTo>
                  <a:pt x="400050" y="183773"/>
                </a:lnTo>
                <a:close/>
                <a:moveTo>
                  <a:pt x="400050" y="114300"/>
                </a:moveTo>
                <a:lnTo>
                  <a:pt x="400050" y="71438"/>
                </a:lnTo>
                <a:cubicBezTo>
                  <a:pt x="400050" y="31968"/>
                  <a:pt x="310485" y="0"/>
                  <a:pt x="200025" y="0"/>
                </a:cubicBezTo>
                <a:cubicBezTo>
                  <a:pt x="89565" y="0"/>
                  <a:pt x="0" y="31968"/>
                  <a:pt x="0" y="71438"/>
                </a:cubicBezTo>
                <a:lnTo>
                  <a:pt x="0" y="114300"/>
                </a:lnTo>
                <a:cubicBezTo>
                  <a:pt x="0" y="153769"/>
                  <a:pt x="89565" y="185738"/>
                  <a:pt x="200025" y="185738"/>
                </a:cubicBezTo>
                <a:cubicBezTo>
                  <a:pt x="310485" y="185738"/>
                  <a:pt x="400050" y="153769"/>
                  <a:pt x="400050" y="114300"/>
                </a:cubicBezTo>
                <a:close/>
                <a:moveTo>
                  <a:pt x="355848" y="348079"/>
                </a:moveTo>
                <a:cubicBezTo>
                  <a:pt x="313968" y="362992"/>
                  <a:pt x="258872" y="371475"/>
                  <a:pt x="200025" y="371475"/>
                </a:cubicBezTo>
                <a:cubicBezTo>
                  <a:pt x="141178" y="371475"/>
                  <a:pt x="86082" y="362992"/>
                  <a:pt x="44202" y="348079"/>
                </a:cubicBezTo>
                <a:cubicBezTo>
                  <a:pt x="28486" y="342454"/>
                  <a:pt x="13216" y="335399"/>
                  <a:pt x="0" y="326648"/>
                </a:cubicBezTo>
                <a:lnTo>
                  <a:pt x="0" y="385763"/>
                </a:lnTo>
                <a:cubicBezTo>
                  <a:pt x="0" y="425232"/>
                  <a:pt x="89565" y="457200"/>
                  <a:pt x="200025" y="457200"/>
                </a:cubicBezTo>
                <a:cubicBezTo>
                  <a:pt x="310485" y="457200"/>
                  <a:pt x="400050" y="425232"/>
                  <a:pt x="400050" y="385763"/>
                </a:cubicBezTo>
                <a:lnTo>
                  <a:pt x="400050" y="326648"/>
                </a:lnTo>
                <a:cubicBezTo>
                  <a:pt x="386834" y="335399"/>
                  <a:pt x="371654" y="342454"/>
                  <a:pt x="355848" y="348079"/>
                </a:cubicBezTo>
                <a:close/>
              </a:path>
            </a:pathLst>
          </a:custGeom>
          <a:solidFill>
            <a:srgbClr val="0077B6"/>
          </a:solidFill>
          <a:ln/>
        </p:spPr>
      </p:sp>
      <p:sp>
        <p:nvSpPr>
          <p:cNvPr id="35" name="Text 33"/>
          <p:cNvSpPr/>
          <p:nvPr/>
        </p:nvSpPr>
        <p:spPr>
          <a:xfrm>
            <a:off x="1879600" y="5892800"/>
            <a:ext cx="444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Better Data Integrity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879600" y="6248400"/>
            <a:ext cx="571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Real-time entry at point of care reduces transcription errors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382000" y="5765800"/>
            <a:ext cx="6858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59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607425" y="59944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57175" y="-28575"/>
                </a:moveTo>
                <a:cubicBezTo>
                  <a:pt x="304488" y="-28575"/>
                  <a:pt x="342900" y="9837"/>
                  <a:pt x="342900" y="57150"/>
                </a:cubicBezTo>
                <a:cubicBezTo>
                  <a:pt x="342900" y="104463"/>
                  <a:pt x="304488" y="142875"/>
                  <a:pt x="257175" y="142875"/>
                </a:cubicBezTo>
                <a:cubicBezTo>
                  <a:pt x="209862" y="142875"/>
                  <a:pt x="171450" y="104463"/>
                  <a:pt x="171450" y="57150"/>
                </a:cubicBezTo>
                <a:cubicBezTo>
                  <a:pt x="171450" y="9837"/>
                  <a:pt x="209862" y="-28575"/>
                  <a:pt x="257175" y="-28575"/>
                </a:cubicBezTo>
                <a:close/>
                <a:moveTo>
                  <a:pt x="42863" y="271463"/>
                </a:moveTo>
                <a:cubicBezTo>
                  <a:pt x="42863" y="208865"/>
                  <a:pt x="84832" y="154126"/>
                  <a:pt x="147429" y="124212"/>
                </a:cubicBezTo>
                <a:cubicBezTo>
                  <a:pt x="170021" y="161092"/>
                  <a:pt x="210741" y="185738"/>
                  <a:pt x="257175" y="185738"/>
                </a:cubicBezTo>
                <a:cubicBezTo>
                  <a:pt x="306913" y="185738"/>
                  <a:pt x="350133" y="157430"/>
                  <a:pt x="371475" y="116086"/>
                </a:cubicBezTo>
                <a:cubicBezTo>
                  <a:pt x="385584" y="105995"/>
                  <a:pt x="402818" y="100013"/>
                  <a:pt x="421481" y="100013"/>
                </a:cubicBezTo>
                <a:lnTo>
                  <a:pt x="438894" y="100013"/>
                </a:lnTo>
                <a:cubicBezTo>
                  <a:pt x="448181" y="100013"/>
                  <a:pt x="454968" y="108764"/>
                  <a:pt x="452735" y="117783"/>
                </a:cubicBezTo>
                <a:lnTo>
                  <a:pt x="437465" y="178772"/>
                </a:lnTo>
                <a:cubicBezTo>
                  <a:pt x="446306" y="189845"/>
                  <a:pt x="453717" y="201722"/>
                  <a:pt x="459254" y="214313"/>
                </a:cubicBezTo>
                <a:lnTo>
                  <a:pt x="478631" y="214313"/>
                </a:lnTo>
                <a:cubicBezTo>
                  <a:pt x="490508" y="214313"/>
                  <a:pt x="500063" y="223867"/>
                  <a:pt x="500063" y="235744"/>
                </a:cubicBezTo>
                <a:lnTo>
                  <a:pt x="500063" y="335756"/>
                </a:lnTo>
                <a:cubicBezTo>
                  <a:pt x="500063" y="347633"/>
                  <a:pt x="490508" y="357188"/>
                  <a:pt x="478631" y="357188"/>
                </a:cubicBezTo>
                <a:lnTo>
                  <a:pt x="442913" y="357188"/>
                </a:lnTo>
                <a:cubicBezTo>
                  <a:pt x="428179" y="376833"/>
                  <a:pt x="408533" y="392549"/>
                  <a:pt x="385763" y="402461"/>
                </a:cubicBezTo>
                <a:lnTo>
                  <a:pt x="385763" y="428625"/>
                </a:lnTo>
                <a:cubicBezTo>
                  <a:pt x="385763" y="444431"/>
                  <a:pt x="372993" y="457200"/>
                  <a:pt x="357188" y="457200"/>
                </a:cubicBezTo>
                <a:lnTo>
                  <a:pt x="327720" y="457200"/>
                </a:lnTo>
                <a:cubicBezTo>
                  <a:pt x="314950" y="457200"/>
                  <a:pt x="303788" y="448717"/>
                  <a:pt x="300216" y="436483"/>
                </a:cubicBezTo>
                <a:lnTo>
                  <a:pt x="293876" y="414338"/>
                </a:lnTo>
                <a:lnTo>
                  <a:pt x="220385" y="414338"/>
                </a:lnTo>
                <a:lnTo>
                  <a:pt x="214045" y="436483"/>
                </a:lnTo>
                <a:cubicBezTo>
                  <a:pt x="210562" y="448717"/>
                  <a:pt x="199400" y="457200"/>
                  <a:pt x="186630" y="457200"/>
                </a:cubicBezTo>
                <a:lnTo>
                  <a:pt x="157163" y="457200"/>
                </a:lnTo>
                <a:cubicBezTo>
                  <a:pt x="141357" y="457200"/>
                  <a:pt x="128588" y="444431"/>
                  <a:pt x="128588" y="428625"/>
                </a:cubicBezTo>
                <a:lnTo>
                  <a:pt x="128588" y="402461"/>
                </a:lnTo>
                <a:cubicBezTo>
                  <a:pt x="78135" y="380405"/>
                  <a:pt x="42863" y="330041"/>
                  <a:pt x="42863" y="271463"/>
                </a:cubicBezTo>
                <a:close/>
                <a:moveTo>
                  <a:pt x="378619" y="285750"/>
                </a:moveTo>
                <a:cubicBezTo>
                  <a:pt x="390447" y="285750"/>
                  <a:pt x="400050" y="276147"/>
                  <a:pt x="400050" y="264319"/>
                </a:cubicBezTo>
                <a:cubicBezTo>
                  <a:pt x="400050" y="252491"/>
                  <a:pt x="390447" y="242888"/>
                  <a:pt x="378619" y="242888"/>
                </a:cubicBezTo>
                <a:cubicBezTo>
                  <a:pt x="366791" y="242888"/>
                  <a:pt x="357188" y="252491"/>
                  <a:pt x="357188" y="264319"/>
                </a:cubicBezTo>
                <a:cubicBezTo>
                  <a:pt x="357188" y="276147"/>
                  <a:pt x="366791" y="285750"/>
                  <a:pt x="378619" y="285750"/>
                </a:cubicBez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39" name="Text 37"/>
          <p:cNvSpPr/>
          <p:nvPr/>
        </p:nvSpPr>
        <p:spPr>
          <a:xfrm>
            <a:off x="9245600" y="5892800"/>
            <a:ext cx="444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Cost Savings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245600" y="6248400"/>
            <a:ext cx="571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Faster procurement approval, optimized inventory costs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016000" y="7213600"/>
            <a:ext cx="14224000" cy="762000"/>
          </a:xfrm>
          <a:prstGeom prst="roundRect">
            <a:avLst>
              <a:gd name="adj" fmla="val 8000"/>
            </a:avLst>
          </a:prstGeom>
          <a:solidFill>
            <a:srgbClr val="00B4D8">
              <a:alpha val="6275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55725" y="7366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0" y="150019"/>
                </a:moveTo>
                <a:cubicBezTo>
                  <a:pt x="0" y="103971"/>
                  <a:pt x="37296" y="66675"/>
                  <a:pt x="83344" y="66675"/>
                </a:cubicBezTo>
                <a:lnTo>
                  <a:pt x="88900" y="66675"/>
                </a:lnTo>
                <a:cubicBezTo>
                  <a:pt x="101193" y="66675"/>
                  <a:pt x="111125" y="76607"/>
                  <a:pt x="111125" y="88900"/>
                </a:cubicBezTo>
                <a:cubicBezTo>
                  <a:pt x="111125" y="101193"/>
                  <a:pt x="101193" y="111125"/>
                  <a:pt x="88900" y="111125"/>
                </a:cubicBezTo>
                <a:lnTo>
                  <a:pt x="83344" y="111125"/>
                </a:lnTo>
                <a:cubicBezTo>
                  <a:pt x="61883" y="111125"/>
                  <a:pt x="44450" y="128558"/>
                  <a:pt x="44450" y="150019"/>
                </a:cubicBezTo>
                <a:lnTo>
                  <a:pt x="44450" y="155575"/>
                </a:lnTo>
                <a:lnTo>
                  <a:pt x="88900" y="155575"/>
                </a:lnTo>
                <a:cubicBezTo>
                  <a:pt x="113417" y="155575"/>
                  <a:pt x="133350" y="175508"/>
                  <a:pt x="133350" y="200025"/>
                </a:cubicBezTo>
                <a:lnTo>
                  <a:pt x="133350" y="244475"/>
                </a:lnTo>
                <a:cubicBezTo>
                  <a:pt x="133350" y="268992"/>
                  <a:pt x="113417" y="288925"/>
                  <a:pt x="88900" y="288925"/>
                </a:cubicBezTo>
                <a:lnTo>
                  <a:pt x="44450" y="288925"/>
                </a:lnTo>
                <a:cubicBezTo>
                  <a:pt x="19933" y="288925"/>
                  <a:pt x="0" y="268992"/>
                  <a:pt x="0" y="244475"/>
                </a:cubicBezTo>
                <a:lnTo>
                  <a:pt x="0" y="150019"/>
                </a:lnTo>
                <a:close/>
                <a:moveTo>
                  <a:pt x="177800" y="150019"/>
                </a:moveTo>
                <a:cubicBezTo>
                  <a:pt x="177800" y="103971"/>
                  <a:pt x="215096" y="66675"/>
                  <a:pt x="261144" y="66675"/>
                </a:cubicBezTo>
                <a:lnTo>
                  <a:pt x="266700" y="66675"/>
                </a:lnTo>
                <a:cubicBezTo>
                  <a:pt x="278993" y="66675"/>
                  <a:pt x="288925" y="76607"/>
                  <a:pt x="288925" y="88900"/>
                </a:cubicBezTo>
                <a:cubicBezTo>
                  <a:pt x="288925" y="101193"/>
                  <a:pt x="278993" y="111125"/>
                  <a:pt x="266700" y="111125"/>
                </a:cubicBezTo>
                <a:lnTo>
                  <a:pt x="261144" y="111125"/>
                </a:lnTo>
                <a:cubicBezTo>
                  <a:pt x="239683" y="111125"/>
                  <a:pt x="222250" y="128558"/>
                  <a:pt x="222250" y="150019"/>
                </a:cubicBezTo>
                <a:lnTo>
                  <a:pt x="222250" y="155575"/>
                </a:lnTo>
                <a:lnTo>
                  <a:pt x="266700" y="155575"/>
                </a:lnTo>
                <a:cubicBezTo>
                  <a:pt x="291217" y="155575"/>
                  <a:pt x="311150" y="175508"/>
                  <a:pt x="311150" y="200025"/>
                </a:cubicBezTo>
                <a:lnTo>
                  <a:pt x="311150" y="244475"/>
                </a:lnTo>
                <a:cubicBezTo>
                  <a:pt x="311150" y="268992"/>
                  <a:pt x="291217" y="288925"/>
                  <a:pt x="266700" y="288925"/>
                </a:cubicBezTo>
                <a:lnTo>
                  <a:pt x="222250" y="288925"/>
                </a:lnTo>
                <a:cubicBezTo>
                  <a:pt x="197733" y="288925"/>
                  <a:pt x="177800" y="268992"/>
                  <a:pt x="177800" y="244475"/>
                </a:cubicBezTo>
                <a:lnTo>
                  <a:pt x="177800" y="150019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43" name="Text 41"/>
          <p:cNvSpPr/>
          <p:nvPr/>
        </p:nvSpPr>
        <p:spPr>
          <a:xfrm>
            <a:off x="1841500" y="7264400"/>
            <a:ext cx="1308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i="1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"The transition to SAP Fiori represents the next evolution of our hospital ERP — moving from a system of record to a system of engagement."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0A1F44"/>
            </a:solidFill>
            <a:prstDash val="solid"/>
            <a:headEnd type="none"/>
            <a:tailEnd type="none"/>
          </a:ln>
        </p:spPr>
      </p:sp>
      <p:sp>
        <p:nvSpPr>
          <p:cNvPr id="45" name="Text 43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 / 19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00B4D8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101600"/>
            <a:ext cx="1143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30000" y="774700"/>
            <a:ext cx="4318000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dirty="0">
                <a:solidFill>
                  <a:srgbClr val="90E0EF">
                    <a:alpha val="25098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SRM University AP | Hospital ERP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16000" y="1079500"/>
            <a:ext cx="4445000" cy="292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8235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16000" y="1079500"/>
            <a:ext cx="4445000" cy="6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1270000" y="1320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14538" y="0"/>
                </a:moveTo>
                <a:lnTo>
                  <a:pt x="292338" y="0"/>
                </a:lnTo>
                <a:cubicBezTo>
                  <a:pt x="313373" y="0"/>
                  <a:pt x="330518" y="17304"/>
                  <a:pt x="329724" y="38259"/>
                </a:cubicBezTo>
                <a:cubicBezTo>
                  <a:pt x="329565" y="42466"/>
                  <a:pt x="329406" y="46673"/>
                  <a:pt x="329168" y="50800"/>
                </a:cubicBezTo>
                <a:lnTo>
                  <a:pt x="368538" y="50800"/>
                </a:lnTo>
                <a:cubicBezTo>
                  <a:pt x="389255" y="50800"/>
                  <a:pt x="407511" y="67945"/>
                  <a:pt x="405924" y="90329"/>
                </a:cubicBezTo>
                <a:cubicBezTo>
                  <a:pt x="399971" y="172641"/>
                  <a:pt x="357902" y="217884"/>
                  <a:pt x="312261" y="241538"/>
                </a:cubicBezTo>
                <a:cubicBezTo>
                  <a:pt x="299720" y="248047"/>
                  <a:pt x="286941" y="252889"/>
                  <a:pt x="274796" y="256461"/>
                </a:cubicBezTo>
                <a:cubicBezTo>
                  <a:pt x="258763" y="279162"/>
                  <a:pt x="242094" y="291148"/>
                  <a:pt x="228838" y="297577"/>
                </a:cubicBezTo>
                <a:lnTo>
                  <a:pt x="228838" y="355600"/>
                </a:lnTo>
                <a:lnTo>
                  <a:pt x="279638" y="355600"/>
                </a:lnTo>
                <a:cubicBezTo>
                  <a:pt x="293688" y="355600"/>
                  <a:pt x="305038" y="366951"/>
                  <a:pt x="305038" y="381000"/>
                </a:cubicBezTo>
                <a:cubicBezTo>
                  <a:pt x="305038" y="395049"/>
                  <a:pt x="293688" y="406400"/>
                  <a:pt x="279638" y="406400"/>
                </a:cubicBezTo>
                <a:lnTo>
                  <a:pt x="127238" y="406400"/>
                </a:lnTo>
                <a:cubicBezTo>
                  <a:pt x="113189" y="406400"/>
                  <a:pt x="101838" y="395049"/>
                  <a:pt x="101838" y="381000"/>
                </a:cubicBezTo>
                <a:cubicBezTo>
                  <a:pt x="101838" y="366951"/>
                  <a:pt x="113189" y="355600"/>
                  <a:pt x="127238" y="355600"/>
                </a:cubicBezTo>
                <a:lnTo>
                  <a:pt x="178038" y="355600"/>
                </a:lnTo>
                <a:lnTo>
                  <a:pt x="178038" y="297577"/>
                </a:lnTo>
                <a:cubicBezTo>
                  <a:pt x="165338" y="291465"/>
                  <a:pt x="149543" y="280114"/>
                  <a:pt x="134144" y="259239"/>
                </a:cubicBezTo>
                <a:cubicBezTo>
                  <a:pt x="119539" y="255429"/>
                  <a:pt x="103664" y="249634"/>
                  <a:pt x="88186" y="240903"/>
                </a:cubicBezTo>
                <a:cubicBezTo>
                  <a:pt x="45244" y="216852"/>
                  <a:pt x="6509" y="171529"/>
                  <a:pt x="953" y="90170"/>
                </a:cubicBezTo>
                <a:cubicBezTo>
                  <a:pt x="-556" y="67866"/>
                  <a:pt x="17621" y="50721"/>
                  <a:pt x="38338" y="50721"/>
                </a:cubicBezTo>
                <a:lnTo>
                  <a:pt x="77708" y="50721"/>
                </a:lnTo>
                <a:cubicBezTo>
                  <a:pt x="77470" y="46593"/>
                  <a:pt x="77311" y="42466"/>
                  <a:pt x="77153" y="38179"/>
                </a:cubicBezTo>
                <a:cubicBezTo>
                  <a:pt x="76359" y="17145"/>
                  <a:pt x="93504" y="-79"/>
                  <a:pt x="114538" y="-79"/>
                </a:cubicBezTo>
                <a:close/>
                <a:moveTo>
                  <a:pt x="80566" y="88900"/>
                </a:moveTo>
                <a:lnTo>
                  <a:pt x="38973" y="88900"/>
                </a:lnTo>
                <a:cubicBezTo>
                  <a:pt x="43894" y="156131"/>
                  <a:pt x="74771" y="189786"/>
                  <a:pt x="106601" y="207645"/>
                </a:cubicBezTo>
                <a:cubicBezTo>
                  <a:pt x="95171" y="178038"/>
                  <a:pt x="85725" y="139383"/>
                  <a:pt x="80566" y="88900"/>
                </a:cubicBezTo>
                <a:close/>
                <a:moveTo>
                  <a:pt x="301625" y="203835"/>
                </a:moveTo>
                <a:cubicBezTo>
                  <a:pt x="333772" y="184944"/>
                  <a:pt x="362823" y="151368"/>
                  <a:pt x="367744" y="88900"/>
                </a:cubicBezTo>
                <a:lnTo>
                  <a:pt x="326231" y="88900"/>
                </a:lnTo>
                <a:cubicBezTo>
                  <a:pt x="321310" y="137239"/>
                  <a:pt x="312420" y="174784"/>
                  <a:pt x="301625" y="203835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1803400" y="1346200"/>
            <a:ext cx="3429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Was Achieved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70000" y="1841500"/>
            <a:ext cx="3937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SAP ERP implementation </a:t>
            </a:r>
            <a:r>
              <a:rPr lang="en-US" sz="14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significantly transformed</a:t>
            </a: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hospital's operational landscape — integrating patient services, procurement, financial management, and HR into one </a:t>
            </a:r>
            <a:r>
              <a:rPr lang="en-US" sz="14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centralized digital platform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05500" y="1079500"/>
            <a:ext cx="4445000" cy="292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8235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05500" y="1079500"/>
            <a:ext cx="4445000" cy="635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3" name="Shape 11"/>
          <p:cNvSpPr/>
          <p:nvPr/>
        </p:nvSpPr>
        <p:spPr>
          <a:xfrm>
            <a:off x="6159500" y="1320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52400" y="50800"/>
                </a:moveTo>
                <a:cubicBezTo>
                  <a:pt x="152400" y="36751"/>
                  <a:pt x="163751" y="25400"/>
                  <a:pt x="177800" y="25400"/>
                </a:cubicBezTo>
                <a:lnTo>
                  <a:pt x="228600" y="25400"/>
                </a:lnTo>
                <a:cubicBezTo>
                  <a:pt x="242649" y="25400"/>
                  <a:pt x="254000" y="36751"/>
                  <a:pt x="254000" y="50800"/>
                </a:cubicBezTo>
                <a:lnTo>
                  <a:pt x="254000" y="101600"/>
                </a:lnTo>
                <a:cubicBezTo>
                  <a:pt x="254000" y="115649"/>
                  <a:pt x="242649" y="127000"/>
                  <a:pt x="228600" y="127000"/>
                </a:cubicBezTo>
                <a:lnTo>
                  <a:pt x="222250" y="127000"/>
                </a:lnTo>
                <a:lnTo>
                  <a:pt x="222250" y="177800"/>
                </a:lnTo>
                <a:lnTo>
                  <a:pt x="317500" y="177800"/>
                </a:lnTo>
                <a:cubicBezTo>
                  <a:pt x="349091" y="177800"/>
                  <a:pt x="374650" y="203359"/>
                  <a:pt x="374650" y="234950"/>
                </a:cubicBezTo>
                <a:lnTo>
                  <a:pt x="374650" y="279400"/>
                </a:lnTo>
                <a:lnTo>
                  <a:pt x="381000" y="279400"/>
                </a:lnTo>
                <a:cubicBezTo>
                  <a:pt x="395049" y="279400"/>
                  <a:pt x="406400" y="290751"/>
                  <a:pt x="406400" y="304800"/>
                </a:cubicBezTo>
                <a:lnTo>
                  <a:pt x="406400" y="355600"/>
                </a:lnTo>
                <a:cubicBezTo>
                  <a:pt x="406400" y="369649"/>
                  <a:pt x="395049" y="381000"/>
                  <a:pt x="381000" y="381000"/>
                </a:cubicBezTo>
                <a:lnTo>
                  <a:pt x="330200" y="381000"/>
                </a:lnTo>
                <a:cubicBezTo>
                  <a:pt x="316151" y="381000"/>
                  <a:pt x="304800" y="369649"/>
                  <a:pt x="304800" y="355600"/>
                </a:cubicBezTo>
                <a:lnTo>
                  <a:pt x="304800" y="304800"/>
                </a:lnTo>
                <a:cubicBezTo>
                  <a:pt x="304800" y="290751"/>
                  <a:pt x="316151" y="279400"/>
                  <a:pt x="330200" y="279400"/>
                </a:cubicBezTo>
                <a:lnTo>
                  <a:pt x="336550" y="279400"/>
                </a:lnTo>
                <a:lnTo>
                  <a:pt x="336550" y="234950"/>
                </a:lnTo>
                <a:cubicBezTo>
                  <a:pt x="336550" y="224393"/>
                  <a:pt x="328057" y="215900"/>
                  <a:pt x="317500" y="215900"/>
                </a:cubicBezTo>
                <a:lnTo>
                  <a:pt x="222250" y="215900"/>
                </a:lnTo>
                <a:lnTo>
                  <a:pt x="222250" y="279400"/>
                </a:lnTo>
                <a:lnTo>
                  <a:pt x="228600" y="279400"/>
                </a:lnTo>
                <a:cubicBezTo>
                  <a:pt x="242649" y="279400"/>
                  <a:pt x="254000" y="290751"/>
                  <a:pt x="254000" y="304800"/>
                </a:cubicBezTo>
                <a:lnTo>
                  <a:pt x="254000" y="355600"/>
                </a:lnTo>
                <a:cubicBezTo>
                  <a:pt x="254000" y="369649"/>
                  <a:pt x="242649" y="381000"/>
                  <a:pt x="228600" y="381000"/>
                </a:cubicBezTo>
                <a:lnTo>
                  <a:pt x="177800" y="381000"/>
                </a:lnTo>
                <a:cubicBezTo>
                  <a:pt x="163751" y="381000"/>
                  <a:pt x="152400" y="369649"/>
                  <a:pt x="152400" y="355600"/>
                </a:cubicBezTo>
                <a:lnTo>
                  <a:pt x="152400" y="304800"/>
                </a:lnTo>
                <a:cubicBezTo>
                  <a:pt x="152400" y="290751"/>
                  <a:pt x="163751" y="279400"/>
                  <a:pt x="177800" y="279400"/>
                </a:cubicBezTo>
                <a:lnTo>
                  <a:pt x="184150" y="279400"/>
                </a:lnTo>
                <a:lnTo>
                  <a:pt x="184150" y="215900"/>
                </a:lnTo>
                <a:lnTo>
                  <a:pt x="88900" y="215900"/>
                </a:lnTo>
                <a:cubicBezTo>
                  <a:pt x="78343" y="215900"/>
                  <a:pt x="69850" y="224393"/>
                  <a:pt x="69850" y="234950"/>
                </a:cubicBezTo>
                <a:lnTo>
                  <a:pt x="69850" y="279400"/>
                </a:lnTo>
                <a:lnTo>
                  <a:pt x="76200" y="279400"/>
                </a:lnTo>
                <a:cubicBezTo>
                  <a:pt x="90249" y="279400"/>
                  <a:pt x="101600" y="290751"/>
                  <a:pt x="101600" y="304800"/>
                </a:cubicBezTo>
                <a:lnTo>
                  <a:pt x="101600" y="355600"/>
                </a:lnTo>
                <a:cubicBezTo>
                  <a:pt x="101600" y="369649"/>
                  <a:pt x="90249" y="381000"/>
                  <a:pt x="76200" y="381000"/>
                </a:cubicBezTo>
                <a:lnTo>
                  <a:pt x="25400" y="381000"/>
                </a:lnTo>
                <a:cubicBezTo>
                  <a:pt x="11351" y="381000"/>
                  <a:pt x="0" y="369649"/>
                  <a:pt x="0" y="355600"/>
                </a:cubicBezTo>
                <a:lnTo>
                  <a:pt x="0" y="304800"/>
                </a:lnTo>
                <a:cubicBezTo>
                  <a:pt x="0" y="290751"/>
                  <a:pt x="11351" y="279400"/>
                  <a:pt x="25400" y="279400"/>
                </a:cubicBezTo>
                <a:lnTo>
                  <a:pt x="31750" y="279400"/>
                </a:lnTo>
                <a:lnTo>
                  <a:pt x="31750" y="234950"/>
                </a:lnTo>
                <a:cubicBezTo>
                  <a:pt x="31750" y="203359"/>
                  <a:pt x="57309" y="177800"/>
                  <a:pt x="88900" y="177800"/>
                </a:cubicBezTo>
                <a:lnTo>
                  <a:pt x="184150" y="177800"/>
                </a:lnTo>
                <a:lnTo>
                  <a:pt x="184150" y="127000"/>
                </a:lnTo>
                <a:lnTo>
                  <a:pt x="177800" y="127000"/>
                </a:lnTo>
                <a:cubicBezTo>
                  <a:pt x="163751" y="127000"/>
                  <a:pt x="152400" y="115649"/>
                  <a:pt x="152400" y="101600"/>
                </a:cubicBezTo>
                <a:lnTo>
                  <a:pt x="152400" y="50800"/>
                </a:lnTo>
                <a:close/>
              </a:path>
            </a:pathLst>
          </a:custGeom>
          <a:solidFill>
            <a:srgbClr val="0077B6"/>
          </a:solidFill>
          <a:ln/>
        </p:spPr>
      </p:sp>
      <p:sp>
        <p:nvSpPr>
          <p:cNvPr id="14" name="Text 12"/>
          <p:cNvSpPr/>
          <p:nvPr/>
        </p:nvSpPr>
        <p:spPr>
          <a:xfrm>
            <a:off x="6692900" y="1346200"/>
            <a:ext cx="3429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Architecture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59500" y="1841500"/>
            <a:ext cx="3937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Five-module architecture</a:t>
            </a: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(SD + MM + PP + FICO + HR) creates a cohesive, intelligent healthcare platform. Three pillars — </a:t>
            </a:r>
            <a:r>
              <a:rPr lang="en-US" sz="14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Organizational Structure, Master Data, and Transaction Data</a:t>
            </a:r>
            <a:r>
              <a:rPr lang="en-US" sz="14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ensure data integrity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795000" y="1079500"/>
            <a:ext cx="4445000" cy="292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8235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795000" y="1079500"/>
            <a:ext cx="4445000" cy="6350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18" name="Shape 16"/>
          <p:cNvSpPr/>
          <p:nvPr/>
        </p:nvSpPr>
        <p:spPr>
          <a:xfrm>
            <a:off x="11049000" y="1320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254000"/>
                </a:moveTo>
                <a:lnTo>
                  <a:pt x="19447" y="254000"/>
                </a:lnTo>
                <a:cubicBezTo>
                  <a:pt x="-317" y="254000"/>
                  <a:pt x="-12462" y="232489"/>
                  <a:pt x="-2302" y="215503"/>
                </a:cubicBezTo>
                <a:lnTo>
                  <a:pt x="39688" y="145494"/>
                </a:lnTo>
                <a:cubicBezTo>
                  <a:pt x="46593" y="133985"/>
                  <a:pt x="58976" y="127000"/>
                  <a:pt x="72390" y="127000"/>
                </a:cubicBezTo>
                <a:lnTo>
                  <a:pt x="147796" y="127000"/>
                </a:lnTo>
                <a:cubicBezTo>
                  <a:pt x="208201" y="24686"/>
                  <a:pt x="298291" y="19526"/>
                  <a:pt x="358537" y="28337"/>
                </a:cubicBezTo>
                <a:cubicBezTo>
                  <a:pt x="368697" y="29845"/>
                  <a:pt x="376634" y="37783"/>
                  <a:pt x="378063" y="47863"/>
                </a:cubicBezTo>
                <a:cubicBezTo>
                  <a:pt x="386874" y="108109"/>
                  <a:pt x="381714" y="198199"/>
                  <a:pt x="279400" y="258604"/>
                </a:cubicBezTo>
                <a:lnTo>
                  <a:pt x="279400" y="334010"/>
                </a:lnTo>
                <a:cubicBezTo>
                  <a:pt x="279400" y="347424"/>
                  <a:pt x="272415" y="359807"/>
                  <a:pt x="260906" y="366713"/>
                </a:cubicBezTo>
                <a:lnTo>
                  <a:pt x="190897" y="408702"/>
                </a:lnTo>
                <a:cubicBezTo>
                  <a:pt x="173990" y="418862"/>
                  <a:pt x="152400" y="406638"/>
                  <a:pt x="152400" y="386953"/>
                </a:cubicBezTo>
                <a:lnTo>
                  <a:pt x="152400" y="304800"/>
                </a:lnTo>
                <a:cubicBezTo>
                  <a:pt x="152400" y="276781"/>
                  <a:pt x="129619" y="254000"/>
                  <a:pt x="101600" y="254000"/>
                </a:cubicBezTo>
                <a:lnTo>
                  <a:pt x="101521" y="254000"/>
                </a:lnTo>
                <a:close/>
                <a:moveTo>
                  <a:pt x="317500" y="127000"/>
                </a:moveTo>
                <a:cubicBezTo>
                  <a:pt x="317500" y="105972"/>
                  <a:pt x="300428" y="88900"/>
                  <a:pt x="279400" y="88900"/>
                </a:cubicBezTo>
                <a:cubicBezTo>
                  <a:pt x="258372" y="88900"/>
                  <a:pt x="241300" y="105972"/>
                  <a:pt x="241300" y="127000"/>
                </a:cubicBezTo>
                <a:cubicBezTo>
                  <a:pt x="241300" y="148028"/>
                  <a:pt x="258372" y="165100"/>
                  <a:pt x="279400" y="165100"/>
                </a:cubicBezTo>
                <a:cubicBezTo>
                  <a:pt x="300428" y="165100"/>
                  <a:pt x="317500" y="148028"/>
                  <a:pt x="317500" y="127000"/>
                </a:cubicBezTo>
                <a:close/>
              </a:path>
            </a:pathLst>
          </a:custGeom>
          <a:solidFill>
            <a:srgbClr val="0A1F44"/>
          </a:solidFill>
          <a:ln/>
        </p:spPr>
      </p:sp>
      <p:sp>
        <p:nvSpPr>
          <p:cNvPr id="19" name="Text 17"/>
          <p:cNvSpPr/>
          <p:nvPr/>
        </p:nvSpPr>
        <p:spPr>
          <a:xfrm>
            <a:off x="11582400" y="1346200"/>
            <a:ext cx="3429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A1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Future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049000" y="1841500"/>
            <a:ext cx="3937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Proposed </a:t>
            </a:r>
            <a:r>
              <a:rPr lang="en-US" sz="13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SAP Fiori transition</a:t>
            </a:r>
            <a:r>
              <a:rPr lang="en-US" sz="13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introduces mobile-enabled, role-based interface for bedside operations, faster approvals, and real-time data capture — leading to </a:t>
            </a:r>
            <a:r>
              <a:rPr lang="en-US" sz="13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higher staff productivity</a:t>
            </a:r>
            <a:r>
              <a:rPr lang="en-US" sz="1300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and </a:t>
            </a:r>
            <a:r>
              <a:rPr lang="en-US" sz="1300" b="1" dirty="0">
                <a:solidFill>
                  <a:srgbClr val="1B2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better patient outcomes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16000" y="4381500"/>
            <a:ext cx="14224000" cy="1524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00B4D8"/>
              </a:gs>
              <a:gs pos="100000">
                <a:srgbClr val="0077B6"/>
              </a:gs>
            </a:gsLst>
            <a:lin ang="0" scaled="1"/>
          </a:gradFill>
          <a:ln/>
          <a:effectLst>
            <a:outerShdw blurRad="190500" dist="76200" dir="5400000" algn="bl" rotWithShape="0">
              <a:srgbClr val="00B4D8">
                <a:alpha val="25098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555750" y="4699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0" y="214313"/>
                </a:moveTo>
                <a:cubicBezTo>
                  <a:pt x="0" y="148530"/>
                  <a:pt x="53280" y="95250"/>
                  <a:pt x="119063" y="95250"/>
                </a:cubicBezTo>
                <a:lnTo>
                  <a:pt x="127000" y="95250"/>
                </a:lnTo>
                <a:cubicBezTo>
                  <a:pt x="144562" y="95250"/>
                  <a:pt x="158750" y="109438"/>
                  <a:pt x="158750" y="127000"/>
                </a:cubicBezTo>
                <a:cubicBezTo>
                  <a:pt x="158750" y="144562"/>
                  <a:pt x="144562" y="158750"/>
                  <a:pt x="127000" y="158750"/>
                </a:cubicBezTo>
                <a:lnTo>
                  <a:pt x="119063" y="158750"/>
                </a:lnTo>
                <a:cubicBezTo>
                  <a:pt x="88404" y="158750"/>
                  <a:pt x="63500" y="183654"/>
                  <a:pt x="63500" y="214313"/>
                </a:cubicBezTo>
                <a:lnTo>
                  <a:pt x="63500" y="222250"/>
                </a:lnTo>
                <a:lnTo>
                  <a:pt x="127000" y="222250"/>
                </a:lnTo>
                <a:cubicBezTo>
                  <a:pt x="162024" y="222250"/>
                  <a:pt x="190500" y="250726"/>
                  <a:pt x="190500" y="285750"/>
                </a:cubicBezTo>
                <a:lnTo>
                  <a:pt x="190500" y="349250"/>
                </a:lnTo>
                <a:cubicBezTo>
                  <a:pt x="190500" y="384274"/>
                  <a:pt x="162024" y="412750"/>
                  <a:pt x="127000" y="412750"/>
                </a:cubicBezTo>
                <a:lnTo>
                  <a:pt x="63500" y="412750"/>
                </a:lnTo>
                <a:cubicBezTo>
                  <a:pt x="28476" y="412750"/>
                  <a:pt x="0" y="384274"/>
                  <a:pt x="0" y="349250"/>
                </a:cubicBezTo>
                <a:lnTo>
                  <a:pt x="0" y="214313"/>
                </a:lnTo>
                <a:close/>
                <a:moveTo>
                  <a:pt x="254000" y="214313"/>
                </a:moveTo>
                <a:cubicBezTo>
                  <a:pt x="254000" y="148530"/>
                  <a:pt x="307280" y="95250"/>
                  <a:pt x="373063" y="95250"/>
                </a:cubicBezTo>
                <a:lnTo>
                  <a:pt x="381000" y="95250"/>
                </a:lnTo>
                <a:cubicBezTo>
                  <a:pt x="398562" y="95250"/>
                  <a:pt x="412750" y="109438"/>
                  <a:pt x="412750" y="127000"/>
                </a:cubicBezTo>
                <a:cubicBezTo>
                  <a:pt x="412750" y="144562"/>
                  <a:pt x="398562" y="158750"/>
                  <a:pt x="381000" y="158750"/>
                </a:cubicBezTo>
                <a:lnTo>
                  <a:pt x="373063" y="158750"/>
                </a:lnTo>
                <a:cubicBezTo>
                  <a:pt x="342404" y="158750"/>
                  <a:pt x="317500" y="183654"/>
                  <a:pt x="317500" y="214313"/>
                </a:cubicBezTo>
                <a:lnTo>
                  <a:pt x="317500" y="222250"/>
                </a:lnTo>
                <a:lnTo>
                  <a:pt x="381000" y="222250"/>
                </a:lnTo>
                <a:cubicBezTo>
                  <a:pt x="416024" y="222250"/>
                  <a:pt x="444500" y="250726"/>
                  <a:pt x="444500" y="285750"/>
                </a:cubicBezTo>
                <a:lnTo>
                  <a:pt x="444500" y="349250"/>
                </a:lnTo>
                <a:cubicBezTo>
                  <a:pt x="444500" y="384274"/>
                  <a:pt x="416024" y="412750"/>
                  <a:pt x="381000" y="412750"/>
                </a:cubicBezTo>
                <a:lnTo>
                  <a:pt x="317500" y="412750"/>
                </a:lnTo>
                <a:cubicBezTo>
                  <a:pt x="282476" y="412750"/>
                  <a:pt x="254000" y="384274"/>
                  <a:pt x="254000" y="349250"/>
                </a:cubicBezTo>
                <a:lnTo>
                  <a:pt x="254000" y="214313"/>
                </a:lnTo>
                <a:close/>
              </a:path>
            </a:pathLst>
          </a:custGeom>
          <a:solidFill>
            <a:srgbClr val="FFFFFF">
              <a:alpha val="37647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524000" y="4508500"/>
            <a:ext cx="1333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ERP systems are not merely administrative tools —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they are strategic enablers of patient-centric care,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operational excellence, and sustainable institutional growth.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0A1F44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 / 19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gradFill flip="none" rotWithShape="1">
          <a:gsLst>
            <a:gs pos="0">
              <a:srgbClr val="0A1F44"/>
            </a:gs>
            <a:gs pos="50000">
              <a:srgbClr val="0D2847"/>
            </a:gs>
            <a:gs pos="100000">
              <a:srgbClr val="0A1F44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-1270000"/>
            <a:ext cx="6350000" cy="5080000"/>
          </a:xfrm>
          <a:prstGeom prst="ellipse">
            <a:avLst/>
          </a:prstGeom>
          <a:gradFill flip="none" rotWithShape="1">
            <a:gsLst>
              <a:gs pos="0">
                <a:srgbClr val="00B4D8">
                  <a:alpha val="15000"/>
                </a:srgbClr>
              </a:gs>
              <a:gs pos="100000">
                <a:srgbClr val="00B4D8">
                  <a:alpha val="0"/>
                </a:srgbClr>
              </a:gs>
            </a:gsLst>
            <a:path path="circle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00B4D8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7493000" y="635000"/>
            <a:ext cx="1270000" cy="1270000"/>
          </a:xfrm>
          <a:prstGeom prst="ellipse">
            <a:avLst/>
          </a:prstGeom>
          <a:solidFill>
            <a:srgbClr val="FFFFFF">
              <a:alpha val="6275"/>
            </a:srgbClr>
          </a:solidFill>
          <a:ln w="25400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048000" y="2159000"/>
            <a:ext cx="1016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00B4D8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 / 19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2080</Words>
  <Application>Microsoft Office PowerPoint</Application>
  <PresentationFormat>Custom</PresentationFormat>
  <Paragraphs>448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微软雅黑</vt:lpstr>
      <vt:lpstr>Arial</vt:lpstr>
      <vt:lpstr>Poppins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ERP Solution for Private Hospital Management System — SD, MM &amp; PP Implementation</dc:title>
  <dc:subject>ERP Solution for Private Hospital Management System — SD, MM &amp; PP Implementation</dc:subject>
  <dc:creator>Kimi</dc:creator>
  <cp:lastModifiedBy>Jhansi Kallagunta</cp:lastModifiedBy>
  <cp:revision>2</cp:revision>
  <dcterms:created xsi:type="dcterms:W3CDTF">2026-04-26T18:16:54Z</dcterms:created>
  <dcterms:modified xsi:type="dcterms:W3CDTF">2026-04-26T19:47:13Z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{"Label":"ERP Solution for Private Hospital Management System — SD, MM &amp; PP Implementation","ContentProducer":"001191110108MACG2KBH8F10000","ProduceID":"19dcaf9a-c102-8b56-8000-0000cc3aece6","ReservedCode1":"","ContentPropagator":"001191110108MACG2KBH8F20000","PropagateID":"19dcaf9a-c102-8b56-8000-0000cc3aece6","ReservedCode2":""}</vt:lpwstr>
  </property>
</Properties>
</file>